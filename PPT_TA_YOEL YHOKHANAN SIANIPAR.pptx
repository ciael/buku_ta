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5"/>
  </p:notesMasterIdLst>
  <p:sldIdLst>
    <p:sldId id="259" r:id="rId2"/>
    <p:sldId id="260" r:id="rId3"/>
    <p:sldId id="262" r:id="rId4"/>
    <p:sldId id="302" r:id="rId5"/>
    <p:sldId id="267" r:id="rId6"/>
    <p:sldId id="266" r:id="rId7"/>
    <p:sldId id="303" r:id="rId8"/>
    <p:sldId id="304" r:id="rId9"/>
    <p:sldId id="305" r:id="rId10"/>
    <p:sldId id="268" r:id="rId11"/>
    <p:sldId id="306" r:id="rId12"/>
    <p:sldId id="307" r:id="rId13"/>
    <p:sldId id="270" r:id="rId14"/>
    <p:sldId id="308" r:id="rId15"/>
    <p:sldId id="309" r:id="rId16"/>
    <p:sldId id="311" r:id="rId17"/>
    <p:sldId id="310" r:id="rId18"/>
    <p:sldId id="312" r:id="rId19"/>
    <p:sldId id="313" r:id="rId20"/>
    <p:sldId id="314" r:id="rId21"/>
    <p:sldId id="328" r:id="rId22"/>
    <p:sldId id="315" r:id="rId23"/>
    <p:sldId id="324" r:id="rId24"/>
    <p:sldId id="316" r:id="rId25"/>
    <p:sldId id="317" r:id="rId26"/>
    <p:sldId id="318" r:id="rId27"/>
    <p:sldId id="323" r:id="rId28"/>
    <p:sldId id="319" r:id="rId29"/>
    <p:sldId id="282" r:id="rId30"/>
    <p:sldId id="322" r:id="rId31"/>
    <p:sldId id="285" r:id="rId32"/>
    <p:sldId id="326" r:id="rId33"/>
    <p:sldId id="327" r:id="rId34"/>
  </p:sldIdLst>
  <p:sldSz cx="18288000" cy="10287000"/>
  <p:notesSz cx="10287000" cy="18288000"/>
  <p:embeddedFontLst>
    <p:embeddedFont>
      <p:font typeface="Artifakt Element Black" panose="020B0A03050000020004" charset="0"/>
      <p:bold r:id="rId36"/>
      <p:boldItalic r:id="rId37"/>
    </p:embeddedFont>
    <p:embeddedFont>
      <p:font typeface="Artifakt Element Medium" panose="020B0603050000020004" charset="0"/>
      <p:bold r:id="rId38"/>
      <p:boldItalic r:id="rId39"/>
    </p:embeddedFont>
    <p:embeddedFont>
      <p:font typeface="Cambria Math" panose="02040503050406030204" pitchFamily="18" charset="0"/>
      <p:regular r:id="rId40"/>
    </p:embeddedFont>
    <p:embeddedFont>
      <p:font typeface="Work Sans" pitchFamily="2" charset="0"/>
      <p:regular r:id="rId41"/>
      <p:bold r:id="rId42"/>
    </p:embeddedFont>
    <p:embeddedFont>
      <p:font typeface="Work Sans ExtraBold" pitchFamily="2" charset="0"/>
      <p:bold r:id="rId43"/>
      <p:boldItalic r:id="rId44"/>
    </p:embeddedFont>
    <p:embeddedFont>
      <p:font typeface="Work Sans Medium" pitchFamily="2" charset="0"/>
      <p:regular r:id="rId45"/>
      <p:italic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2" roundtripDataSignature="AMtx7miZXg6swqZ9UuoLrlN+CcCW4V2b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01F"/>
    <a:srgbClr val="FFBC06"/>
    <a:srgbClr val="007AC0"/>
    <a:srgbClr val="233D80"/>
    <a:srgbClr val="B9D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352EA42-BBB5-4EE5-AE3D-EB6516A0E58B}">
  <a:tblStyle styleId="{1352EA42-BBB5-4EE5-AE3D-EB6516A0E58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72" Type="http://customschemas.google.com/relationships/presentationmetadata" Target="meta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714825" y="1371600"/>
            <a:ext cx="6858325" cy="685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" name="Google Shape;75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3FA9F1D8-19EA-72DB-7BAE-B32B49FC8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0E07B788-0290-F190-A00B-85CD88ED1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61BA9751-EECF-B77A-1D5C-012176511A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:notes">
            <a:extLst>
              <a:ext uri="{FF2B5EF4-FFF2-40B4-BE49-F238E27FC236}">
                <a16:creationId xmlns:a16="http://schemas.microsoft.com/office/drawing/2014/main" id="{C2149630-D728-BB57-3FB4-047006C3AA7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68875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6ACD27D0-2841-4E5E-D573-3613A306F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>
            <a:extLst>
              <a:ext uri="{FF2B5EF4-FFF2-40B4-BE49-F238E27FC236}">
                <a16:creationId xmlns:a16="http://schemas.microsoft.com/office/drawing/2014/main" id="{F66B0A31-C3FA-08B0-B3C0-458F1E9CD7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1:notes">
            <a:extLst>
              <a:ext uri="{FF2B5EF4-FFF2-40B4-BE49-F238E27FC236}">
                <a16:creationId xmlns:a16="http://schemas.microsoft.com/office/drawing/2014/main" id="{E729A0E8-4DD3-A73A-F9D2-F3E897C315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:notes">
            <a:extLst>
              <a:ext uri="{FF2B5EF4-FFF2-40B4-BE49-F238E27FC236}">
                <a16:creationId xmlns:a16="http://schemas.microsoft.com/office/drawing/2014/main" id="{C058A1C6-7404-364C-22F3-236075F7A1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269430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>
          <a:extLst>
            <a:ext uri="{FF2B5EF4-FFF2-40B4-BE49-F238E27FC236}">
              <a16:creationId xmlns:a16="http://schemas.microsoft.com/office/drawing/2014/main" id="{451745CA-126A-D157-BDE0-50F4EEA1B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>
            <a:extLst>
              <a:ext uri="{FF2B5EF4-FFF2-40B4-BE49-F238E27FC236}">
                <a16:creationId xmlns:a16="http://schemas.microsoft.com/office/drawing/2014/main" id="{745A605A-D35B-DFFD-32B3-6A182632EE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1:notes">
            <a:extLst>
              <a:ext uri="{FF2B5EF4-FFF2-40B4-BE49-F238E27FC236}">
                <a16:creationId xmlns:a16="http://schemas.microsoft.com/office/drawing/2014/main" id="{81D9A0E3-8008-78E9-BD78-50BF641CBB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11:notes">
            <a:extLst>
              <a:ext uri="{FF2B5EF4-FFF2-40B4-BE49-F238E27FC236}">
                <a16:creationId xmlns:a16="http://schemas.microsoft.com/office/drawing/2014/main" id="{A73BE263-7C45-3BC4-76BA-2B18D39B88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5702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A8A6486D-5EC2-D5D8-EC3A-4F5E23D7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06480E62-5F4C-65C6-5FD8-88B245C0E8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09AA9679-FC38-2DA6-A5D6-17A03BAFA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:notes">
            <a:extLst>
              <a:ext uri="{FF2B5EF4-FFF2-40B4-BE49-F238E27FC236}">
                <a16:creationId xmlns:a16="http://schemas.microsoft.com/office/drawing/2014/main" id="{1B9C30CE-AAB9-CBBF-2076-42A0516FE5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11080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381F862E-D516-8390-8242-669CF8AD2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>
            <a:extLst>
              <a:ext uri="{FF2B5EF4-FFF2-40B4-BE49-F238E27FC236}">
                <a16:creationId xmlns:a16="http://schemas.microsoft.com/office/drawing/2014/main" id="{7063C43D-83B3-2457-643F-23B848647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3:notes">
            <a:extLst>
              <a:ext uri="{FF2B5EF4-FFF2-40B4-BE49-F238E27FC236}">
                <a16:creationId xmlns:a16="http://schemas.microsoft.com/office/drawing/2014/main" id="{17DB2032-167F-1BF0-294B-4808E46289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:notes">
            <a:extLst>
              <a:ext uri="{FF2B5EF4-FFF2-40B4-BE49-F238E27FC236}">
                <a16:creationId xmlns:a16="http://schemas.microsoft.com/office/drawing/2014/main" id="{650F5A44-D8B5-7EA9-F73F-32358DAC1FD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7100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>
          <a:extLst>
            <a:ext uri="{FF2B5EF4-FFF2-40B4-BE49-F238E27FC236}">
              <a16:creationId xmlns:a16="http://schemas.microsoft.com/office/drawing/2014/main" id="{D56ADDCA-E5F2-220A-06BB-889B2B69F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>
            <a:extLst>
              <a:ext uri="{FF2B5EF4-FFF2-40B4-BE49-F238E27FC236}">
                <a16:creationId xmlns:a16="http://schemas.microsoft.com/office/drawing/2014/main" id="{F2205681-8988-0D88-9DBD-73DDC2543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3:notes">
            <a:extLst>
              <a:ext uri="{FF2B5EF4-FFF2-40B4-BE49-F238E27FC236}">
                <a16:creationId xmlns:a16="http://schemas.microsoft.com/office/drawing/2014/main" id="{1652CA39-E0F9-8C58-65C0-D213532E8D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3:notes">
            <a:extLst>
              <a:ext uri="{FF2B5EF4-FFF2-40B4-BE49-F238E27FC236}">
                <a16:creationId xmlns:a16="http://schemas.microsoft.com/office/drawing/2014/main" id="{E7B9A2F9-7E61-E5C0-DC86-0572928EC1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698130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4891D9FB-5F1E-D14A-39F9-B2344AFE6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69C9C808-00B2-3A59-88BC-AFEBEAB3A9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1855F61C-4D98-5902-9FAC-2F96281CF5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5721A872-73BE-3203-61AF-273D1D42B2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922837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08C18788-396F-584A-0521-7B305751F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E19DE1EC-0065-47B4-F046-6B7E54CFD7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CF3C7934-F461-DF19-BB72-925114F67B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F9F4EE65-BBBB-D2E0-1DC3-5FF3E2442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655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82F583BF-A691-DBFE-6DC7-58409FC54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8B718918-6754-9120-29D1-8CE669B6D3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8A5F0A9F-0BF3-682C-EE6C-AF772CCD9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:notes">
            <a:extLst>
              <a:ext uri="{FF2B5EF4-FFF2-40B4-BE49-F238E27FC236}">
                <a16:creationId xmlns:a16="http://schemas.microsoft.com/office/drawing/2014/main" id="{FB33A948-EDC7-8A5F-D2BC-8B7C14FD4D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23280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830419E1-E07C-F604-0141-FD61677B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3818A627-149B-6EDF-A7C8-C8F085D01B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A0DC4B1E-95D8-02D6-53CA-1DDACCE71F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91D6A22D-DC46-9FDF-12DF-8E049A4BC9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686469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8EB4DB09-033D-B77F-CAB8-5165B92AB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0529D986-2BFD-1361-6ECF-6BA565FFF6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43134099-8A77-8F55-7357-DA2AE7A09C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0CC994F3-DE97-069C-E27A-73C340D90C8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763248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2B18073B-6A0A-2195-6A7A-9859DB041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D2964C35-8C1E-39E5-BE3B-A0D954F92A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73CC1305-B68D-B3CE-8BAE-290B4C0FF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F645BF67-A40E-92B2-7845-7B1666D3C0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315598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41712C18-E7A7-06E2-0489-8FC37E64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A9435DDC-7AA6-F91F-D30F-7C3FE8690C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FBBAFAB1-F2F5-49FB-3122-F23F4794B4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4BDECEC0-D102-5695-583E-5BFD22F8FE9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74572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8F50C8A5-F62F-D7AE-A438-11A685E1A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29B5A93B-4C7E-D359-2DE2-73C75A136E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83AD3454-B34B-E361-C43D-69F9FA4B2A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01651B4A-B820-DADE-054C-12E1A59EBCE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626488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7C984053-60E9-704E-FB00-4F509E6C1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E178D08F-D2FC-A2DB-32F1-E0EED6E6A7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2CC83B7F-A21A-9BF2-AC0B-687FCF7064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16C26D4E-B495-3C10-D9FE-08225621B1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711689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355B397F-E64D-3C0E-A61C-73A0AAD98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27A39BB8-3D20-B597-ADA6-264409ACA6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6F8D58E9-F2B4-1EDC-FB80-B77D2E9A3F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991F0FB0-194F-28D0-1CD6-C588980806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863151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6BDEB953-7200-FF1B-9AAF-42254C6A3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D241CCD5-C107-6985-D078-EEAF75E40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C8B3CABF-77E5-9202-F6F5-7B42CF7EB1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9C0B34C8-C241-A163-8BAD-EAFBA5C2F77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5995309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06E5D23D-999E-13EE-1C53-3D3F4356C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9967A325-3C2C-2B68-F56D-1542596E38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7D3445D4-8382-59C3-97DF-85854E9864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0B179AF7-B7BA-D082-F496-E44C7DB76F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728644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C8340397-2804-2666-DA9D-409BC10E3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6EC1D123-F16A-C47C-43C0-9C828576A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D3F08489-CFA7-047E-2CDC-46EF2D20CE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F1896180-F001-7A0E-73B4-63EC4ED0F8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3973409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243C7BCC-518F-8D8B-524C-1CC30E22B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CD65CA5F-D516-6DFB-831E-93AED33B70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03AD257D-2173-A8BF-1949-DF20CE2DE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5F1FED11-95BE-1016-FF9A-94FA16C64B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59010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00F1E6E-193A-65C3-5B57-E4CE643C6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5:notes">
            <a:extLst>
              <a:ext uri="{FF2B5EF4-FFF2-40B4-BE49-F238E27FC236}">
                <a16:creationId xmlns:a16="http://schemas.microsoft.com/office/drawing/2014/main" id="{5424AB4E-E958-384E-E649-5751F0559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4466717D-942E-2AB1-5F9B-F6C71F34F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5:notes">
            <a:extLst>
              <a:ext uri="{FF2B5EF4-FFF2-40B4-BE49-F238E27FC236}">
                <a16:creationId xmlns:a16="http://schemas.microsoft.com/office/drawing/2014/main" id="{C434ED1B-8015-8925-5270-897E632DDFD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465360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E3C9742A-B644-E9B8-EEB6-C55844700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25684610-CD17-C563-1D76-E45B6592E2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C7676AB9-DFD4-71AB-298F-14142011D7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C3BDFCAF-5418-FDDF-5D91-0A742C7303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722086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6" name="Google Shape;616;p3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3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>
          <a:extLst>
            <a:ext uri="{FF2B5EF4-FFF2-40B4-BE49-F238E27FC236}">
              <a16:creationId xmlns:a16="http://schemas.microsoft.com/office/drawing/2014/main" id="{1D68A44F-DC4A-DAE6-68E9-728A2D209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:notes">
            <a:extLst>
              <a:ext uri="{FF2B5EF4-FFF2-40B4-BE49-F238E27FC236}">
                <a16:creationId xmlns:a16="http://schemas.microsoft.com/office/drawing/2014/main" id="{E8579C60-4A97-2606-206C-C2B619ECB3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4" name="Google Shape;314;p15:notes">
            <a:extLst>
              <a:ext uri="{FF2B5EF4-FFF2-40B4-BE49-F238E27FC236}">
                <a16:creationId xmlns:a16="http://schemas.microsoft.com/office/drawing/2014/main" id="{08AAAA62-BC40-9B7C-7F5F-C6EFED6302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5:notes">
            <a:extLst>
              <a:ext uri="{FF2B5EF4-FFF2-40B4-BE49-F238E27FC236}">
                <a16:creationId xmlns:a16="http://schemas.microsoft.com/office/drawing/2014/main" id="{A3778C45-567F-23B6-104C-7C5E1FDEE4F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892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48"/>
          <p:cNvSpPr txBox="1">
            <a:spLocks noGrp="1"/>
          </p:cNvSpPr>
          <p:nvPr>
            <p:ph type="sldNum" idx="12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7"/>
          <p:cNvSpPr txBox="1">
            <a:spLocks noGrp="1"/>
          </p:cNvSpPr>
          <p:nvPr>
            <p:ph type="sldNum" idx="12"/>
          </p:nvPr>
        </p:nvSpPr>
        <p:spPr>
          <a:xfrm>
            <a:off x="8732520" y="483489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6.pn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3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2.jp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6.png"/><Relationship Id="rId10" Type="http://schemas.openxmlformats.org/officeDocument/2006/relationships/image" Target="../media/image47.png"/><Relationship Id="rId4" Type="http://schemas.openxmlformats.org/officeDocument/2006/relationships/image" Target="../media/image38.png"/><Relationship Id="rId9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38.png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10" Type="http://schemas.openxmlformats.org/officeDocument/2006/relationships/image" Target="../media/image57.png"/><Relationship Id="rId4" Type="http://schemas.openxmlformats.org/officeDocument/2006/relationships/image" Target="../media/image6.png"/><Relationship Id="rId9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7.jpe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jpg"/><Relationship Id="rId3" Type="http://schemas.openxmlformats.org/officeDocument/2006/relationships/image" Target="../media/image22.png"/><Relationship Id="rId7" Type="http://schemas.openxmlformats.org/officeDocument/2006/relationships/image" Target="../media/image6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jpg"/><Relationship Id="rId3" Type="http://schemas.openxmlformats.org/officeDocument/2006/relationships/image" Target="../media/image22.png"/><Relationship Id="rId7" Type="http://schemas.openxmlformats.org/officeDocument/2006/relationships/image" Target="../media/image7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22.png"/><Relationship Id="rId7" Type="http://schemas.openxmlformats.org/officeDocument/2006/relationships/image" Target="../media/image8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8.png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9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6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1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4" Type="http://schemas.openxmlformats.org/officeDocument/2006/relationships/image" Target="../media/image90.png"/><Relationship Id="rId9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95.png"/><Relationship Id="rId7" Type="http://schemas.openxmlformats.org/officeDocument/2006/relationships/image" Target="../media/image9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Relationship Id="rId9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0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7999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7999" cy="6398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" y="1533450"/>
            <a:ext cx="18287999" cy="7991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52475" y="4142457"/>
            <a:ext cx="15142845" cy="45719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9410700"/>
            <a:ext cx="82200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12144375" y="600075"/>
            <a:ext cx="5372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52475" y="2489809"/>
            <a:ext cx="15426506" cy="1964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rtl="0">
              <a:lnSpc>
                <a:spcPct val="99453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7500"/>
              <a:buFont typeface="Work Sans ExtraBold"/>
              <a:buNone/>
            </a:pPr>
            <a:r>
              <a:rPr lang="en-US" sz="4800" b="1" dirty="0">
                <a:solidFill>
                  <a:srgbClr val="233D80"/>
                </a:solidFill>
                <a:latin typeface="Arial" panose="020B0604020202020204" pitchFamily="34" charset="0"/>
                <a:ea typeface="Work Sans ExtraBold"/>
                <a:cs typeface="Arial" panose="020B0604020202020204" pitchFamily="34" charset="0"/>
                <a:sym typeface="Work Sans ExtraBold"/>
              </a:rPr>
              <a:t>SISTEM PENGENDALIAN TEKANAN POMPA AIR BERBASIS INVERTER DENGAN </a:t>
            </a:r>
            <a:r>
              <a:rPr lang="en-US" sz="4800" b="1" i="1" dirty="0">
                <a:solidFill>
                  <a:srgbClr val="233D80"/>
                </a:solidFill>
                <a:latin typeface="Arial" panose="020B0604020202020204" pitchFamily="34" charset="0"/>
                <a:ea typeface="Work Sans ExtraBold"/>
                <a:cs typeface="Arial" panose="020B0604020202020204" pitchFamily="34" charset="0"/>
                <a:sym typeface="Work Sans ExtraBold"/>
              </a:rPr>
              <a:t>NEURAL NETWORK</a:t>
            </a:r>
            <a:r>
              <a:rPr lang="en-US" sz="4800" b="1" dirty="0">
                <a:solidFill>
                  <a:srgbClr val="233D80"/>
                </a:solidFill>
                <a:latin typeface="Arial" panose="020B0604020202020204" pitchFamily="34" charset="0"/>
                <a:ea typeface="Work Sans ExtraBold"/>
                <a:cs typeface="Arial" panose="020B0604020202020204" pitchFamily="34" charset="0"/>
                <a:sym typeface="Work Sans ExtraBold"/>
              </a:rPr>
              <a:t> </a:t>
            </a:r>
            <a:endParaRPr sz="4800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91" name="Google Shape;91;p4" title="Group 48098395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9E57DE-76DA-1157-48A5-4980D34BC3FE}"/>
              </a:ext>
            </a:extLst>
          </p:cNvPr>
          <p:cNvSpPr txBox="1"/>
          <p:nvPr/>
        </p:nvSpPr>
        <p:spPr>
          <a:xfrm>
            <a:off x="752475" y="4627538"/>
            <a:ext cx="5250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400" b="1" dirty="0">
                <a:latin typeface="Arial" panose="020B0604020202020204" pitchFamily="34" charset="0"/>
                <a:cs typeface="Arial" panose="020B0604020202020204" pitchFamily="34" charset="0"/>
              </a:rPr>
              <a:t>Yoel Yhokhanan Sianipar</a:t>
            </a:r>
          </a:p>
          <a:p>
            <a:r>
              <a:rPr lang="en-SG" sz="2400" dirty="0">
                <a:latin typeface="Arial" panose="020B0604020202020204" pitchFamily="34" charset="0"/>
                <a:cs typeface="Arial" panose="020B0604020202020204" pitchFamily="34" charset="0"/>
              </a:rPr>
              <a:t>5022221081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4ACC3C-431F-1631-927D-0FF7941760FD}"/>
              </a:ext>
            </a:extLst>
          </p:cNvPr>
          <p:cNvSpPr txBox="1"/>
          <p:nvPr/>
        </p:nvSpPr>
        <p:spPr>
          <a:xfrm>
            <a:off x="752475" y="5982485"/>
            <a:ext cx="65943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dirty="0"/>
              <a:t>Dosen </a:t>
            </a:r>
            <a:r>
              <a:rPr lang="en-SG" sz="2400" dirty="0" err="1"/>
              <a:t>Pembimbing</a:t>
            </a:r>
            <a:endParaRPr lang="en-SG" sz="2400" dirty="0"/>
          </a:p>
          <a:p>
            <a:r>
              <a:rPr lang="en-SG" sz="2400" b="1" dirty="0"/>
              <a:t>Prof. Dr. Muhammad </a:t>
            </a:r>
            <a:r>
              <a:rPr lang="en-SG" sz="2400" b="1" dirty="0" err="1"/>
              <a:t>Rivai</a:t>
            </a:r>
            <a:r>
              <a:rPr lang="en-SG" sz="2400" b="1" dirty="0"/>
              <a:t>, S.T., M.T.</a:t>
            </a:r>
          </a:p>
          <a:p>
            <a:r>
              <a:rPr lang="en-SG" sz="2400" b="1" dirty="0"/>
              <a:t>Dr. </a:t>
            </a:r>
            <a:r>
              <a:rPr lang="en-SG" sz="2400" b="1" dirty="0" err="1"/>
              <a:t>Suwito</a:t>
            </a:r>
            <a:r>
              <a:rPr lang="en-SG" sz="2400" b="1" dirty="0"/>
              <a:t>, S.T., M.T.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639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7768"/>
            <a:ext cx="18287999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714500"/>
            <a:ext cx="8696325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4371975"/>
            <a:ext cx="13725525" cy="59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227" y="7877175"/>
            <a:ext cx="665609" cy="66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777161" y="3393281"/>
            <a:ext cx="2733675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453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7500"/>
              <a:buFont typeface="Work Sans ExtraBold"/>
              <a:buNone/>
            </a:pPr>
            <a:r>
              <a:rPr lang="en-US" sz="7500" dirty="0">
                <a:solidFill>
                  <a:srgbClr val="233D80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Calibri bold" panose="020F0702030404030204" pitchFamily="34" charset="0"/>
                <a:sym typeface="Work Sans ExtraBold"/>
              </a:rPr>
              <a:t>Bab I</a:t>
            </a:r>
            <a:endParaRPr sz="7500" dirty="0">
              <a:solidFill>
                <a:schemeClr val="dk1"/>
              </a:solidFill>
              <a:latin typeface="Artifakt Element Black" panose="020B0A03050000020004" pitchFamily="34" charset="0"/>
              <a:ea typeface="Artifakt Element Black" panose="020B0A03050000020004" pitchFamily="34" charset="0"/>
              <a:cs typeface="Calibri bold" panose="020F0702030404030204" pitchFamily="34" charset="0"/>
              <a:sym typeface="Calibri"/>
            </a:endParaRPr>
          </a:p>
        </p:txBody>
      </p:sp>
      <p:pic>
        <p:nvPicPr>
          <p:cNvPr id="110" name="Google Shape;110;p5" title="Group 48098395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74B67D9-43D1-E62E-EF27-26E438C79AAB}"/>
              </a:ext>
            </a:extLst>
          </p:cNvPr>
          <p:cNvSpPr txBox="1"/>
          <p:nvPr/>
        </p:nvSpPr>
        <p:spPr>
          <a:xfrm>
            <a:off x="6522242" y="4371975"/>
            <a:ext cx="52435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6000" dirty="0" err="1">
                <a:solidFill>
                  <a:schemeClr val="bg2"/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Pendahuluan</a:t>
            </a:r>
            <a:endParaRPr lang="en-SG" sz="6000" dirty="0">
              <a:solidFill>
                <a:schemeClr val="bg2"/>
              </a:solidFill>
              <a:latin typeface="Artifakt Element Medium" panose="020B0603050000020004" pitchFamily="34" charset="0"/>
              <a:ea typeface="Artifakt Element Medium" panose="020B06030500000200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639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87848" y="9172584"/>
            <a:ext cx="1209677" cy="11415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7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7" title="Group 48098395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0766BE77-EDF5-2866-05CE-779AB90E2AE7}"/>
              </a:ext>
            </a:extLst>
          </p:cNvPr>
          <p:cNvGrpSpPr/>
          <p:nvPr/>
        </p:nvGrpSpPr>
        <p:grpSpPr>
          <a:xfrm>
            <a:off x="-35242" y="1485307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3985842-92E7-94E9-1389-77A428DFEA09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233C42D-E4A6-44DA-302B-E8E2603FC984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E51BAEE-7ED4-5B60-4E0B-F5A60CAB885A}"/>
              </a:ext>
            </a:extLst>
          </p:cNvPr>
          <p:cNvGrpSpPr/>
          <p:nvPr/>
        </p:nvGrpSpPr>
        <p:grpSpPr>
          <a:xfrm>
            <a:off x="-6667" y="6221243"/>
            <a:ext cx="1518284" cy="557215"/>
            <a:chOff x="19050" y="1796298"/>
            <a:chExt cx="1518284" cy="55721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7A16382-E2FB-BCCD-5E64-7D02AA953D3D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A2A5524-000B-D55F-EE3B-C1B85E4641D2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32A588F-6286-74D2-BEDE-74A42218900C}"/>
              </a:ext>
            </a:extLst>
          </p:cNvPr>
          <p:cNvSpPr txBox="1"/>
          <p:nvPr/>
        </p:nvSpPr>
        <p:spPr>
          <a:xfrm>
            <a:off x="1576205" y="1471525"/>
            <a:ext cx="4236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dirty="0">
                <a:latin typeface="Work Sans Medium" pitchFamily="2" charset="0"/>
              </a:rPr>
              <a:t>Latar </a:t>
            </a:r>
            <a:r>
              <a:rPr lang="en-SG" sz="3200" b="1" dirty="0" err="1">
                <a:latin typeface="Work Sans Medium" pitchFamily="2" charset="0"/>
              </a:rPr>
              <a:t>Belakang</a:t>
            </a:r>
            <a:endParaRPr lang="en-SG" sz="3200" b="1" dirty="0">
              <a:latin typeface="Work Sans Medium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903236B-E6EA-B953-A8A7-5F6CA418CAF4}"/>
              </a:ext>
            </a:extLst>
          </p:cNvPr>
          <p:cNvSpPr txBox="1"/>
          <p:nvPr/>
        </p:nvSpPr>
        <p:spPr>
          <a:xfrm>
            <a:off x="1584961" y="6175288"/>
            <a:ext cx="4344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200" b="1" dirty="0" err="1">
                <a:latin typeface="Work Sans Medium" pitchFamily="2" charset="0"/>
              </a:rPr>
              <a:t>Rumusan</a:t>
            </a:r>
            <a:r>
              <a:rPr lang="en-SG" sz="3200" b="1" dirty="0">
                <a:latin typeface="Work Sans Medium" pitchFamily="2" charset="0"/>
              </a:rPr>
              <a:t> </a:t>
            </a:r>
            <a:r>
              <a:rPr lang="en-SG" sz="3200" b="1" dirty="0" err="1">
                <a:latin typeface="Work Sans Medium" pitchFamily="2" charset="0"/>
              </a:rPr>
              <a:t>Masalah</a:t>
            </a:r>
            <a:endParaRPr lang="en-SG" sz="3200" b="1" dirty="0">
              <a:latin typeface="Work Sans Medium" pitchFamily="2" charset="0"/>
            </a:endParaRP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89EA92F0-AF64-38F1-CFC1-0962664FA9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210" y="2203525"/>
            <a:ext cx="4480788" cy="314662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C2C1D43-0679-8DA3-D0CB-ACB90091B6FD}"/>
              </a:ext>
            </a:extLst>
          </p:cNvPr>
          <p:cNvSpPr txBox="1"/>
          <p:nvPr/>
        </p:nvSpPr>
        <p:spPr>
          <a:xfrm>
            <a:off x="-168024" y="5431750"/>
            <a:ext cx="697973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000" dirty="0" err="1">
                <a:latin typeface="Work Sans Medium" pitchFamily="2" charset="0"/>
              </a:rPr>
              <a:t>Peningkatan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Penggunaan</a:t>
            </a:r>
            <a:r>
              <a:rPr lang="en-SG" sz="2000" dirty="0">
                <a:latin typeface="Work Sans Medium" pitchFamily="2" charset="0"/>
              </a:rPr>
              <a:t> PLTS Atap </a:t>
            </a:r>
            <a:r>
              <a:rPr lang="en-SG" sz="2000" dirty="0" err="1">
                <a:latin typeface="Work Sans Medium" pitchFamily="2" charset="0"/>
              </a:rPr>
              <a:t>skala</a:t>
            </a:r>
            <a:r>
              <a:rPr lang="en-SG" sz="2000" dirty="0">
                <a:latin typeface="Work Sans Medium" pitchFamily="2" charset="0"/>
              </a:rPr>
              <a:t> Rumah </a:t>
            </a:r>
            <a:r>
              <a:rPr lang="en-SG" sz="2000" dirty="0" err="1">
                <a:latin typeface="Work Sans Medium" pitchFamily="2" charset="0"/>
              </a:rPr>
              <a:t>Tangga</a:t>
            </a:r>
            <a:r>
              <a:rPr lang="en-SG" sz="2000" dirty="0">
                <a:latin typeface="Work Sans Medium" pitchFamily="2" charset="0"/>
              </a:rPr>
              <a:t> (</a:t>
            </a:r>
            <a:r>
              <a:rPr lang="en-SG" sz="2000" dirty="0" err="1">
                <a:latin typeface="Work Sans Medium" pitchFamily="2" charset="0"/>
              </a:rPr>
              <a:t>Nurjaman</a:t>
            </a:r>
            <a:r>
              <a:rPr lang="en-SG" sz="2000" dirty="0">
                <a:latin typeface="Work Sans Medium" pitchFamily="2" charset="0"/>
              </a:rPr>
              <a:t> &amp; Purnama, 2022)</a:t>
            </a:r>
          </a:p>
        </p:txBody>
      </p:sp>
      <p:pic>
        <p:nvPicPr>
          <p:cNvPr id="10" name="Picture 2" descr="Gambar 8. Desain pembangkit PV untuk penggerak pompa IPAL batik tulis ...">
            <a:extLst>
              <a:ext uri="{FF2B5EF4-FFF2-40B4-BE49-F238E27FC236}">
                <a16:creationId xmlns:a16="http://schemas.microsoft.com/office/drawing/2014/main" id="{8A7C4311-6BF2-22DD-4DF3-FA13CC7758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8438" y="2221108"/>
            <a:ext cx="6051185" cy="307824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1765538-2F02-0DCF-9B75-11ACFFB2F72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720352" y="2178839"/>
            <a:ext cx="3567173" cy="31466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D0A79D5-AFFB-05A0-B2EF-FDCF628C39BC}"/>
              </a:ext>
            </a:extLst>
          </p:cNvPr>
          <p:cNvSpPr txBox="1"/>
          <p:nvPr/>
        </p:nvSpPr>
        <p:spPr>
          <a:xfrm>
            <a:off x="6811713" y="5427761"/>
            <a:ext cx="55006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000" dirty="0">
                <a:latin typeface="Work Sans Medium" pitchFamily="2" charset="0"/>
              </a:rPr>
              <a:t>Inverter </a:t>
            </a:r>
            <a:r>
              <a:rPr lang="en-SG" sz="2000" dirty="0" err="1">
                <a:latin typeface="Work Sans Medium" pitchFamily="2" charset="0"/>
              </a:rPr>
              <a:t>merupakan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komponen</a:t>
            </a:r>
            <a:r>
              <a:rPr lang="en-SG" sz="2000" dirty="0">
                <a:latin typeface="Work Sans Medium" pitchFamily="2" charset="0"/>
              </a:rPr>
              <a:t> yang paling </a:t>
            </a:r>
            <a:r>
              <a:rPr lang="en-SG" sz="2000" dirty="0" err="1">
                <a:latin typeface="Work Sans Medium" pitchFamily="2" charset="0"/>
              </a:rPr>
              <a:t>penting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dalam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sistem</a:t>
            </a:r>
            <a:r>
              <a:rPr lang="en-SG" sz="2000" dirty="0">
                <a:latin typeface="Work Sans Medium" pitchFamily="2" charset="0"/>
              </a:rPr>
              <a:t> PLTS </a:t>
            </a:r>
            <a:r>
              <a:rPr lang="en-SG" sz="2000" i="1" dirty="0">
                <a:latin typeface="Work Sans Medium" pitchFamily="2" charset="0"/>
              </a:rPr>
              <a:t>off-grid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C8D7B4-F799-DCDC-48EA-C70DA4530C8E}"/>
              </a:ext>
            </a:extLst>
          </p:cNvPr>
          <p:cNvSpPr txBox="1"/>
          <p:nvPr/>
        </p:nvSpPr>
        <p:spPr>
          <a:xfrm>
            <a:off x="12572999" y="5513357"/>
            <a:ext cx="562701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2000" dirty="0">
                <a:latin typeface="Work Sans Medium" pitchFamily="2" charset="0"/>
              </a:rPr>
              <a:t>Pompa air </a:t>
            </a:r>
            <a:r>
              <a:rPr lang="en-SG" sz="2000" dirty="0" err="1">
                <a:latin typeface="Work Sans Medium" pitchFamily="2" charset="0"/>
              </a:rPr>
              <a:t>adalah</a:t>
            </a:r>
            <a:r>
              <a:rPr lang="en-SG" sz="2000" dirty="0">
                <a:latin typeface="Work Sans Medium" pitchFamily="2" charset="0"/>
              </a:rPr>
              <a:t> salah </a:t>
            </a:r>
            <a:r>
              <a:rPr lang="en-SG" sz="2000" dirty="0" err="1">
                <a:latin typeface="Work Sans Medium" pitchFamily="2" charset="0"/>
              </a:rPr>
              <a:t>satu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contoh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beban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rumah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tangga</a:t>
            </a:r>
            <a:r>
              <a:rPr lang="en-SG" sz="2000" dirty="0">
                <a:latin typeface="Work Sans Medium" pitchFamily="2" charset="0"/>
              </a:rPr>
              <a:t> yang </a:t>
            </a:r>
            <a:r>
              <a:rPr lang="en-SG" sz="2000" dirty="0" err="1">
                <a:latin typeface="Work Sans Medium" pitchFamily="2" charset="0"/>
              </a:rPr>
              <a:t>kerap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digunakan</a:t>
            </a:r>
            <a:endParaRPr lang="en-SG" sz="2000" dirty="0">
              <a:latin typeface="Work Sans Medium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4CFAAB-9AA7-7AEC-020F-496D4486307C}"/>
              </a:ext>
            </a:extLst>
          </p:cNvPr>
          <p:cNvSpPr txBox="1"/>
          <p:nvPr/>
        </p:nvSpPr>
        <p:spPr>
          <a:xfrm>
            <a:off x="1249496" y="6959201"/>
            <a:ext cx="7531885" cy="707886"/>
          </a:xfrm>
          <a:prstGeom prst="rect">
            <a:avLst/>
          </a:prstGeom>
          <a:solidFill>
            <a:srgbClr val="FEF01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/>
              <a:t>Bagaimana</a:t>
            </a:r>
            <a:r>
              <a:rPr lang="en-SG" sz="2000" dirty="0"/>
              <a:t> proses </a:t>
            </a:r>
            <a:r>
              <a:rPr lang="en-SG" sz="2000" dirty="0" err="1"/>
              <a:t>perancangan</a:t>
            </a:r>
            <a:r>
              <a:rPr lang="en-SG" sz="2000" dirty="0"/>
              <a:t> </a:t>
            </a:r>
            <a:r>
              <a:rPr lang="en-SG" sz="2000" dirty="0" err="1"/>
              <a:t>sistem</a:t>
            </a:r>
            <a:r>
              <a:rPr lang="en-SG" sz="2000" dirty="0"/>
              <a:t> </a:t>
            </a:r>
            <a:r>
              <a:rPr lang="en-SG" sz="2000" dirty="0" err="1"/>
              <a:t>kontrol</a:t>
            </a:r>
            <a:r>
              <a:rPr lang="en-SG" sz="2000" dirty="0"/>
              <a:t> </a:t>
            </a:r>
            <a:r>
              <a:rPr lang="en-SG" sz="2000" dirty="0" err="1"/>
              <a:t>tekanan</a:t>
            </a:r>
            <a:r>
              <a:rPr lang="en-SG" sz="2000" dirty="0"/>
              <a:t> pada </a:t>
            </a:r>
            <a:r>
              <a:rPr lang="en-SG" sz="2000" dirty="0" err="1"/>
              <a:t>pompa</a:t>
            </a:r>
            <a:r>
              <a:rPr lang="en-SG" sz="2000" dirty="0"/>
              <a:t> air yang </a:t>
            </a:r>
            <a:r>
              <a:rPr lang="en-SG" sz="2000" dirty="0" err="1"/>
              <a:t>terintegrasidengan</a:t>
            </a:r>
            <a:r>
              <a:rPr lang="en-SG" sz="2000" dirty="0"/>
              <a:t> inverter?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341F050-0162-14F3-5713-36A44B3366AA}"/>
              </a:ext>
            </a:extLst>
          </p:cNvPr>
          <p:cNvSpPr txBox="1"/>
          <p:nvPr/>
        </p:nvSpPr>
        <p:spPr>
          <a:xfrm>
            <a:off x="9755640" y="6959201"/>
            <a:ext cx="7531885" cy="707886"/>
          </a:xfrm>
          <a:prstGeom prst="rect">
            <a:avLst/>
          </a:prstGeom>
          <a:solidFill>
            <a:srgbClr val="FEF01F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/>
              <a:t>Bagaimana</a:t>
            </a:r>
            <a:r>
              <a:rPr lang="en-SG" sz="2000" dirty="0"/>
              <a:t> </a:t>
            </a:r>
            <a:r>
              <a:rPr lang="en-SG" sz="2000" dirty="0" err="1"/>
              <a:t>menerapkan</a:t>
            </a:r>
            <a:r>
              <a:rPr lang="en-SG" sz="2000" dirty="0"/>
              <a:t> </a:t>
            </a:r>
            <a:r>
              <a:rPr lang="en-SG" sz="2000" i="1" dirty="0"/>
              <a:t>neural network </a:t>
            </a:r>
            <a:r>
              <a:rPr lang="en-SG" sz="2000" dirty="0" err="1"/>
              <a:t>sebagai</a:t>
            </a:r>
            <a:r>
              <a:rPr lang="en-SG" sz="2000" dirty="0"/>
              <a:t> </a:t>
            </a:r>
            <a:r>
              <a:rPr lang="en-SG" sz="2000" dirty="0" err="1"/>
              <a:t>sistem</a:t>
            </a:r>
            <a:r>
              <a:rPr lang="en-SG" sz="2000" dirty="0"/>
              <a:t> </a:t>
            </a:r>
            <a:r>
              <a:rPr lang="en-SG" sz="2000" dirty="0" err="1"/>
              <a:t>kendali</a:t>
            </a:r>
            <a:r>
              <a:rPr lang="en-SG" sz="2000" dirty="0"/>
              <a:t> </a:t>
            </a:r>
            <a:r>
              <a:rPr lang="en-SG" sz="2000" dirty="0" err="1"/>
              <a:t>tekanan</a:t>
            </a:r>
            <a:r>
              <a:rPr lang="en-SG" sz="2000" dirty="0"/>
              <a:t> pada </a:t>
            </a:r>
            <a:r>
              <a:rPr lang="en-SG" sz="2000" dirty="0" err="1"/>
              <a:t>pompa</a:t>
            </a:r>
            <a:r>
              <a:rPr lang="en-SG" sz="2000" dirty="0"/>
              <a:t> air?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BF10E29-6934-9469-045B-4A4018F7CCC5}"/>
              </a:ext>
            </a:extLst>
          </p:cNvPr>
          <p:cNvGrpSpPr/>
          <p:nvPr/>
        </p:nvGrpSpPr>
        <p:grpSpPr>
          <a:xfrm>
            <a:off x="-21524" y="7866225"/>
            <a:ext cx="1518284" cy="557215"/>
            <a:chOff x="19050" y="1796298"/>
            <a:chExt cx="1518284" cy="55721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6E84AA1-84A8-9CD3-B355-E5F756E1B864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EAF410F-01E4-240F-5D98-569825A1F2D7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4441D1B-4127-770F-37EE-C65D614071D2}"/>
              </a:ext>
            </a:extLst>
          </p:cNvPr>
          <p:cNvSpPr txBox="1"/>
          <p:nvPr/>
        </p:nvSpPr>
        <p:spPr>
          <a:xfrm>
            <a:off x="1624980" y="7878555"/>
            <a:ext cx="17316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200" b="1" dirty="0">
                <a:latin typeface="Work Sans Medium" pitchFamily="2" charset="0"/>
              </a:rPr>
              <a:t>Tujuan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E15ADC-95BC-DEBF-D3DB-93CEDC375702}"/>
              </a:ext>
            </a:extLst>
          </p:cNvPr>
          <p:cNvSpPr txBox="1"/>
          <p:nvPr/>
        </p:nvSpPr>
        <p:spPr>
          <a:xfrm>
            <a:off x="1496760" y="8620029"/>
            <a:ext cx="6483404" cy="1631216"/>
          </a:xfrm>
          <a:prstGeom prst="rect">
            <a:avLst/>
          </a:prstGeom>
          <a:solidFill>
            <a:srgbClr val="FEF01F"/>
          </a:solidFill>
        </p:spPr>
        <p:txBody>
          <a:bodyPr wrap="square">
            <a:spAutoFit/>
          </a:bodyPr>
          <a:lstStyle/>
          <a:p>
            <a:r>
              <a:rPr lang="en-SG" sz="2000" dirty="0"/>
              <a:t>Tujuan </a:t>
            </a:r>
            <a:r>
              <a:rPr lang="en-SG" sz="2000" dirty="0" err="1"/>
              <a:t>dari</a:t>
            </a:r>
            <a:r>
              <a:rPr lang="en-SG" sz="2000" dirty="0"/>
              <a:t> </a:t>
            </a:r>
            <a:r>
              <a:rPr lang="en-SG" sz="2000" dirty="0" err="1"/>
              <a:t>penelitian</a:t>
            </a:r>
            <a:r>
              <a:rPr lang="en-SG" sz="2000" dirty="0"/>
              <a:t> </a:t>
            </a:r>
            <a:r>
              <a:rPr lang="en-SG" sz="2000" dirty="0" err="1"/>
              <a:t>ini</a:t>
            </a:r>
            <a:r>
              <a:rPr lang="en-SG" sz="2000" dirty="0"/>
              <a:t> </a:t>
            </a:r>
            <a:r>
              <a:rPr lang="en-SG" sz="2000" dirty="0" err="1"/>
              <a:t>adalah</a:t>
            </a:r>
            <a:r>
              <a:rPr lang="en-SG" sz="2000" dirty="0"/>
              <a:t> </a:t>
            </a:r>
            <a:r>
              <a:rPr lang="en-SG" sz="2000" dirty="0" err="1"/>
              <a:t>merancangan</a:t>
            </a:r>
            <a:r>
              <a:rPr lang="en-SG" sz="2000" dirty="0"/>
              <a:t> </a:t>
            </a:r>
            <a:r>
              <a:rPr lang="en-SG" sz="2000" dirty="0" err="1"/>
              <a:t>sistem</a:t>
            </a:r>
            <a:r>
              <a:rPr lang="en-SG" sz="2000" dirty="0"/>
              <a:t> inverter yang </a:t>
            </a:r>
            <a:r>
              <a:rPr lang="en-SG" sz="2000" dirty="0" err="1"/>
              <a:t>dapat</a:t>
            </a:r>
            <a:r>
              <a:rPr lang="en-SG" sz="2000" dirty="0"/>
              <a:t> </a:t>
            </a:r>
            <a:r>
              <a:rPr lang="en-SG" sz="2000" dirty="0" err="1"/>
              <a:t>mengontrol</a:t>
            </a:r>
            <a:r>
              <a:rPr lang="en-SG" sz="2000" dirty="0"/>
              <a:t> </a:t>
            </a:r>
            <a:r>
              <a:rPr lang="en-SG" sz="2000" dirty="0" err="1"/>
              <a:t>tekanan</a:t>
            </a:r>
            <a:r>
              <a:rPr lang="en-SG" sz="2000" dirty="0"/>
              <a:t> </a:t>
            </a:r>
            <a:r>
              <a:rPr lang="en-SG" sz="2000" dirty="0" err="1"/>
              <a:t>pompa</a:t>
            </a:r>
            <a:r>
              <a:rPr lang="en-SG" sz="2000" dirty="0"/>
              <a:t> air pada </a:t>
            </a:r>
            <a:r>
              <a:rPr lang="en-SG" sz="2000" dirty="0" err="1"/>
              <a:t>beban</a:t>
            </a:r>
            <a:r>
              <a:rPr lang="en-SG" sz="2000" dirty="0"/>
              <a:t> yang </a:t>
            </a:r>
            <a:r>
              <a:rPr lang="en-SG" sz="2000" dirty="0" err="1"/>
              <a:t>berubah-ubah</a:t>
            </a:r>
            <a:r>
              <a:rPr lang="en-SG" sz="2000" dirty="0"/>
              <a:t>, </a:t>
            </a:r>
            <a:r>
              <a:rPr lang="en-SG" sz="2000" dirty="0" err="1"/>
              <a:t>sehingga</a:t>
            </a:r>
            <a:r>
              <a:rPr lang="en-SG" sz="2000" dirty="0"/>
              <a:t> </a:t>
            </a:r>
            <a:r>
              <a:rPr lang="en-SG" sz="2000" dirty="0" err="1"/>
              <a:t>tekanan</a:t>
            </a:r>
            <a:r>
              <a:rPr lang="en-SG" sz="2000" dirty="0"/>
              <a:t> air yang </a:t>
            </a:r>
            <a:r>
              <a:rPr lang="en-SG" sz="2000" dirty="0" err="1"/>
              <a:t>dihasilkan</a:t>
            </a:r>
            <a:r>
              <a:rPr lang="en-SG" sz="2000" dirty="0"/>
              <a:t> </a:t>
            </a:r>
            <a:r>
              <a:rPr lang="en-SG" sz="2000" dirty="0" err="1"/>
              <a:t>tetapstabil</a:t>
            </a:r>
            <a:r>
              <a:rPr lang="en-SG" sz="2000" dirty="0"/>
              <a:t> </a:t>
            </a:r>
            <a:r>
              <a:rPr lang="en-SG" sz="2000" dirty="0" err="1"/>
              <a:t>menggunakan</a:t>
            </a:r>
            <a:r>
              <a:rPr lang="en-SG" sz="2000" dirty="0"/>
              <a:t> </a:t>
            </a:r>
            <a:r>
              <a:rPr lang="en-SG" sz="2000" i="1" dirty="0"/>
              <a:t>neural network.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956C2C7-8C20-BD7E-9EC4-45AEB71F445F}"/>
              </a:ext>
            </a:extLst>
          </p:cNvPr>
          <p:cNvGrpSpPr/>
          <p:nvPr/>
        </p:nvGrpSpPr>
        <p:grpSpPr>
          <a:xfrm>
            <a:off x="9175082" y="8158453"/>
            <a:ext cx="1518284" cy="557215"/>
            <a:chOff x="19050" y="1796298"/>
            <a:chExt cx="1518284" cy="55721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A264664-740C-9ADB-7B4A-B8B71E59B990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57897D1-67ED-3B59-8B8E-3565AC545DC3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C4ACA184-BF6A-A7CF-B357-2CBD7A13FB22}"/>
              </a:ext>
            </a:extLst>
          </p:cNvPr>
          <p:cNvSpPr txBox="1"/>
          <p:nvPr/>
        </p:nvSpPr>
        <p:spPr>
          <a:xfrm>
            <a:off x="10760043" y="8158453"/>
            <a:ext cx="42367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dirty="0">
                <a:latin typeface="Work Sans Medium" pitchFamily="2" charset="0"/>
              </a:rPr>
              <a:t>Batasan </a:t>
            </a:r>
            <a:r>
              <a:rPr lang="en-SG" sz="3200" b="1" dirty="0" err="1">
                <a:latin typeface="Work Sans Medium" pitchFamily="2" charset="0"/>
              </a:rPr>
              <a:t>Masalah</a:t>
            </a:r>
            <a:endParaRPr lang="en-SG" sz="3200" b="1" dirty="0">
              <a:latin typeface="Work Sans Medium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93E69E-5B8D-EC42-4ABD-5F25F10CBF5C}"/>
              </a:ext>
            </a:extLst>
          </p:cNvPr>
          <p:cNvSpPr txBox="1"/>
          <p:nvPr/>
        </p:nvSpPr>
        <p:spPr>
          <a:xfrm>
            <a:off x="9394030" y="8994906"/>
            <a:ext cx="8301036" cy="1015663"/>
          </a:xfrm>
          <a:prstGeom prst="rect">
            <a:avLst/>
          </a:prstGeom>
          <a:solidFill>
            <a:srgbClr val="FEF01F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Desain dan </a:t>
            </a:r>
            <a:r>
              <a:rPr lang="en-SG" sz="2000" dirty="0" err="1"/>
              <a:t>simulasi</a:t>
            </a:r>
            <a:r>
              <a:rPr lang="en-SG" sz="2000" dirty="0"/>
              <a:t> </a:t>
            </a:r>
            <a:r>
              <a:rPr lang="en-SG" sz="2000" dirty="0" err="1"/>
              <a:t>dilakukan</a:t>
            </a:r>
            <a:r>
              <a:rPr lang="en-SG" sz="2000" dirty="0"/>
              <a:t> </a:t>
            </a:r>
            <a:r>
              <a:rPr lang="en-SG" sz="2000" dirty="0" err="1"/>
              <a:t>menggunakan</a:t>
            </a:r>
            <a:r>
              <a:rPr lang="en-SG" sz="2000" dirty="0"/>
              <a:t> software PSIM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Jenis </a:t>
            </a:r>
            <a:r>
              <a:rPr lang="en-SG" sz="2000" dirty="0" err="1"/>
              <a:t>pompa</a:t>
            </a:r>
            <a:r>
              <a:rPr lang="en-SG" sz="2000" dirty="0"/>
              <a:t> yang </a:t>
            </a:r>
            <a:r>
              <a:rPr lang="en-SG" sz="2000" dirty="0" err="1"/>
              <a:t>digunakan</a:t>
            </a:r>
            <a:r>
              <a:rPr lang="en-SG" sz="2000" dirty="0"/>
              <a:t> </a:t>
            </a:r>
            <a:r>
              <a:rPr lang="en-SG" sz="2000" dirty="0" err="1"/>
              <a:t>adalah</a:t>
            </a:r>
            <a:r>
              <a:rPr lang="en-SG" sz="2000" dirty="0"/>
              <a:t> </a:t>
            </a:r>
            <a:r>
              <a:rPr lang="en-SG" sz="2000" dirty="0" err="1"/>
              <a:t>pompa</a:t>
            </a:r>
            <a:r>
              <a:rPr lang="en-SG" sz="2000" dirty="0"/>
              <a:t> air 1 </a:t>
            </a:r>
            <a:r>
              <a:rPr lang="en-SG" sz="2000" dirty="0" err="1"/>
              <a:t>fasa</a:t>
            </a:r>
            <a:endParaRPr lang="en-SG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dirty="0"/>
              <a:t>Keran yang </a:t>
            </a:r>
            <a:r>
              <a:rPr lang="en-SG" sz="2000" dirty="0" err="1"/>
              <a:t>digunakan</a:t>
            </a:r>
            <a:r>
              <a:rPr lang="en-SG" sz="2000" dirty="0"/>
              <a:t> </a:t>
            </a:r>
            <a:r>
              <a:rPr lang="en-SG" sz="2000" dirty="0" err="1"/>
              <a:t>sebanyak</a:t>
            </a:r>
            <a:r>
              <a:rPr lang="en-SG" sz="2000" dirty="0"/>
              <a:t> </a:t>
            </a:r>
            <a:r>
              <a:rPr lang="en-SG" sz="2000" dirty="0" err="1"/>
              <a:t>empat</a:t>
            </a:r>
            <a:r>
              <a:rPr lang="en-SG" sz="2000" dirty="0"/>
              <a:t> </a:t>
            </a:r>
            <a:r>
              <a:rPr lang="en-SG" sz="2000" dirty="0" err="1"/>
              <a:t>buah</a:t>
            </a:r>
            <a:endParaRPr lang="en-SG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B83FAF4-53B5-DA3A-423B-5518C39FB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5" descr="preencoded.png">
            <a:extLst>
              <a:ext uri="{FF2B5EF4-FFF2-40B4-BE49-F238E27FC236}">
                <a16:creationId xmlns:a16="http://schemas.microsoft.com/office/drawing/2014/main" id="{875391A0-803A-1D07-DF96-A0E6B5D564D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 descr="preencoded.png">
            <a:extLst>
              <a:ext uri="{FF2B5EF4-FFF2-40B4-BE49-F238E27FC236}">
                <a16:creationId xmlns:a16="http://schemas.microsoft.com/office/drawing/2014/main" id="{EA0991C7-6CCF-9DE7-3EB1-0188F38A61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639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 descr="preencoded.png">
            <a:extLst>
              <a:ext uri="{FF2B5EF4-FFF2-40B4-BE49-F238E27FC236}">
                <a16:creationId xmlns:a16="http://schemas.microsoft.com/office/drawing/2014/main" id="{4BF9056F-9756-9F39-CA49-B2F72269798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8287999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 descr="preencoded.png">
            <a:extLst>
              <a:ext uri="{FF2B5EF4-FFF2-40B4-BE49-F238E27FC236}">
                <a16:creationId xmlns:a16="http://schemas.microsoft.com/office/drawing/2014/main" id="{2D88614A-0A2C-2DCE-E4D6-91B75346D02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714500"/>
            <a:ext cx="8696325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 descr="preencoded.png">
            <a:extLst>
              <a:ext uri="{FF2B5EF4-FFF2-40B4-BE49-F238E27FC236}">
                <a16:creationId xmlns:a16="http://schemas.microsoft.com/office/drawing/2014/main" id="{4C51D15F-3A6D-7B6B-7547-B14AFACAEB0C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4371975"/>
            <a:ext cx="13725525" cy="59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 descr="preencoded.png">
            <a:extLst>
              <a:ext uri="{FF2B5EF4-FFF2-40B4-BE49-F238E27FC236}">
                <a16:creationId xmlns:a16="http://schemas.microsoft.com/office/drawing/2014/main" id="{AC19DDCA-1B83-59FE-A2FE-4FF52AC14A85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227" y="7877175"/>
            <a:ext cx="665609" cy="66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descr="preencoded.png">
            <a:extLst>
              <a:ext uri="{FF2B5EF4-FFF2-40B4-BE49-F238E27FC236}">
                <a16:creationId xmlns:a16="http://schemas.microsoft.com/office/drawing/2014/main" id="{6F0BE5F2-E7F6-A5AD-0452-98C1728A4A2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FF27C57B-F537-57B2-A9AA-E8F76E829E3A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4E05FAA1-A72E-BBE6-DA1A-F8DC8706D2D7}"/>
              </a:ext>
            </a:extLst>
          </p:cNvPr>
          <p:cNvSpPr/>
          <p:nvPr/>
        </p:nvSpPr>
        <p:spPr>
          <a:xfrm>
            <a:off x="7777161" y="3393281"/>
            <a:ext cx="3152777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453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7500"/>
              <a:buFont typeface="Work Sans ExtraBold"/>
              <a:buNone/>
            </a:pPr>
            <a:r>
              <a:rPr lang="en-US" sz="7500" dirty="0">
                <a:solidFill>
                  <a:srgbClr val="233D80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Calibri bold" panose="020F0702030404030204" pitchFamily="34" charset="0"/>
                <a:sym typeface="Work Sans ExtraBold"/>
              </a:rPr>
              <a:t>Bab II</a:t>
            </a:r>
            <a:endParaRPr sz="7500" dirty="0">
              <a:solidFill>
                <a:schemeClr val="dk1"/>
              </a:solidFill>
              <a:latin typeface="Artifakt Element Black" panose="020B0A03050000020004" pitchFamily="34" charset="0"/>
              <a:ea typeface="Artifakt Element Black" panose="020B0A03050000020004" pitchFamily="34" charset="0"/>
              <a:cs typeface="Calibri bold" panose="020F0702030404030204" pitchFamily="34" charset="0"/>
              <a:sym typeface="Calibri"/>
            </a:endParaRPr>
          </a:p>
        </p:txBody>
      </p:sp>
      <p:pic>
        <p:nvPicPr>
          <p:cNvPr id="110" name="Google Shape;110;p5" title="Group 48098395.png">
            <a:extLst>
              <a:ext uri="{FF2B5EF4-FFF2-40B4-BE49-F238E27FC236}">
                <a16:creationId xmlns:a16="http://schemas.microsoft.com/office/drawing/2014/main" id="{3C8295FF-5936-D9B4-E4B2-D0537017D41F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C45C9F-ADDE-ED81-4473-D4C57755D3C9}"/>
              </a:ext>
            </a:extLst>
          </p:cNvPr>
          <p:cNvSpPr txBox="1"/>
          <p:nvPr/>
        </p:nvSpPr>
        <p:spPr>
          <a:xfrm>
            <a:off x="6437708" y="4437649"/>
            <a:ext cx="66079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6000" dirty="0" err="1">
                <a:solidFill>
                  <a:schemeClr val="bg2"/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Tinjauan</a:t>
            </a:r>
            <a:r>
              <a:rPr lang="en-SG" sz="6000" dirty="0">
                <a:solidFill>
                  <a:schemeClr val="bg2"/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 Pustaka</a:t>
            </a:r>
          </a:p>
        </p:txBody>
      </p:sp>
    </p:spTree>
    <p:extLst>
      <p:ext uri="{BB962C8B-B14F-4D97-AF65-F5344CB8AC3E}">
        <p14:creationId xmlns:p14="http://schemas.microsoft.com/office/powerpoint/2010/main" val="41253195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7738" y="7362826"/>
            <a:ext cx="647702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8700" y="3433763"/>
            <a:ext cx="504825" cy="50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2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9410700"/>
            <a:ext cx="822007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2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2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2238375" y="5233988"/>
            <a:ext cx="671512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98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Work Sans Medium"/>
              <a:buNone/>
            </a:pP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2238375" y="7234238"/>
            <a:ext cx="6715125" cy="895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98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Work Sans Medium"/>
              <a:buNone/>
            </a:pPr>
            <a:endParaRPr sz="3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2" title="Group 48098395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E0EBA0B-3CDD-4812-042D-5369F7D12881}"/>
              </a:ext>
            </a:extLst>
          </p:cNvPr>
          <p:cNvGrpSpPr/>
          <p:nvPr/>
        </p:nvGrpSpPr>
        <p:grpSpPr>
          <a:xfrm>
            <a:off x="19050" y="1796298"/>
            <a:ext cx="1518284" cy="557215"/>
            <a:chOff x="19050" y="1796298"/>
            <a:chExt cx="1518284" cy="557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110DCD3-1AC7-95C7-2AD2-DF10F6636FC9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3E468F-17C7-8C24-583D-EEAE2609FB78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556EE7C-4385-D9D1-C35E-482209AB0C7F}"/>
              </a:ext>
            </a:extLst>
          </p:cNvPr>
          <p:cNvSpPr txBox="1"/>
          <p:nvPr/>
        </p:nvSpPr>
        <p:spPr>
          <a:xfrm>
            <a:off x="1595440" y="1768736"/>
            <a:ext cx="51158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200" b="1" dirty="0" err="1">
                <a:latin typeface="Work Sans Medium" pitchFamily="2" charset="0"/>
              </a:rPr>
              <a:t>Penelitian</a:t>
            </a:r>
            <a:r>
              <a:rPr lang="en-SG" sz="3200" b="1" dirty="0">
                <a:latin typeface="Work Sans Medium" pitchFamily="2" charset="0"/>
              </a:rPr>
              <a:t> </a:t>
            </a:r>
            <a:r>
              <a:rPr lang="en-SG" sz="3200" b="1" dirty="0" err="1">
                <a:latin typeface="Work Sans Medium" pitchFamily="2" charset="0"/>
              </a:rPr>
              <a:t>Terdahulu</a:t>
            </a:r>
            <a:endParaRPr lang="en-SG" sz="3200" b="1" dirty="0">
              <a:latin typeface="Work Sans Medium" pitchFamily="2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9F211F1-4E44-34FE-814F-82D840813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419928"/>
              </p:ext>
            </p:extLst>
          </p:nvPr>
        </p:nvGraphicFramePr>
        <p:xfrm>
          <a:off x="2031206" y="3052762"/>
          <a:ext cx="13844588" cy="3663223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6922294">
                  <a:extLst>
                    <a:ext uri="{9D8B030D-6E8A-4147-A177-3AD203B41FA5}">
                      <a16:colId xmlns:a16="http://schemas.microsoft.com/office/drawing/2014/main" val="3698923912"/>
                    </a:ext>
                  </a:extLst>
                </a:gridCol>
                <a:gridCol w="6922294">
                  <a:extLst>
                    <a:ext uri="{9D8B030D-6E8A-4147-A177-3AD203B41FA5}">
                      <a16:colId xmlns:a16="http://schemas.microsoft.com/office/drawing/2014/main" val="1211348341"/>
                    </a:ext>
                  </a:extLst>
                </a:gridCol>
              </a:tblGrid>
              <a:tr h="374801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 err="1"/>
                        <a:t>Peneliti</a:t>
                      </a:r>
                      <a:endParaRPr lang="en-SG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Hasil </a:t>
                      </a:r>
                      <a:r>
                        <a:rPr lang="en-SG" sz="2000" dirty="0" err="1"/>
                        <a:t>Penelitian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5618666"/>
                  </a:ext>
                </a:extLst>
              </a:tr>
              <a:tr h="951417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Zhang </a:t>
                      </a:r>
                      <a:r>
                        <a:rPr lang="en-SG" sz="2000" dirty="0" err="1"/>
                        <a:t>dkk</a:t>
                      </a:r>
                      <a:r>
                        <a:rPr lang="en-SG" sz="2000" dirty="0"/>
                        <a:t>. (2025)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20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Pulse Width Modulation (PWM) chopper </a:t>
                      </a:r>
                      <a:r>
                        <a:rPr lang="en-SG" sz="2000" b="0" u="none" strike="noStrike" cap="none" dirty="0" err="1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dengan</a:t>
                      </a:r>
                      <a:r>
                        <a:rPr lang="en-SG" sz="2000" b="0" u="none" strike="noStrike" cap="none" dirty="0">
                          <a:solidFill>
                            <a:srgbClr val="000000"/>
                          </a:solidFill>
                          <a:effectLst/>
                          <a:sym typeface="Arial"/>
                        </a:rPr>
                        <a:t> Proportional-Integral (PI) closed-loop regulation (1-25V).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49339"/>
                  </a:ext>
                </a:extLst>
              </a:tr>
              <a:tr h="663109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Syed &amp; </a:t>
                      </a:r>
                      <a:r>
                        <a:rPr lang="en-SG" sz="2000" dirty="0" err="1"/>
                        <a:t>Takur</a:t>
                      </a:r>
                      <a:r>
                        <a:rPr lang="en-SG" sz="2000" dirty="0"/>
                        <a:t> (2022)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2000" dirty="0"/>
                        <a:t>PWM AC Chopper </a:t>
                      </a:r>
                      <a:r>
                        <a:rPr lang="en-SG" sz="2000" dirty="0" err="1"/>
                        <a:t>untuk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 err="1"/>
                        <a:t>mengurangi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 err="1"/>
                        <a:t>harmonisa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 err="1"/>
                        <a:t>dengan</a:t>
                      </a:r>
                      <a:r>
                        <a:rPr lang="en-SG" sz="2000" dirty="0"/>
                        <a:t> Fuzzy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265559"/>
                  </a:ext>
                </a:extLst>
              </a:tr>
              <a:tr h="663109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Rosada (2017)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2000" dirty="0" err="1"/>
                        <a:t>Rangkaian</a:t>
                      </a:r>
                      <a:r>
                        <a:rPr lang="en-SG" sz="2000" dirty="0"/>
                        <a:t> power </a:t>
                      </a:r>
                      <a:r>
                        <a:rPr lang="en-SG" sz="2000" dirty="0" err="1"/>
                        <a:t>berbasis</a:t>
                      </a:r>
                      <a:r>
                        <a:rPr lang="en-SG" sz="2000" dirty="0"/>
                        <a:t> TRIAC </a:t>
                      </a:r>
                      <a:r>
                        <a:rPr lang="en-SG" sz="2000" dirty="0" err="1"/>
                        <a:t>dengan</a:t>
                      </a:r>
                      <a:r>
                        <a:rPr lang="en-SG" sz="2000" dirty="0"/>
                        <a:t> PID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7545144"/>
                  </a:ext>
                </a:extLst>
              </a:tr>
              <a:tr h="951417">
                <a:tc>
                  <a:txBody>
                    <a:bodyPr/>
                    <a:lstStyle/>
                    <a:p>
                      <a:pPr algn="ctr"/>
                      <a:r>
                        <a:rPr lang="en-SG" sz="2000" dirty="0"/>
                        <a:t>Hari (2015)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2000" dirty="0" err="1"/>
                        <a:t>Rangkaian</a:t>
                      </a:r>
                      <a:r>
                        <a:rPr lang="en-SG" sz="2000" dirty="0"/>
                        <a:t> PWM AC Chopper </a:t>
                      </a:r>
                      <a:r>
                        <a:rPr lang="en-SG" sz="2000" dirty="0" err="1"/>
                        <a:t>tanpa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 err="1"/>
                        <a:t>rangkaian</a:t>
                      </a:r>
                      <a:r>
                        <a:rPr lang="en-SG" sz="2000" dirty="0"/>
                        <a:t> freewheeling </a:t>
                      </a:r>
                      <a:r>
                        <a:rPr lang="en-SG" sz="2000" dirty="0" err="1"/>
                        <a:t>dengan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 err="1"/>
                        <a:t>logika</a:t>
                      </a:r>
                      <a:r>
                        <a:rPr lang="en-SG" sz="2000" dirty="0"/>
                        <a:t> </a:t>
                      </a:r>
                      <a:r>
                        <a:rPr lang="en-SG" sz="2000" dirty="0" err="1"/>
                        <a:t>percabangan</a:t>
                      </a:r>
                      <a:endParaRPr lang="en-SG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4435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1" title="Group 4809839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C12E697-68EB-4515-BFBA-4ABE87D10213}"/>
              </a:ext>
            </a:extLst>
          </p:cNvPr>
          <p:cNvSpPr txBox="1"/>
          <p:nvPr/>
        </p:nvSpPr>
        <p:spPr>
          <a:xfrm>
            <a:off x="0" y="1595639"/>
            <a:ext cx="2346005" cy="523220"/>
          </a:xfrm>
          <a:prstGeom prst="rect">
            <a:avLst/>
          </a:prstGeom>
          <a:solidFill>
            <a:srgbClr val="FFBC0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2"/>
                </a:solidFill>
                <a:latin typeface="Work Sans" pitchFamily="2" charset="0"/>
              </a:rPr>
              <a:t>Inverter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BA46D6-8B3F-454F-31EF-BFD29BE2E9ED}"/>
              </a:ext>
            </a:extLst>
          </p:cNvPr>
          <p:cNvSpPr txBox="1"/>
          <p:nvPr/>
        </p:nvSpPr>
        <p:spPr>
          <a:xfrm>
            <a:off x="8915400" y="1595639"/>
            <a:ext cx="5257799" cy="523220"/>
          </a:xfrm>
          <a:prstGeom prst="rect">
            <a:avLst/>
          </a:prstGeom>
          <a:solidFill>
            <a:srgbClr val="FFBC0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 err="1">
                <a:solidFill>
                  <a:schemeClr val="bg2"/>
                </a:solidFill>
                <a:latin typeface="Work Sans" pitchFamily="2" charset="0"/>
              </a:rPr>
              <a:t>Karakteristik</a:t>
            </a:r>
            <a:r>
              <a:rPr lang="en-SG" sz="2800" dirty="0">
                <a:solidFill>
                  <a:schemeClr val="bg2"/>
                </a:solidFill>
                <a:latin typeface="Work Sans" pitchFamily="2" charset="0"/>
              </a:rPr>
              <a:t> Pompa Air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69009E-BAAD-AFA1-7C7C-6C8A1F5B8575}"/>
              </a:ext>
            </a:extLst>
          </p:cNvPr>
          <p:cNvCxnSpPr>
            <a:cxnSpLocks/>
          </p:cNvCxnSpPr>
          <p:nvPr/>
        </p:nvCxnSpPr>
        <p:spPr>
          <a:xfrm flipV="1">
            <a:off x="8915400" y="0"/>
            <a:ext cx="0" cy="1028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0143F610-4CD2-E5D4-DBC0-CAE812326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569535"/>
            <a:ext cx="6656185" cy="55026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90B125-C72D-B15B-E7B3-1927B5A88C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7277" y="2411287"/>
            <a:ext cx="7269643" cy="46100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8795CA-0A49-4F6D-7B98-D907BAE49E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25206" y="8691361"/>
            <a:ext cx="4095985" cy="118724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553D2E5-EC31-E8BF-B24E-8FF6840802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125204" y="7398744"/>
            <a:ext cx="3813443" cy="110039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A61FEC48-4254-2C44-868D-A82337CD59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1" descr="preencoded.png">
            <a:extLst>
              <a:ext uri="{FF2B5EF4-FFF2-40B4-BE49-F238E27FC236}">
                <a16:creationId xmlns:a16="http://schemas.microsoft.com/office/drawing/2014/main" id="{0DB360E0-D626-854F-6702-5138C8485FB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>
            <a:extLst>
              <a:ext uri="{FF2B5EF4-FFF2-40B4-BE49-F238E27FC236}">
                <a16:creationId xmlns:a16="http://schemas.microsoft.com/office/drawing/2014/main" id="{2FEDC08F-EBBF-DD93-AE76-FACEE028F09F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1" title="Group 48098395.png">
            <a:extLst>
              <a:ext uri="{FF2B5EF4-FFF2-40B4-BE49-F238E27FC236}">
                <a16:creationId xmlns:a16="http://schemas.microsoft.com/office/drawing/2014/main" id="{6433C005-10C9-1604-88D0-BAE2CC8ACD1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966622-7E3B-13AF-3422-FB36C367BDA2}"/>
              </a:ext>
            </a:extLst>
          </p:cNvPr>
          <p:cNvSpPr txBox="1"/>
          <p:nvPr/>
        </p:nvSpPr>
        <p:spPr>
          <a:xfrm>
            <a:off x="-1" y="1628649"/>
            <a:ext cx="5286376" cy="523220"/>
          </a:xfrm>
          <a:prstGeom prst="rect">
            <a:avLst/>
          </a:prstGeom>
          <a:solidFill>
            <a:srgbClr val="FFBC0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olidFill>
                  <a:schemeClr val="bg2"/>
                </a:solidFill>
                <a:latin typeface="Work Sans" pitchFamily="2" charset="0"/>
              </a:rPr>
              <a:t>Motor </a:t>
            </a:r>
            <a:r>
              <a:rPr lang="en-SG" sz="2800" dirty="0" err="1">
                <a:solidFill>
                  <a:schemeClr val="bg2"/>
                </a:solidFill>
                <a:latin typeface="Work Sans" pitchFamily="2" charset="0"/>
              </a:rPr>
              <a:t>Induksi</a:t>
            </a:r>
            <a:r>
              <a:rPr lang="en-SG" sz="2800" dirty="0">
                <a:solidFill>
                  <a:schemeClr val="bg2"/>
                </a:solidFill>
                <a:latin typeface="Work Sans" pitchFamily="2" charset="0"/>
              </a:rPr>
              <a:t> Satu </a:t>
            </a:r>
            <a:r>
              <a:rPr lang="en-SG" sz="2800" dirty="0" err="1">
                <a:solidFill>
                  <a:schemeClr val="bg2"/>
                </a:solidFill>
                <a:latin typeface="Work Sans" pitchFamily="2" charset="0"/>
              </a:rPr>
              <a:t>Fasa</a:t>
            </a:r>
            <a:endParaRPr lang="en-SG" sz="2800" dirty="0">
              <a:solidFill>
                <a:schemeClr val="bg2"/>
              </a:solidFill>
              <a:latin typeface="Work Sans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33F7AE-1A66-4F3A-5EF6-0FBD37426CAE}"/>
              </a:ext>
            </a:extLst>
          </p:cNvPr>
          <p:cNvSpPr txBox="1"/>
          <p:nvPr/>
        </p:nvSpPr>
        <p:spPr>
          <a:xfrm>
            <a:off x="8915400" y="1628649"/>
            <a:ext cx="5372098" cy="523220"/>
          </a:xfrm>
          <a:prstGeom prst="rect">
            <a:avLst/>
          </a:prstGeom>
          <a:solidFill>
            <a:srgbClr val="FFBC0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 err="1">
                <a:solidFill>
                  <a:schemeClr val="bg2"/>
                </a:solidFill>
                <a:latin typeface="Work Sans" pitchFamily="2" charset="0"/>
              </a:rPr>
              <a:t>Rangkaian</a:t>
            </a:r>
            <a:r>
              <a:rPr lang="en-SG" sz="2800" dirty="0">
                <a:solidFill>
                  <a:schemeClr val="bg2"/>
                </a:solidFill>
                <a:latin typeface="Work Sans" pitchFamily="2" charset="0"/>
              </a:rPr>
              <a:t> PWM AC Chopper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1701E88-70B2-6ED9-79E2-B6EBCDC218C6}"/>
              </a:ext>
            </a:extLst>
          </p:cNvPr>
          <p:cNvCxnSpPr>
            <a:cxnSpLocks/>
          </p:cNvCxnSpPr>
          <p:nvPr/>
        </p:nvCxnSpPr>
        <p:spPr>
          <a:xfrm flipV="1">
            <a:off x="8915400" y="0"/>
            <a:ext cx="0" cy="1028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A50BC13-427A-7619-F498-8C8F25DAF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115" y="6138978"/>
            <a:ext cx="5745529" cy="25649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45001AD-D2C9-FA84-D77B-2F751EA8E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8901" y="2445453"/>
            <a:ext cx="6583680" cy="3341341"/>
          </a:xfrm>
          <a:prstGeom prst="rect">
            <a:avLst/>
          </a:prstGeom>
        </p:spPr>
      </p:pic>
      <p:pic>
        <p:nvPicPr>
          <p:cNvPr id="11" name="Picture 10" descr="BAB IV PENGENALAN MOTOR INDUKSI 1-FASA">
            <a:extLst>
              <a:ext uri="{FF2B5EF4-FFF2-40B4-BE49-F238E27FC236}">
                <a16:creationId xmlns:a16="http://schemas.microsoft.com/office/drawing/2014/main" id="{748649E6-4A6E-55CE-EB57-0960F8F4E4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915" y="2779453"/>
            <a:ext cx="5855969" cy="30991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AAA880-4A9A-2AC8-20AD-C12506B0A54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11351" y="5591269"/>
            <a:ext cx="6751734" cy="16002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D23F6E5-C930-A574-F269-519E441B15F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7631" y="7671512"/>
            <a:ext cx="2987299" cy="175275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21C075-D2AC-932D-0A07-EC485BE0DA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4930" y="7191517"/>
            <a:ext cx="4206388" cy="302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689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>
          <a:extLst>
            <a:ext uri="{FF2B5EF4-FFF2-40B4-BE49-F238E27FC236}">
              <a16:creationId xmlns:a16="http://schemas.microsoft.com/office/drawing/2014/main" id="{3DDC678E-AD36-2ED1-27FA-4DA81ADB2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11" descr="preencoded.png">
            <a:extLst>
              <a:ext uri="{FF2B5EF4-FFF2-40B4-BE49-F238E27FC236}">
                <a16:creationId xmlns:a16="http://schemas.microsoft.com/office/drawing/2014/main" id="{48887DCD-C621-1B01-33EB-3062FA6480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>
            <a:extLst>
              <a:ext uri="{FF2B5EF4-FFF2-40B4-BE49-F238E27FC236}">
                <a16:creationId xmlns:a16="http://schemas.microsoft.com/office/drawing/2014/main" id="{7917F767-9B47-6DD0-52A1-6A5EF6B33959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1" title="Group 48098395.png">
            <a:extLst>
              <a:ext uri="{FF2B5EF4-FFF2-40B4-BE49-F238E27FC236}">
                <a16:creationId xmlns:a16="http://schemas.microsoft.com/office/drawing/2014/main" id="{0AE30A1C-F1C8-607B-3592-6CA190AB6B7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35E7795-402B-A82D-BF86-358F8F0933D5}"/>
              </a:ext>
            </a:extLst>
          </p:cNvPr>
          <p:cNvSpPr txBox="1"/>
          <p:nvPr/>
        </p:nvSpPr>
        <p:spPr>
          <a:xfrm>
            <a:off x="0" y="1598942"/>
            <a:ext cx="4543425" cy="523220"/>
          </a:xfrm>
          <a:prstGeom prst="rect">
            <a:avLst/>
          </a:prstGeom>
          <a:solidFill>
            <a:srgbClr val="FFBC06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 err="1">
                <a:solidFill>
                  <a:schemeClr val="bg2"/>
                </a:solidFill>
                <a:latin typeface="Work Sans" pitchFamily="2" charset="0"/>
              </a:rPr>
              <a:t>Kontrol</a:t>
            </a:r>
            <a:r>
              <a:rPr lang="en-SG" sz="2800" dirty="0">
                <a:solidFill>
                  <a:schemeClr val="bg2"/>
                </a:solidFill>
                <a:latin typeface="Work Sans" pitchFamily="2" charset="0"/>
              </a:rPr>
              <a:t> Neural Network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EAD559-B759-579B-8778-84C08606EA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2832687"/>
            <a:ext cx="5590419" cy="462162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C37E8A-E211-1D67-C190-F826FCAF20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0253" y="1598942"/>
            <a:ext cx="7916073" cy="38901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591E63-4372-F923-0516-5614DAB5D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44375" y="5887310"/>
            <a:ext cx="4402043" cy="33155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9A73564-D920-ECCA-E9E3-8C9593A44B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941" y="5887310"/>
            <a:ext cx="4653442" cy="1618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712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4E07210-64FC-6723-1334-45F24F49C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5" descr="preencoded.png">
            <a:extLst>
              <a:ext uri="{FF2B5EF4-FFF2-40B4-BE49-F238E27FC236}">
                <a16:creationId xmlns:a16="http://schemas.microsoft.com/office/drawing/2014/main" id="{51A9FB7C-BF17-61D8-C86E-C758574240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 descr="preencoded.png">
            <a:extLst>
              <a:ext uri="{FF2B5EF4-FFF2-40B4-BE49-F238E27FC236}">
                <a16:creationId xmlns:a16="http://schemas.microsoft.com/office/drawing/2014/main" id="{A7584423-F1EA-481D-50D8-6801AB54510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639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 descr="preencoded.png">
            <a:extLst>
              <a:ext uri="{FF2B5EF4-FFF2-40B4-BE49-F238E27FC236}">
                <a16:creationId xmlns:a16="http://schemas.microsoft.com/office/drawing/2014/main" id="{CACA6095-D7D3-AA79-D464-3965C10B4DA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8287999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 descr="preencoded.png">
            <a:extLst>
              <a:ext uri="{FF2B5EF4-FFF2-40B4-BE49-F238E27FC236}">
                <a16:creationId xmlns:a16="http://schemas.microsoft.com/office/drawing/2014/main" id="{5C0F93B5-B3EA-6417-EB19-E345E14A918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714500"/>
            <a:ext cx="8696325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 descr="preencoded.png">
            <a:extLst>
              <a:ext uri="{FF2B5EF4-FFF2-40B4-BE49-F238E27FC236}">
                <a16:creationId xmlns:a16="http://schemas.microsoft.com/office/drawing/2014/main" id="{B0D35553-AE59-7188-F3E4-36D2AD5A08F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4371975"/>
            <a:ext cx="13725525" cy="59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 descr="preencoded.png">
            <a:extLst>
              <a:ext uri="{FF2B5EF4-FFF2-40B4-BE49-F238E27FC236}">
                <a16:creationId xmlns:a16="http://schemas.microsoft.com/office/drawing/2014/main" id="{73C3DAC8-92CD-C23C-1F97-206B80079070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227" y="7877175"/>
            <a:ext cx="665609" cy="66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descr="preencoded.png">
            <a:extLst>
              <a:ext uri="{FF2B5EF4-FFF2-40B4-BE49-F238E27FC236}">
                <a16:creationId xmlns:a16="http://schemas.microsoft.com/office/drawing/2014/main" id="{A8E4FAB3-E68C-C838-3330-3E58FBCAB836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9BA9C155-57A3-71B8-5975-53EE87DAD477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E0F69207-FA14-FB76-ABFB-8A7D70CCF083}"/>
              </a:ext>
            </a:extLst>
          </p:cNvPr>
          <p:cNvSpPr/>
          <p:nvPr/>
        </p:nvSpPr>
        <p:spPr>
          <a:xfrm>
            <a:off x="7322342" y="3349210"/>
            <a:ext cx="3643313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453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7500"/>
              <a:buFont typeface="Work Sans ExtraBold"/>
              <a:buNone/>
            </a:pPr>
            <a:r>
              <a:rPr lang="en-US" sz="7500" dirty="0">
                <a:solidFill>
                  <a:srgbClr val="233D80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Calibri bold" panose="020F0702030404030204" pitchFamily="34" charset="0"/>
                <a:sym typeface="Work Sans ExtraBold"/>
              </a:rPr>
              <a:t>Bab III</a:t>
            </a:r>
            <a:endParaRPr sz="7500" dirty="0">
              <a:solidFill>
                <a:schemeClr val="dk1"/>
              </a:solidFill>
              <a:latin typeface="Artifakt Element Black" panose="020B0A03050000020004" pitchFamily="34" charset="0"/>
              <a:ea typeface="Artifakt Element Black" panose="020B0A03050000020004" pitchFamily="34" charset="0"/>
              <a:cs typeface="Calibri bold" panose="020F0702030404030204" pitchFamily="34" charset="0"/>
              <a:sym typeface="Calibri"/>
            </a:endParaRPr>
          </a:p>
        </p:txBody>
      </p:sp>
      <p:pic>
        <p:nvPicPr>
          <p:cNvPr id="110" name="Google Shape;110;p5" title="Group 48098395.png">
            <a:extLst>
              <a:ext uri="{FF2B5EF4-FFF2-40B4-BE49-F238E27FC236}">
                <a16:creationId xmlns:a16="http://schemas.microsoft.com/office/drawing/2014/main" id="{B33A68E5-7289-1D85-E5C6-82EB799FE514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9CEB636-185A-7F74-8C6A-2F359412E17F}"/>
              </a:ext>
            </a:extLst>
          </p:cNvPr>
          <p:cNvSpPr txBox="1"/>
          <p:nvPr/>
        </p:nvSpPr>
        <p:spPr>
          <a:xfrm>
            <a:off x="6454970" y="4510425"/>
            <a:ext cx="53780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6000" dirty="0">
                <a:solidFill>
                  <a:schemeClr val="bg2"/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METODOLOGI</a:t>
            </a:r>
          </a:p>
        </p:txBody>
      </p:sp>
    </p:spTree>
    <p:extLst>
      <p:ext uri="{BB962C8B-B14F-4D97-AF65-F5344CB8AC3E}">
        <p14:creationId xmlns:p14="http://schemas.microsoft.com/office/powerpoint/2010/main" val="3337964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PERANCANGAN SISTEM PENGENDALIAN TEKANAN POMPA AIR</a:t>
            </a:r>
            <a:endParaRPr sz="2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790575" y="2352675"/>
            <a:ext cx="49911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70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6750"/>
              <a:buFont typeface="Work Sans ExtraBold"/>
              <a:buNone/>
            </a:pPr>
            <a:endParaRPr sz="6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3" title="Group 4809839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0275CD22-D000-BF3A-019C-E3E84184CDC7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87C5925-3EBC-61F1-C453-3304379BE06C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267DE1C-2DC3-3498-6ED4-0E4AAF86EB60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35159F0-1789-699E-9C09-7EC5095B0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2091" y="2205071"/>
            <a:ext cx="9953625" cy="72659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4DAAA4-C49B-3236-382F-55F9313F95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6909" y="2039706"/>
            <a:ext cx="6772160" cy="371714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CB85836-D707-3260-DF8B-7CC99932422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916" y="5725711"/>
            <a:ext cx="6954452" cy="3529812"/>
          </a:xfrm>
          <a:prstGeom prst="rect">
            <a:avLst/>
          </a:prstGeom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B552924D-AB1C-5035-1E14-617C867D6C6A}"/>
              </a:ext>
            </a:extLst>
          </p:cNvPr>
          <p:cNvSpPr/>
          <p:nvPr/>
        </p:nvSpPr>
        <p:spPr>
          <a:xfrm>
            <a:off x="7605066" y="3219670"/>
            <a:ext cx="1942832" cy="469331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CBC5B24-81A9-0286-A8D8-8E373FE46C2A}"/>
              </a:ext>
            </a:extLst>
          </p:cNvPr>
          <p:cNvSpPr/>
          <p:nvPr/>
        </p:nvSpPr>
        <p:spPr>
          <a:xfrm>
            <a:off x="7477196" y="5966218"/>
            <a:ext cx="4639375" cy="548882"/>
          </a:xfrm>
          <a:prstGeom prst="rightArrow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68B3E2-BB74-0EE3-B535-28F390F2B154}"/>
              </a:ext>
            </a:extLst>
          </p:cNvPr>
          <p:cNvSpPr/>
          <p:nvPr/>
        </p:nvSpPr>
        <p:spPr>
          <a:xfrm>
            <a:off x="7477196" y="6131938"/>
            <a:ext cx="257822" cy="84636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3952C643-4197-4044-0551-1AE0B46C4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FGH40N120AN транзистор IGBT купить на OZON по низкой цене (1161958172)">
            <a:extLst>
              <a:ext uri="{FF2B5EF4-FFF2-40B4-BE49-F238E27FC236}">
                <a16:creationId xmlns:a16="http://schemas.microsoft.com/office/drawing/2014/main" id="{DBB85F1F-0DC8-3971-F6A8-44972C6F1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682" y="3146171"/>
            <a:ext cx="2835005" cy="2728540"/>
          </a:xfrm>
          <a:prstGeom prst="rect">
            <a:avLst/>
          </a:prstGeom>
        </p:spPr>
      </p:pic>
      <p:pic>
        <p:nvPicPr>
          <p:cNvPr id="267" name="Google Shape;267;p13" descr="preencoded.png">
            <a:extLst>
              <a:ext uri="{FF2B5EF4-FFF2-40B4-BE49-F238E27FC236}">
                <a16:creationId xmlns:a16="http://schemas.microsoft.com/office/drawing/2014/main" id="{C22CE21B-D1DC-2667-2B97-B1AC6DCD597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>
            <a:extLst>
              <a:ext uri="{FF2B5EF4-FFF2-40B4-BE49-F238E27FC236}">
                <a16:creationId xmlns:a16="http://schemas.microsoft.com/office/drawing/2014/main" id="{38756606-D906-30AC-0503-59FF6D99DD1A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>
            <a:extLst>
              <a:ext uri="{FF2B5EF4-FFF2-40B4-BE49-F238E27FC236}">
                <a16:creationId xmlns:a16="http://schemas.microsoft.com/office/drawing/2014/main" id="{AF41878B-CD7F-FC89-0B6D-849D233256F1}"/>
              </a:ext>
            </a:extLst>
          </p:cNvPr>
          <p:cNvSpPr/>
          <p:nvPr/>
        </p:nvSpPr>
        <p:spPr>
          <a:xfrm>
            <a:off x="1734320" y="1337852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PENENTUAN DAN PERHITUNGAN NILAI KOMPONEN</a:t>
            </a:r>
            <a:endParaRPr sz="2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>
            <a:extLst>
              <a:ext uri="{FF2B5EF4-FFF2-40B4-BE49-F238E27FC236}">
                <a16:creationId xmlns:a16="http://schemas.microsoft.com/office/drawing/2014/main" id="{E7C2822F-F21D-90D4-F99C-620165B028D7}"/>
              </a:ext>
            </a:extLst>
          </p:cNvPr>
          <p:cNvSpPr/>
          <p:nvPr/>
        </p:nvSpPr>
        <p:spPr>
          <a:xfrm>
            <a:off x="790575" y="2352675"/>
            <a:ext cx="49911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70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6750"/>
              <a:buFont typeface="Work Sans ExtraBold"/>
              <a:buNone/>
            </a:pPr>
            <a:endParaRPr sz="6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3" title="Group 48098395.png">
            <a:extLst>
              <a:ext uri="{FF2B5EF4-FFF2-40B4-BE49-F238E27FC236}">
                <a16:creationId xmlns:a16="http://schemas.microsoft.com/office/drawing/2014/main" id="{0B3BEF01-9BCA-9044-DA22-C01735DB910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18625332-2B45-6AC2-C8F5-BCD28491C35B}"/>
              </a:ext>
            </a:extLst>
          </p:cNvPr>
          <p:cNvGrpSpPr/>
          <p:nvPr/>
        </p:nvGrpSpPr>
        <p:grpSpPr>
          <a:xfrm>
            <a:off x="-35242" y="1199770"/>
            <a:ext cx="1518284" cy="557215"/>
            <a:chOff x="19050" y="1796298"/>
            <a:chExt cx="1518284" cy="557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6FE27DF-A0EF-6F02-FF09-AB4AE7F3711B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A2A6971-C8AE-B350-41FD-7AA7FB930D0C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E8E5AC4A-D8AD-D7CC-9B78-790B0B25C23A}"/>
              </a:ext>
            </a:extLst>
          </p:cNvPr>
          <p:cNvSpPr txBox="1"/>
          <p:nvPr/>
        </p:nvSpPr>
        <p:spPr>
          <a:xfrm>
            <a:off x="258060" y="2235647"/>
            <a:ext cx="3769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>
                <a:latin typeface="Work Sans Medium" pitchFamily="2" charset="0"/>
              </a:rPr>
              <a:t>Pemilihan</a:t>
            </a:r>
            <a:r>
              <a:rPr lang="en-SG" sz="2000" dirty="0">
                <a:latin typeface="Work Sans Medium" pitchFamily="2" charset="0"/>
              </a:rPr>
              <a:t> IGBT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770FA8-B66E-6D1C-C3B2-F4E463FD524C}"/>
              </a:ext>
            </a:extLst>
          </p:cNvPr>
          <p:cNvSpPr txBox="1"/>
          <p:nvPr/>
        </p:nvSpPr>
        <p:spPr>
          <a:xfrm>
            <a:off x="9912039" y="1827201"/>
            <a:ext cx="37697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>
                <a:latin typeface="Work Sans Medium" pitchFamily="2" charset="0"/>
              </a:rPr>
              <a:t>Rangkaian</a:t>
            </a:r>
            <a:r>
              <a:rPr lang="en-SG" sz="2000" dirty="0">
                <a:latin typeface="Work Sans Medium" pitchFamily="2" charset="0"/>
              </a:rPr>
              <a:t> Snubber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377D0E5-4380-0FFA-078F-C696B9FACF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94851" y="3589335"/>
            <a:ext cx="2807819" cy="128642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3A64C0-FF92-C8DE-632C-E65DC9211E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5063" y="5847019"/>
            <a:ext cx="4462256" cy="1222207"/>
          </a:xfrm>
          <a:prstGeom prst="rect">
            <a:avLst/>
          </a:prstGeom>
        </p:spPr>
      </p:pic>
      <p:pic>
        <p:nvPicPr>
          <p:cNvPr id="16" name="Picture 15" descr="A switch module stacked by a 4 × 3 IGBT array with balanced voltage sharing  for PEF applications | Microsystem Technologies | Springer Nature Link">
            <a:extLst>
              <a:ext uri="{FF2B5EF4-FFF2-40B4-BE49-F238E27FC236}">
                <a16:creationId xmlns:a16="http://schemas.microsoft.com/office/drawing/2014/main" id="{5406802B-A429-0F29-6B87-316DABF8C50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9243"/>
          <a:stretch>
            <a:fillRect/>
          </a:stretch>
        </p:blipFill>
        <p:spPr>
          <a:xfrm>
            <a:off x="10015378" y="2249079"/>
            <a:ext cx="4681627" cy="369096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3818EBB-8BE9-9417-E0FE-DA2CA8CBE51B}"/>
              </a:ext>
            </a:extLst>
          </p:cNvPr>
          <p:cNvSpPr/>
          <p:nvPr/>
        </p:nvSpPr>
        <p:spPr>
          <a:xfrm>
            <a:off x="12884255" y="2667407"/>
            <a:ext cx="830580" cy="1235623"/>
          </a:xfrm>
          <a:prstGeom prst="rect">
            <a:avLst/>
          </a:prstGeom>
          <a:noFill/>
          <a:ln>
            <a:solidFill>
              <a:srgbClr val="EE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010DBAE-3BAF-C69C-6B1A-2C8105BBB0CC}"/>
              </a:ext>
            </a:extLst>
          </p:cNvPr>
          <p:cNvSpPr/>
          <p:nvPr/>
        </p:nvSpPr>
        <p:spPr>
          <a:xfrm>
            <a:off x="13027859" y="4124914"/>
            <a:ext cx="1075199" cy="977713"/>
          </a:xfrm>
          <a:prstGeom prst="rect">
            <a:avLst/>
          </a:prstGeom>
          <a:noFill/>
          <a:ln>
            <a:solidFill>
              <a:srgbClr val="EE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4C06B4E-4FD0-818E-4B8B-2489E7318E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6625" y="2752785"/>
            <a:ext cx="6433185" cy="54655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45CAA1C-4C0D-DEC5-24B6-1B1250117C8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97943" y="6926434"/>
            <a:ext cx="7135029" cy="11114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C6EAA8F-C0D5-B5B1-07EA-E3B0162AFA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164754" y="1979344"/>
            <a:ext cx="2837916" cy="15385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DFD142E8-9523-0156-B7F4-F1CD8ADA42D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15378" y="8736653"/>
            <a:ext cx="4880500" cy="114480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00FD0C3-E363-7E5A-0E78-2F2FF0D27A4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5063" y="8068111"/>
            <a:ext cx="1777030" cy="63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939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ED7D82DC-D4D4-71C2-515F-384ABA2CE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3" descr="preencoded.png">
            <a:extLst>
              <a:ext uri="{FF2B5EF4-FFF2-40B4-BE49-F238E27FC236}">
                <a16:creationId xmlns:a16="http://schemas.microsoft.com/office/drawing/2014/main" id="{2CD19FF4-6F59-564E-6AE5-76259A455D9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3">
            <a:extLst>
              <a:ext uri="{FF2B5EF4-FFF2-40B4-BE49-F238E27FC236}">
                <a16:creationId xmlns:a16="http://schemas.microsoft.com/office/drawing/2014/main" id="{9552D442-6E15-1046-FCC8-7F3DB772BA05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>
            <a:extLst>
              <a:ext uri="{FF2B5EF4-FFF2-40B4-BE49-F238E27FC236}">
                <a16:creationId xmlns:a16="http://schemas.microsoft.com/office/drawing/2014/main" id="{85721130-C3C5-87E0-4D78-65758FC9F559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PENENTUAN DAN PERHITUNGAN NILAI KOMPONEN</a:t>
            </a:r>
            <a:endParaRPr sz="2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>
            <a:extLst>
              <a:ext uri="{FF2B5EF4-FFF2-40B4-BE49-F238E27FC236}">
                <a16:creationId xmlns:a16="http://schemas.microsoft.com/office/drawing/2014/main" id="{F41C034F-B1AB-2C2B-BE1B-F90412788136}"/>
              </a:ext>
            </a:extLst>
          </p:cNvPr>
          <p:cNvSpPr/>
          <p:nvPr/>
        </p:nvSpPr>
        <p:spPr>
          <a:xfrm>
            <a:off x="790575" y="2352675"/>
            <a:ext cx="49911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70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6750"/>
              <a:buFont typeface="Work Sans ExtraBold"/>
              <a:buNone/>
            </a:pPr>
            <a:endParaRPr sz="67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3" title="Group 48098395.png">
            <a:extLst>
              <a:ext uri="{FF2B5EF4-FFF2-40B4-BE49-F238E27FC236}">
                <a16:creationId xmlns:a16="http://schemas.microsoft.com/office/drawing/2014/main" id="{B67AF81B-A475-307C-509A-248A9EFEBC0E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6110F9EC-BF7C-D7EC-4363-EDA504ED7DB3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7D20AC-58CA-BBCE-CC65-D2C3F01C8CA2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7394D15-DACC-C31B-9A56-C0F0C0DA302A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884A56E-AC26-9285-2D44-E73B64E72A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192" y="2928781"/>
            <a:ext cx="8681178" cy="10096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491100B-57A4-F1A7-E2AC-E1F3CC8F1B15}"/>
              </a:ext>
            </a:extLst>
          </p:cNvPr>
          <p:cNvSpPr txBox="1"/>
          <p:nvPr/>
        </p:nvSpPr>
        <p:spPr>
          <a:xfrm>
            <a:off x="1002664" y="2423956"/>
            <a:ext cx="41651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>
                <a:latin typeface="Work Sans Medium" pitchFamily="2" charset="0"/>
              </a:rPr>
              <a:t>Penentuan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nilai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i="1" dirty="0">
                <a:latin typeface="Work Sans Medium" pitchFamily="2" charset="0"/>
              </a:rPr>
              <a:t>Dead Time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48CDD9C-5D80-4367-AF32-CC2AE9C08E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664" y="4259319"/>
            <a:ext cx="7957427" cy="222446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9E672E-3352-DCA8-BF4D-3866B17B33C3}"/>
              </a:ext>
            </a:extLst>
          </p:cNvPr>
          <p:cNvSpPr txBox="1"/>
          <p:nvPr/>
        </p:nvSpPr>
        <p:spPr>
          <a:xfrm>
            <a:off x="2003484" y="3859209"/>
            <a:ext cx="632859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 err="1">
                <a:latin typeface="Work Sans Medium" pitchFamily="2" charset="0"/>
              </a:rPr>
              <a:t>Karakteristik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i="1" dirty="0">
                <a:latin typeface="Work Sans Medium" pitchFamily="2" charset="0"/>
              </a:rPr>
              <a:t>Switching</a:t>
            </a:r>
            <a:r>
              <a:rPr lang="en-SG" sz="2000" dirty="0">
                <a:latin typeface="Work Sans Medium" pitchFamily="2" charset="0"/>
              </a:rPr>
              <a:t> IGBT FGH40N120AN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C112A6C-D9AA-01D8-91FE-BFD1DA9C8C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7820" y="6973611"/>
            <a:ext cx="6607113" cy="228619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6705FEB-2C9A-6295-136D-D9BDED857765}"/>
              </a:ext>
            </a:extLst>
          </p:cNvPr>
          <p:cNvSpPr txBox="1"/>
          <p:nvPr/>
        </p:nvSpPr>
        <p:spPr>
          <a:xfrm>
            <a:off x="2500313" y="6556666"/>
            <a:ext cx="57846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 err="1">
                <a:latin typeface="Work Sans Medium" pitchFamily="2" charset="0"/>
              </a:rPr>
              <a:t>Spesifikasi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i="1" dirty="0" err="1">
                <a:latin typeface="Work Sans Medium" pitchFamily="2" charset="0"/>
              </a:rPr>
              <a:t>Propogation</a:t>
            </a:r>
            <a:r>
              <a:rPr lang="en-SG" sz="2000" i="1" dirty="0">
                <a:latin typeface="Work Sans Medium" pitchFamily="2" charset="0"/>
              </a:rPr>
              <a:t> Delay</a:t>
            </a:r>
            <a:r>
              <a:rPr lang="en-SG" sz="2000" dirty="0">
                <a:latin typeface="Work Sans Medium" pitchFamily="2" charset="0"/>
              </a:rPr>
              <a:t> HCPL-3120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E5C8353-85A7-7DB7-B92F-D9A6C47741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56184" y="2489982"/>
            <a:ext cx="6871989" cy="59019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6BDB167-3448-0862-0DF2-749EDD21E03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6383" y="3263926"/>
            <a:ext cx="5260940" cy="140168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303DED-F441-AFBE-9C67-A5CCF866A101}"/>
                  </a:ext>
                </a:extLst>
              </p:cNvPr>
              <p:cNvSpPr txBox="1"/>
              <p:nvPr/>
            </p:nvSpPr>
            <p:spPr>
              <a:xfrm>
                <a:off x="9936358" y="4925450"/>
                <a:ext cx="6871989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Dengan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memperhitungkan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dua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acuan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,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yitu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hasil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perhitungan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berbasis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i="1" dirty="0">
                    <a:latin typeface="Work Sans Medium" pitchFamily="2" charset="0"/>
                    <a:cs typeface="Times New Roman" panose="02020603050405020304" pitchFamily="18" charset="0"/>
                  </a:rPr>
                  <a:t>datasheet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diperoleh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dead time =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</a:rPr>
                      <m:t>2,5 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,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sehingga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dari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kedua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acuan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tersebut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maka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dipilihlah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</a:t>
                </a:r>
                <a:r>
                  <a:rPr lang="en-SG" sz="2000" dirty="0" err="1">
                    <a:latin typeface="Work Sans Medium" pitchFamily="2" charset="0"/>
                    <a:cs typeface="Times New Roman" panose="02020603050405020304" pitchFamily="18" charset="0"/>
                  </a:rPr>
                  <a:t>nilai</a:t>
                </a:r>
                <a:r>
                  <a:rPr lang="en-SG" sz="2000" dirty="0">
                    <a:latin typeface="Work Sans Medium" pitchFamily="2" charset="0"/>
                    <a:cs typeface="Times New Roman" panose="02020603050405020304" pitchFamily="18" charset="0"/>
                  </a:rPr>
                  <a:t> dead time = </a:t>
                </a:r>
                <a14:m>
                  <m:oMath xmlns:m="http://schemas.openxmlformats.org/officeDocument/2006/math">
                    <m:r>
                      <a:rPr lang="en-SG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1.5 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𝜇</m:t>
                    </m:r>
                    <m:r>
                      <a:rPr lang="en-SG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SG" sz="2000" dirty="0">
                  <a:latin typeface="Work Sans Medium" pitchFamily="2" charset="0"/>
                  <a:cs typeface="Times New Roman" panose="02020603050405020304" pitchFamily="18" charset="0"/>
                </a:endParaRPr>
              </a:p>
              <a:p>
                <a:pPr algn="just"/>
                <a:endParaRPr lang="en-SG" sz="2000" dirty="0">
                  <a:latin typeface="Work Sans Medium" pitchFamily="2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303DED-F441-AFBE-9C67-A5CCF866A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6358" y="4925450"/>
                <a:ext cx="6871989" cy="1631216"/>
              </a:xfrm>
              <a:prstGeom prst="rect">
                <a:avLst/>
              </a:prstGeom>
              <a:blipFill>
                <a:blip r:embed="rId10"/>
                <a:stretch>
                  <a:fillRect l="-976" t="-2239" r="-88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0771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842D7FBC-28CF-7945-948F-B6A7441B48FD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IMPLEMENTASI SISTEM</a:t>
            </a:r>
            <a:endParaRPr sz="2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580C3E8-2EF3-B55B-BD14-58780BBD2A47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CF355D6-56B4-906B-F4BE-76C638B96F6B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7E125BC-A2D2-D2E8-349A-FC81D6BE4A99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60" name="Picture 59">
            <a:extLst>
              <a:ext uri="{FF2B5EF4-FFF2-40B4-BE49-F238E27FC236}">
                <a16:creationId xmlns:a16="http://schemas.microsoft.com/office/drawing/2014/main" id="{1975C266-72BB-6673-948C-BE83372914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5498" y="2177592"/>
            <a:ext cx="12657003" cy="70438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1CBBDE88-C3F1-BBB5-8414-EB949C0D1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2E291528-57AE-D4C5-FD38-AC3508E1CC6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7BB4BD6A-D59B-0CF2-7B26-45BBB4E76777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368D99B6-7E9D-FC05-5961-AB178B0F1C9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CF3723AC-B707-A660-CCCF-F1F0D7ACC469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IMPLEMENTASI SISTEM</a:t>
            </a:r>
            <a:endParaRPr sz="2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466F043-7281-42D2-3FE5-4D50D0D49CD8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0EE9A90-B528-B8EC-6331-E4B605C0355C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A0A9FB8-C499-C47C-C04C-E2D6A1FA28B9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60F551-33DB-4B24-3EBE-99B1CA25D616}"/>
              </a:ext>
            </a:extLst>
          </p:cNvPr>
          <p:cNvGrpSpPr/>
          <p:nvPr/>
        </p:nvGrpSpPr>
        <p:grpSpPr>
          <a:xfrm>
            <a:off x="3353400" y="2281186"/>
            <a:ext cx="12148538" cy="6426319"/>
            <a:chOff x="1296000" y="854597"/>
            <a:chExt cx="9599999" cy="5400000"/>
          </a:xfrm>
        </p:grpSpPr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C3436D2-35E5-1A71-5A9C-02D46008E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96000" y="854597"/>
              <a:ext cx="9599999" cy="5400000"/>
            </a:xfrm>
            <a:prstGeom prst="rect">
              <a:avLst/>
            </a:prstGeom>
          </p:spPr>
        </p:pic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371D419-6FE3-548A-A6B9-33636891E8F5}"/>
                </a:ext>
              </a:extLst>
            </p:cNvPr>
            <p:cNvGrpSpPr/>
            <p:nvPr/>
          </p:nvGrpSpPr>
          <p:grpSpPr>
            <a:xfrm flipV="1">
              <a:off x="2890855" y="1707739"/>
              <a:ext cx="643128" cy="235747"/>
              <a:chOff x="4531119" y="3800490"/>
              <a:chExt cx="643128" cy="235747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44A7EFB-FB4C-34CF-6136-0656930AEFF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1733" y="3800490"/>
                <a:ext cx="302514" cy="235747"/>
              </a:xfrm>
              <a:prstGeom prst="line">
                <a:avLst/>
              </a:prstGeom>
              <a:ln w="57150">
                <a:solidFill>
                  <a:srgbClr val="EE00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1811EB6E-2E9D-03CD-1141-E9709F9861A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19" y="3800490"/>
                <a:ext cx="340614" cy="0"/>
              </a:xfrm>
              <a:prstGeom prst="line">
                <a:avLst/>
              </a:prstGeom>
              <a:ln w="57150">
                <a:solidFill>
                  <a:srgbClr val="EE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141F6904-77D1-F5B3-0B08-C79F6FED8F55}"/>
                </a:ext>
              </a:extLst>
            </p:cNvPr>
            <p:cNvSpPr txBox="1"/>
            <p:nvPr/>
          </p:nvSpPr>
          <p:spPr>
            <a:xfrm>
              <a:off x="1497284" y="1789597"/>
              <a:ext cx="1431671" cy="284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6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Sensor </a:t>
              </a:r>
              <a:r>
                <a:rPr lang="en-SG" sz="1600" b="1" dirty="0" err="1">
                  <a:solidFill>
                    <a:schemeClr val="bg1"/>
                  </a:solidFill>
                  <a:cs typeface="Times New Roman" panose="02020603050405020304" pitchFamily="18" charset="0"/>
                </a:rPr>
                <a:t>Tekanan</a:t>
              </a:r>
              <a:endParaRPr lang="en-SG" sz="1600" b="1" dirty="0">
                <a:solidFill>
                  <a:schemeClr val="bg1"/>
                </a:solidFill>
                <a:cs typeface="Times New Roman" panose="02020603050405020304" pitchFamily="18" charset="0"/>
              </a:endParaRPr>
            </a:p>
          </p:txBody>
        </p: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48ED9FDF-17C4-C2A9-D3CC-13911A43742D}"/>
                </a:ext>
              </a:extLst>
            </p:cNvPr>
            <p:cNvGrpSpPr/>
            <p:nvPr/>
          </p:nvGrpSpPr>
          <p:grpSpPr>
            <a:xfrm flipH="1" flipV="1">
              <a:off x="3533983" y="3863294"/>
              <a:ext cx="643128" cy="235747"/>
              <a:chOff x="4531119" y="3800490"/>
              <a:chExt cx="643128" cy="235747"/>
            </a:xfrm>
          </p:grpSpPr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50467709-E4EE-C71E-E368-58DBAF290B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4871733" y="3800490"/>
                <a:ext cx="302514" cy="235747"/>
              </a:xfrm>
              <a:prstGeom prst="line">
                <a:avLst/>
              </a:prstGeom>
              <a:ln w="28575">
                <a:solidFill>
                  <a:srgbClr val="EE0000"/>
                </a:solidFill>
                <a:headEnd type="oval"/>
              </a:ln>
            </p:spPr>
            <p:style>
              <a:lnRef idx="2">
                <a:schemeClr val="accent4"/>
              </a:lnRef>
              <a:fillRef idx="0">
                <a:schemeClr val="accent4"/>
              </a:fillRef>
              <a:effectRef idx="1">
                <a:schemeClr val="accent4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1E6862-A4F7-D6E7-8777-3D35060CAE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531119" y="3800490"/>
                <a:ext cx="340614" cy="0"/>
              </a:xfrm>
              <a:prstGeom prst="line">
                <a:avLst/>
              </a:prstGeom>
              <a:ln w="28575">
                <a:solidFill>
                  <a:srgbClr val="EE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197BFF1-79E0-8F79-4155-ACACD963AB21}"/>
                </a:ext>
              </a:extLst>
            </p:cNvPr>
            <p:cNvSpPr txBox="1"/>
            <p:nvPr/>
          </p:nvSpPr>
          <p:spPr>
            <a:xfrm>
              <a:off x="4076866" y="3956798"/>
              <a:ext cx="1121146" cy="2844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SG" sz="1600" b="1" dirty="0">
                  <a:solidFill>
                    <a:schemeClr val="bg1"/>
                  </a:solidFill>
                  <a:cs typeface="Times New Roman" panose="02020603050405020304" pitchFamily="18" charset="0"/>
                </a:rPr>
                <a:t>Pompa Air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623525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6">
          <a:extLst>
            <a:ext uri="{FF2B5EF4-FFF2-40B4-BE49-F238E27FC236}">
              <a16:creationId xmlns:a16="http://schemas.microsoft.com/office/drawing/2014/main" id="{CC5769F8-56B5-4516-DD49-768E91341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7E67F160-076A-A890-B337-BE11A55FCBD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28EEBC08-F991-E5C8-3E99-04134698D620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741AC026-F98E-0CC7-5788-5C75676908D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46FE04F0-F224-C644-1F82-560A9C44D4A8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PERANCANGAN </a:t>
            </a:r>
            <a:r>
              <a:rPr lang="en-US" sz="2250" i="1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NEURAL NETWORK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42550CD-B5E8-5D07-A343-E3ABA01C69EC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B398378-8411-9A47-902D-470FCF0B0AF0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5E08774-FB16-4103-047B-6DEA7E203B8A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2E820A5E-EFAE-C6BF-A2D2-B59BC1363D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9874" y="5946633"/>
            <a:ext cx="3875196" cy="332257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B50525E-B782-9A55-5484-6EC223B45060}"/>
              </a:ext>
            </a:extLst>
          </p:cNvPr>
          <p:cNvSpPr txBox="1"/>
          <p:nvPr/>
        </p:nvSpPr>
        <p:spPr>
          <a:xfrm>
            <a:off x="13929981" y="5459802"/>
            <a:ext cx="405498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>
                <a:latin typeface="Work Sans Medium" pitchFamily="2" charset="0"/>
              </a:rPr>
              <a:t>Variabel</a:t>
            </a:r>
            <a:r>
              <a:rPr lang="en-SG" sz="2000" dirty="0">
                <a:latin typeface="Work Sans Medium" pitchFamily="2" charset="0"/>
              </a:rPr>
              <a:t> pada Dataset</a:t>
            </a:r>
            <a:endParaRPr lang="en-SG" sz="2000" i="1" dirty="0">
              <a:latin typeface="Work Sans Medium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3716BD1-C078-2AED-F39A-008D99CE0A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681" y="2549429"/>
            <a:ext cx="7472438" cy="565134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2A6B94D-681E-9280-258D-2615FE9167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1276" y="1739794"/>
            <a:ext cx="6748463" cy="784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7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ECE0FF94-5D30-27B4-CAF0-9FE2A149A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5" descr="preencoded.png">
            <a:extLst>
              <a:ext uri="{FF2B5EF4-FFF2-40B4-BE49-F238E27FC236}">
                <a16:creationId xmlns:a16="http://schemas.microsoft.com/office/drawing/2014/main" id="{AC97165F-9FB4-39DC-885B-F6FF952982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 descr="preencoded.png">
            <a:extLst>
              <a:ext uri="{FF2B5EF4-FFF2-40B4-BE49-F238E27FC236}">
                <a16:creationId xmlns:a16="http://schemas.microsoft.com/office/drawing/2014/main" id="{0CCC7E29-560E-7060-D02C-68F960CF39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639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 descr="preencoded.png">
            <a:extLst>
              <a:ext uri="{FF2B5EF4-FFF2-40B4-BE49-F238E27FC236}">
                <a16:creationId xmlns:a16="http://schemas.microsoft.com/office/drawing/2014/main" id="{9E874B5C-EC5E-A276-7DE9-040D4B178F2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8287999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 descr="preencoded.png">
            <a:extLst>
              <a:ext uri="{FF2B5EF4-FFF2-40B4-BE49-F238E27FC236}">
                <a16:creationId xmlns:a16="http://schemas.microsoft.com/office/drawing/2014/main" id="{BB7A1A01-05A2-D252-9729-CF79BAE730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714500"/>
            <a:ext cx="8696325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 descr="preencoded.png">
            <a:extLst>
              <a:ext uri="{FF2B5EF4-FFF2-40B4-BE49-F238E27FC236}">
                <a16:creationId xmlns:a16="http://schemas.microsoft.com/office/drawing/2014/main" id="{F9255714-F709-630F-1B23-B8F17140D66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4371975"/>
            <a:ext cx="13725525" cy="59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 descr="preencoded.png">
            <a:extLst>
              <a:ext uri="{FF2B5EF4-FFF2-40B4-BE49-F238E27FC236}">
                <a16:creationId xmlns:a16="http://schemas.microsoft.com/office/drawing/2014/main" id="{4C524854-1052-12F0-7A64-5512A9D6997F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227" y="7877175"/>
            <a:ext cx="665609" cy="66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descr="preencoded.png">
            <a:extLst>
              <a:ext uri="{FF2B5EF4-FFF2-40B4-BE49-F238E27FC236}">
                <a16:creationId xmlns:a16="http://schemas.microsoft.com/office/drawing/2014/main" id="{1015249B-B4FD-2C1A-94A7-597C01DBD43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89E1B72D-12BD-0811-2F67-61796E334A2F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5150DBE7-EBF8-428B-1E75-C5B20061B7F1}"/>
              </a:ext>
            </a:extLst>
          </p:cNvPr>
          <p:cNvSpPr/>
          <p:nvPr/>
        </p:nvSpPr>
        <p:spPr>
          <a:xfrm>
            <a:off x="7322342" y="3349210"/>
            <a:ext cx="3643313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453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7500"/>
              <a:buFont typeface="Work Sans ExtraBold"/>
              <a:buNone/>
            </a:pPr>
            <a:r>
              <a:rPr lang="en-US" sz="7500" dirty="0">
                <a:solidFill>
                  <a:srgbClr val="233D80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Calibri bold" panose="020F0702030404030204" pitchFamily="34" charset="0"/>
                <a:sym typeface="Work Sans ExtraBold"/>
              </a:rPr>
              <a:t>Bab IV</a:t>
            </a:r>
            <a:endParaRPr sz="7500" dirty="0">
              <a:solidFill>
                <a:schemeClr val="dk1"/>
              </a:solidFill>
              <a:latin typeface="Artifakt Element Black" panose="020B0A03050000020004" pitchFamily="34" charset="0"/>
              <a:ea typeface="Artifakt Element Black" panose="020B0A03050000020004" pitchFamily="34" charset="0"/>
              <a:cs typeface="Calibri bold" panose="020F0702030404030204" pitchFamily="34" charset="0"/>
              <a:sym typeface="Calibri"/>
            </a:endParaRPr>
          </a:p>
        </p:txBody>
      </p:sp>
      <p:pic>
        <p:nvPicPr>
          <p:cNvPr id="110" name="Google Shape;110;p5" title="Group 48098395.png">
            <a:extLst>
              <a:ext uri="{FF2B5EF4-FFF2-40B4-BE49-F238E27FC236}">
                <a16:creationId xmlns:a16="http://schemas.microsoft.com/office/drawing/2014/main" id="{E0BC1AF4-EF0E-95E3-C6CD-2F5719C298C2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D79D61-FD29-E745-545D-8C465650C0D8}"/>
              </a:ext>
            </a:extLst>
          </p:cNvPr>
          <p:cNvSpPr txBox="1"/>
          <p:nvPr/>
        </p:nvSpPr>
        <p:spPr>
          <a:xfrm>
            <a:off x="4321967" y="4525340"/>
            <a:ext cx="96440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6000" dirty="0">
                <a:solidFill>
                  <a:schemeClr val="bg2"/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HASIL DAN PEMBAHASAN</a:t>
            </a:r>
          </a:p>
        </p:txBody>
      </p:sp>
    </p:spTree>
    <p:extLst>
      <p:ext uri="{BB962C8B-B14F-4D97-AF65-F5344CB8AC3E}">
        <p14:creationId xmlns:p14="http://schemas.microsoft.com/office/powerpoint/2010/main" val="3226415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81F5CCC0-99CA-4C5B-691E-39054ED66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D952AA20-61A2-00F8-23F1-94441EAA51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D91C935D-1C01-FC17-33A0-64B3A2EF0E92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31352C97-D76E-6E40-3E88-738236C0828D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E5B192F4-EA0B-45A0-D884-38429B997E2F}"/>
              </a:ext>
            </a:extLst>
          </p:cNvPr>
          <p:cNvSpPr/>
          <p:nvPr/>
        </p:nvSpPr>
        <p:spPr>
          <a:xfrm>
            <a:off x="1689367" y="1218092"/>
            <a:ext cx="4768583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SINYAL PWM STM32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2A4819-EDA8-D4EE-B367-283013D5469F}"/>
              </a:ext>
            </a:extLst>
          </p:cNvPr>
          <p:cNvGrpSpPr/>
          <p:nvPr/>
        </p:nvGrpSpPr>
        <p:grpSpPr>
          <a:xfrm>
            <a:off x="-35242" y="1095625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A2BBFBA-1FB1-9BE2-9206-8EFDC5E04A83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9CE99DD-F4CC-FE3D-E6B5-335CE8C213CD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E830571B-15B2-D02D-281C-CE74B10903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7947" y="1791799"/>
            <a:ext cx="6433953" cy="38603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538060F-6ECD-6783-C270-467284E962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0921" y="5770015"/>
            <a:ext cx="6433953" cy="38603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B5938E-8A43-3F9D-6AAA-DAAA35408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8858" y="1699105"/>
            <a:ext cx="6288867" cy="338458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4CE6409F-41C7-7F98-200B-4B82E8492AAD}"/>
              </a:ext>
            </a:extLst>
          </p:cNvPr>
          <p:cNvSpPr txBox="1"/>
          <p:nvPr/>
        </p:nvSpPr>
        <p:spPr>
          <a:xfrm>
            <a:off x="8999895" y="1246596"/>
            <a:ext cx="914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>
                <a:latin typeface="Work Sans Medium" pitchFamily="2" charset="0"/>
              </a:rPr>
              <a:t>Hasil </a:t>
            </a:r>
            <a:r>
              <a:rPr lang="en-SG" sz="2000" dirty="0" err="1">
                <a:latin typeface="Work Sans Medium" pitchFamily="2" charset="0"/>
              </a:rPr>
              <a:t>Pengujian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i="1" dirty="0">
                <a:latin typeface="Work Sans Medium" pitchFamily="2" charset="0"/>
              </a:rPr>
              <a:t>Duty Cycle </a:t>
            </a:r>
            <a:r>
              <a:rPr lang="en-SG" sz="2000" dirty="0">
                <a:latin typeface="Work Sans Medium" pitchFamily="2" charset="0"/>
              </a:rPr>
              <a:t>pada STM32 PA8 dan PA7</a:t>
            </a:r>
            <a:endParaRPr lang="en-SG" sz="2000" i="1" dirty="0">
              <a:latin typeface="Work Sans Medium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206648-2DDD-B644-F67D-7C8B2D6C688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47074" y="5237136"/>
            <a:ext cx="6288866" cy="471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93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2948C5AB-EF41-145A-2A88-4C60579C0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74B335E6-DE8A-B121-565E-CC93F00FA4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85D4600F-76B8-2E26-311A-D4C954F35EC3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83A90149-B04E-C08A-0EC2-17FE4F9FE25A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FAED5DC9-B203-CEC5-AF3C-3DE7F0270D1A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</a:t>
            </a:r>
            <a:r>
              <a:rPr lang="en-US" sz="2250" i="1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DEAD TIME </a:t>
            </a: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PADA PWM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B306BB8-6CE2-03AE-560B-8F01F10DC8E6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8C514FC-6C3A-0377-60AB-728B525C2C3D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4F18D49-B4DA-F86F-0033-03782F1B6026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076447B-96E5-84D5-574D-90973348F2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2252607"/>
            <a:ext cx="8145275" cy="48871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3FFCC23-1887-8970-B931-85FEA66026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6971" y="7504367"/>
            <a:ext cx="9864407" cy="148609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D577F3D-92D6-F804-E923-487546A4AB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0" y="2252606"/>
            <a:ext cx="8145275" cy="488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80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E9A9CB1E-3B6B-DCD5-A31C-EF5D2BFB8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C00CAB85-2711-18D3-FB32-B709423F9EA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61E36DF8-D083-10F6-5C5F-875B11DAEA33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72F71A3B-E37A-D6EE-9B72-9C0A27B2A3F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54150334-4E45-F5E6-5F70-559EBF086313}"/>
              </a:ext>
            </a:extLst>
          </p:cNvPr>
          <p:cNvSpPr/>
          <p:nvPr/>
        </p:nvSpPr>
        <p:spPr>
          <a:xfrm>
            <a:off x="1762895" y="132295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SINYAL GATE DRIVER HCPL-3120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117310-7404-552B-A7C7-E3F993A6E22C}"/>
              </a:ext>
            </a:extLst>
          </p:cNvPr>
          <p:cNvGrpSpPr/>
          <p:nvPr/>
        </p:nvGrpSpPr>
        <p:grpSpPr>
          <a:xfrm>
            <a:off x="-6667" y="1197711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678415E7-DDF9-6D7C-F4B7-12D1D87DD2DB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D4C860-4766-3942-D5DA-346ADA267863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AB7B52E6-D968-6BBE-DBA8-260BABC5D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75" y="2262917"/>
            <a:ext cx="6091238" cy="36547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E5A87D-6325-2359-10E5-43FB9A357C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5998562"/>
            <a:ext cx="6091238" cy="365474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6A15FE7-5B5F-52BC-6A57-60219885B5C5}"/>
              </a:ext>
            </a:extLst>
          </p:cNvPr>
          <p:cNvSpPr txBox="1"/>
          <p:nvPr/>
        </p:nvSpPr>
        <p:spPr>
          <a:xfrm>
            <a:off x="1511617" y="1781905"/>
            <a:ext cx="288893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i="1" dirty="0">
                <a:latin typeface="Work Sans Medium" pitchFamily="2" charset="0"/>
              </a:rPr>
              <a:t>Duty cycle </a:t>
            </a:r>
            <a:r>
              <a:rPr lang="en-SG" sz="2000" dirty="0">
                <a:latin typeface="Work Sans Medium" pitchFamily="2" charset="0"/>
              </a:rPr>
              <a:t>85%</a:t>
            </a:r>
            <a:endParaRPr lang="en-SG" sz="2000" i="1" dirty="0">
              <a:latin typeface="Work Sans Medium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B13CBA8-5C22-1C85-05E6-500829BDC85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194" b="21355"/>
          <a:stretch>
            <a:fillRect/>
          </a:stretch>
        </p:blipFill>
        <p:spPr>
          <a:xfrm rot="16200000">
            <a:off x="10622938" y="1025117"/>
            <a:ext cx="3984376" cy="506106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B2F8F0-C859-CDD8-55BE-6807809C5775}"/>
              </a:ext>
            </a:extLst>
          </p:cNvPr>
          <p:cNvCxnSpPr>
            <a:cxnSpLocks/>
          </p:cNvCxnSpPr>
          <p:nvPr/>
        </p:nvCxnSpPr>
        <p:spPr>
          <a:xfrm flipV="1">
            <a:off x="13789729" y="2182015"/>
            <a:ext cx="413951" cy="539163"/>
          </a:xfrm>
          <a:prstGeom prst="line">
            <a:avLst/>
          </a:prstGeom>
          <a:ln w="76200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53CBB45-2F9C-4467-A64C-E47E0F036DD1}"/>
              </a:ext>
            </a:extLst>
          </p:cNvPr>
          <p:cNvCxnSpPr>
            <a:cxnSpLocks/>
          </p:cNvCxnSpPr>
          <p:nvPr/>
        </p:nvCxnSpPr>
        <p:spPr>
          <a:xfrm>
            <a:off x="14203680" y="2182015"/>
            <a:ext cx="1379220" cy="0"/>
          </a:xfrm>
          <a:prstGeom prst="line">
            <a:avLst/>
          </a:prstGeom>
          <a:ln w="76200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E4DA041-4E40-E53E-4BF9-4F56B91F1201}"/>
              </a:ext>
            </a:extLst>
          </p:cNvPr>
          <p:cNvCxnSpPr>
            <a:cxnSpLocks/>
          </p:cNvCxnSpPr>
          <p:nvPr/>
        </p:nvCxnSpPr>
        <p:spPr>
          <a:xfrm flipV="1">
            <a:off x="12631058" y="1712378"/>
            <a:ext cx="413951" cy="539163"/>
          </a:xfrm>
          <a:prstGeom prst="line">
            <a:avLst/>
          </a:prstGeom>
          <a:ln w="76200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818CC06-265A-F1B6-B11C-3B8CEF9F113E}"/>
              </a:ext>
            </a:extLst>
          </p:cNvPr>
          <p:cNvCxnSpPr>
            <a:cxnSpLocks/>
          </p:cNvCxnSpPr>
          <p:nvPr/>
        </p:nvCxnSpPr>
        <p:spPr>
          <a:xfrm>
            <a:off x="13045009" y="1711899"/>
            <a:ext cx="1379220" cy="0"/>
          </a:xfrm>
          <a:prstGeom prst="line">
            <a:avLst/>
          </a:prstGeom>
          <a:ln w="76200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CB3158-FE90-0912-E950-06F44C7B799C}"/>
              </a:ext>
            </a:extLst>
          </p:cNvPr>
          <p:cNvCxnSpPr>
            <a:cxnSpLocks/>
          </p:cNvCxnSpPr>
          <p:nvPr/>
        </p:nvCxnSpPr>
        <p:spPr>
          <a:xfrm flipH="1" flipV="1">
            <a:off x="10788550" y="2164396"/>
            <a:ext cx="413951" cy="539163"/>
          </a:xfrm>
          <a:prstGeom prst="line">
            <a:avLst/>
          </a:prstGeom>
          <a:ln w="76200">
            <a:solidFill>
              <a:srgbClr val="EE0000"/>
            </a:solidFill>
            <a:headEnd type="oval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07D60EA-3F01-ECFA-6913-1ABFE829CAF9}"/>
              </a:ext>
            </a:extLst>
          </p:cNvPr>
          <p:cNvCxnSpPr>
            <a:cxnSpLocks/>
          </p:cNvCxnSpPr>
          <p:nvPr/>
        </p:nvCxnSpPr>
        <p:spPr>
          <a:xfrm>
            <a:off x="9437189" y="2171794"/>
            <a:ext cx="1379220" cy="0"/>
          </a:xfrm>
          <a:prstGeom prst="line">
            <a:avLst/>
          </a:prstGeom>
          <a:ln w="76200">
            <a:solidFill>
              <a:srgbClr val="EE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C5DC02D9-07C0-E290-03CC-E9099632FB51}"/>
              </a:ext>
            </a:extLst>
          </p:cNvPr>
          <p:cNvSpPr txBox="1"/>
          <p:nvPr/>
        </p:nvSpPr>
        <p:spPr>
          <a:xfrm>
            <a:off x="15632237" y="2003724"/>
            <a:ext cx="2709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/>
              <a:t>PSU 220VAC -12VDC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56D856-3603-C71F-EDA1-614AF47E219C}"/>
              </a:ext>
            </a:extLst>
          </p:cNvPr>
          <p:cNvSpPr txBox="1"/>
          <p:nvPr/>
        </p:nvSpPr>
        <p:spPr>
          <a:xfrm>
            <a:off x="14203680" y="1193169"/>
            <a:ext cx="3983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/>
              <a:t>Isolated DC-DC 12VDC-5VDC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416298D-FC6B-B327-FFCA-534E6FD16274}"/>
              </a:ext>
            </a:extLst>
          </p:cNvPr>
          <p:cNvSpPr txBox="1"/>
          <p:nvPr/>
        </p:nvSpPr>
        <p:spPr>
          <a:xfrm>
            <a:off x="8208526" y="1746968"/>
            <a:ext cx="1692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b="1" dirty="0"/>
              <a:t>HCPL-3120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F74BC69-01F3-3725-FADF-38351BAE84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84594" y="5788342"/>
            <a:ext cx="5029200" cy="37719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3B310340-5C7C-56CB-A5B8-8246A45CCB29}"/>
              </a:ext>
            </a:extLst>
          </p:cNvPr>
          <p:cNvSpPr txBox="1"/>
          <p:nvPr/>
        </p:nvSpPr>
        <p:spPr>
          <a:xfrm>
            <a:off x="10176317" y="9669780"/>
            <a:ext cx="5455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800" i="1" dirty="0" err="1"/>
              <a:t>Pengujian</a:t>
            </a:r>
            <a:r>
              <a:rPr lang="en-SG" sz="1800" i="1" dirty="0"/>
              <a:t> </a:t>
            </a:r>
            <a:r>
              <a:rPr lang="en-SG" sz="1800" i="1" dirty="0" err="1"/>
              <a:t>Pengambilan</a:t>
            </a:r>
            <a:r>
              <a:rPr lang="en-SG" sz="1800" i="1" dirty="0"/>
              <a:t> Data PWM Gate Driver</a:t>
            </a:r>
          </a:p>
        </p:txBody>
      </p:sp>
    </p:spTree>
    <p:extLst>
      <p:ext uri="{BB962C8B-B14F-4D97-AF65-F5344CB8AC3E}">
        <p14:creationId xmlns:p14="http://schemas.microsoft.com/office/powerpoint/2010/main" val="15993171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CD6156FA-5289-C9A2-6A30-F47D0F158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9A46BDCE-E3D4-60DA-BAB1-A23CA81E750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42367EDB-36DA-CF6E-E94F-1653E48FA587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E2C9EC1F-2C0B-E7BB-EA84-583AC706D95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070CAE08-1EDA-E3F0-EEED-84B828C5989C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RANGKAIAN PWM AC CHOPPER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45DC15-208A-B0C3-E21D-623DEAB26C09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C1C7FED-3D04-D5AF-6091-A4507492800F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B5826BA-6392-2445-A25B-84664AA56D76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C00A927-44C1-B3F6-7F2D-ED0828364FF9}"/>
              </a:ext>
            </a:extLst>
          </p:cNvPr>
          <p:cNvSpPr txBox="1"/>
          <p:nvPr/>
        </p:nvSpPr>
        <p:spPr>
          <a:xfrm>
            <a:off x="418324" y="2257423"/>
            <a:ext cx="4829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Pada Beban </a:t>
            </a:r>
            <a:r>
              <a:rPr lang="en-SG" sz="2000" b="1" dirty="0" err="1"/>
              <a:t>Lampu</a:t>
            </a:r>
            <a:r>
              <a:rPr lang="en-SG" sz="2000" b="1" dirty="0"/>
              <a:t> 10 Watt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26FBF35-89E7-4A47-7373-863DD5E990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324" y="2844108"/>
            <a:ext cx="10221940" cy="5524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2EA09C-87EF-CFCF-C3ED-A888654FDF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259" y="1830341"/>
            <a:ext cx="7142224" cy="40038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055B354-19E0-79B0-B1F2-4F186118A8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59259" y="5985423"/>
            <a:ext cx="7142224" cy="398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68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8286AF20-65E6-580C-4AB8-326024EC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A8ADDF78-3A7F-42BD-5B26-5C4DFDA34E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CFFCCCD8-E5CB-F155-884E-E98B685ADC7B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25F5D407-338C-E089-F62D-92659BD9F86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DE20FDBE-AD93-8982-B646-077D3D750BFA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RANGKAIAN PWM AC CHOPPER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84134AD-9CA8-BBFD-4B6E-036C56A830DD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7D7F870-38B2-1BA2-0EB7-1C46CD7D50C7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E9B66E7-3E87-DDAB-AC79-97B7093D0C52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125A383-4283-9A95-9528-007646D100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7933" y="2855938"/>
            <a:ext cx="7856921" cy="256950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73BD6B0-3415-4F3E-98E7-5CEE38491B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809" y="2515720"/>
            <a:ext cx="9952124" cy="60818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505F21D-9320-A8E3-C8A8-AE987016A43E}"/>
              </a:ext>
            </a:extLst>
          </p:cNvPr>
          <p:cNvSpPr txBox="1"/>
          <p:nvPr/>
        </p:nvSpPr>
        <p:spPr>
          <a:xfrm>
            <a:off x="302696" y="2183155"/>
            <a:ext cx="48291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2000" b="1" dirty="0"/>
              <a:t>Pada Beban Pompa Air 200 Watt</a:t>
            </a:r>
          </a:p>
        </p:txBody>
      </p:sp>
    </p:spTree>
    <p:extLst>
      <p:ext uri="{BB962C8B-B14F-4D97-AF65-F5344CB8AC3E}">
        <p14:creationId xmlns:p14="http://schemas.microsoft.com/office/powerpoint/2010/main" val="1914572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9D5A960D-4CAB-4144-5441-E9E8CD58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39096A15-2916-AE45-A703-AAE482FC592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BC135FD9-6B09-473F-D5C8-D86622B7488B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2E877A2C-752B-3C2C-F7F9-2E8CE5944E7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861DFDE6-9C3B-38C3-E2B2-595A36DAB876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PERBANDINGAN HASIL IMPLEMENTASI DAN SIMULASI</a:t>
            </a:r>
            <a:endParaRPr sz="2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A680CEF-05F3-4A71-752C-1CC31926B7A5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BB7DB28-48A7-8F6A-5E90-4E31573FF496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42012B6-2F67-2FE7-F68D-732FCEB4AED5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AA51DB45-F8D4-4B3F-B03E-CFCE205A2D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515720"/>
            <a:ext cx="8849252" cy="55948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1F2041-D27D-5DC7-F14B-C111F57761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9252" y="2634784"/>
            <a:ext cx="9486101" cy="606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4348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51E8BCB1-BD6C-FCC4-8B0C-480C4A846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E2F75092-0FFC-A2FD-1420-E25ED97AF6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C91DB690-1322-4599-5AD0-E833151E2C59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73D8DE5A-F6D5-C8B8-11C9-87513B51B80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303D1E3D-7795-3A2E-C41C-8C2989A4F51A}"/>
              </a:ext>
            </a:extLst>
          </p:cNvPr>
          <p:cNvSpPr/>
          <p:nvPr/>
        </p:nvSpPr>
        <p:spPr>
          <a:xfrm>
            <a:off x="1705745" y="1589835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TEKANAN POMPA AIR DALAM KONDISI OPEN-LOOP</a:t>
            </a:r>
            <a:endParaRPr sz="225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EEC146A-7CFC-6863-9E4A-9FCB8E602EFA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C4F9488-A3AE-7052-B363-4E9BFB52D4AC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259355B-EED7-E7DD-D705-29E7693FD14B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480D565D-2E4E-8809-0A5C-A9E461B796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9538"/>
          <a:stretch>
            <a:fillRect/>
          </a:stretch>
        </p:blipFill>
        <p:spPr>
          <a:xfrm>
            <a:off x="2128168" y="2099843"/>
            <a:ext cx="12902283" cy="7765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8FB1BA8-F24E-C8D4-E9CA-4AFCA989A2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700" y="2356131"/>
            <a:ext cx="6372226" cy="176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951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5AA64FE3-697D-D197-4E1A-62A3D3F1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B0F12BA0-CED0-1FBF-1E39-71A9E0D10B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4E1C2D6F-7CEC-8701-833C-D75AC92855D6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F9E0F8FB-9101-8926-C69D-955C2432ABF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3D7EADC9-144D-0EA9-4C41-CFC990B0D0EE}"/>
              </a:ext>
            </a:extLst>
          </p:cNvPr>
          <p:cNvSpPr/>
          <p:nvPr/>
        </p:nvSpPr>
        <p:spPr>
          <a:xfrm>
            <a:off x="1705745" y="1329522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MODEL </a:t>
            </a:r>
            <a:r>
              <a:rPr lang="en-US" sz="2250" i="1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NEURAL NETWORK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8E0A8CD-5546-7EA8-1473-1FD1FBCFF7AD}"/>
              </a:ext>
            </a:extLst>
          </p:cNvPr>
          <p:cNvGrpSpPr/>
          <p:nvPr/>
        </p:nvGrpSpPr>
        <p:grpSpPr>
          <a:xfrm>
            <a:off x="-6667" y="1201363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03F6DC-B90B-F3DF-8D4F-040FDD20D5BF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F2B34BD-290F-3174-F552-EEF3BB5DF57B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5B4EA15D-6A03-2657-134D-D756356007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48" y="2415616"/>
            <a:ext cx="6178278" cy="42568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F7D8C75-7EBA-48F3-D595-7A620463038B}"/>
              </a:ext>
            </a:extLst>
          </p:cNvPr>
          <p:cNvSpPr txBox="1"/>
          <p:nvPr/>
        </p:nvSpPr>
        <p:spPr>
          <a:xfrm>
            <a:off x="452649" y="1978995"/>
            <a:ext cx="346366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>
                <a:latin typeface="Work Sans Medium" pitchFamily="2" charset="0"/>
              </a:rPr>
              <a:t>Komposisi</a:t>
            </a:r>
            <a:r>
              <a:rPr lang="en-SG" sz="2000" dirty="0">
                <a:latin typeface="Work Sans Medium" pitchFamily="2" charset="0"/>
              </a:rPr>
              <a:t> Dataset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E39692-CFE3-4412-E028-E63E73B192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48" y="7277552"/>
            <a:ext cx="4890876" cy="191188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A378D7-691D-6773-7526-FDD31B15C42F}"/>
              </a:ext>
            </a:extLst>
          </p:cNvPr>
          <p:cNvSpPr txBox="1"/>
          <p:nvPr/>
        </p:nvSpPr>
        <p:spPr>
          <a:xfrm>
            <a:off x="452648" y="6776355"/>
            <a:ext cx="427651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>
                <a:latin typeface="Work Sans Medium" pitchFamily="2" charset="0"/>
              </a:rPr>
              <a:t>Rentang</a:t>
            </a:r>
            <a:r>
              <a:rPr lang="en-SG" sz="2000" dirty="0">
                <a:latin typeface="Work Sans Medium" pitchFamily="2" charset="0"/>
              </a:rPr>
              <a:t> Nilai pada Fitur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7B983CE-B786-D1C2-CCE6-F58211F6D0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5075" y="2441287"/>
            <a:ext cx="5070323" cy="370678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DC4AB7E-D80F-6D67-5CC1-871C0ABD1637}"/>
              </a:ext>
            </a:extLst>
          </p:cNvPr>
          <p:cNvSpPr txBox="1"/>
          <p:nvPr/>
        </p:nvSpPr>
        <p:spPr>
          <a:xfrm>
            <a:off x="7186827" y="2004666"/>
            <a:ext cx="4470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>
                <a:latin typeface="Work Sans Medium" pitchFamily="2" charset="0"/>
              </a:rPr>
              <a:t>Parameter </a:t>
            </a:r>
            <a:r>
              <a:rPr lang="en-SG" sz="2000" dirty="0" err="1">
                <a:latin typeface="Work Sans Medium" pitchFamily="2" charset="0"/>
              </a:rPr>
              <a:t>Pelatihan</a:t>
            </a:r>
            <a:r>
              <a:rPr lang="en-SG" sz="2000" dirty="0">
                <a:latin typeface="Work Sans Medium" pitchFamily="2" charset="0"/>
              </a:rPr>
              <a:t> Model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E1BE9C6-11FD-E72C-7CEA-D226BEFB1B64}"/>
              </a:ext>
            </a:extLst>
          </p:cNvPr>
          <p:cNvSpPr txBox="1"/>
          <p:nvPr/>
        </p:nvSpPr>
        <p:spPr>
          <a:xfrm>
            <a:off x="12737622" y="1810535"/>
            <a:ext cx="44702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SG" sz="2000" dirty="0" err="1">
                <a:latin typeface="Work Sans Medium" pitchFamily="2" charset="0"/>
              </a:rPr>
              <a:t>Evaluasi</a:t>
            </a:r>
            <a:r>
              <a:rPr lang="en-SG" sz="2000" dirty="0">
                <a:latin typeface="Work Sans Medium" pitchFamily="2" charset="0"/>
              </a:rPr>
              <a:t> </a:t>
            </a:r>
            <a:r>
              <a:rPr lang="en-SG" sz="2000" dirty="0" err="1">
                <a:latin typeface="Work Sans Medium" pitchFamily="2" charset="0"/>
              </a:rPr>
              <a:t>performa</a:t>
            </a:r>
            <a:r>
              <a:rPr lang="en-SG" sz="2000" dirty="0">
                <a:latin typeface="Work Sans Medium" pitchFamily="2" charset="0"/>
              </a:rPr>
              <a:t> Model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2743C7-A6E3-B07D-62F9-4BDB35DB2EF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737622" y="2221453"/>
            <a:ext cx="4778853" cy="5056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035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1E017AA2-019B-ACF1-3185-8BD115F18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A07DC90E-22E8-1FEB-C14E-D26562FD7C6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898F9EA3-9ADD-90D6-881E-C9A63D8B2F2D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F49BDE0A-DDFD-D064-9FD5-4857A2E3C18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34DB260C-34C6-6BDE-381E-A2869E5F12EF}"/>
              </a:ext>
            </a:extLst>
          </p:cNvPr>
          <p:cNvSpPr/>
          <p:nvPr/>
        </p:nvSpPr>
        <p:spPr>
          <a:xfrm>
            <a:off x="1705745" y="1422543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 Medium"/>
              <a:buNone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RESPON TEKANAN KERAN POMPA AIR </a:t>
            </a:r>
            <a:endParaRPr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B2C0A3F-9C43-11CB-C003-2E1C6C89C881}"/>
              </a:ext>
            </a:extLst>
          </p:cNvPr>
          <p:cNvGrpSpPr/>
          <p:nvPr/>
        </p:nvGrpSpPr>
        <p:grpSpPr>
          <a:xfrm>
            <a:off x="-6667" y="1311227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CB66322-6E89-0FD6-ED56-B70241F560D8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D05B4E0-6C64-F87D-01F7-73C68E20056A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34982B78-EAB1-0F7B-B873-0126BA26D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2656" y="7123302"/>
            <a:ext cx="7972869" cy="25636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53D4B65-DC4E-AB1B-01A3-92BAF1C4EE5B}"/>
              </a:ext>
            </a:extLst>
          </p:cNvPr>
          <p:cNvSpPr txBox="1"/>
          <p:nvPr/>
        </p:nvSpPr>
        <p:spPr>
          <a:xfrm>
            <a:off x="194398" y="2219241"/>
            <a:ext cx="86344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2000" b="1" i="1" dirty="0" err="1"/>
              <a:t>Respons</a:t>
            </a:r>
            <a:r>
              <a:rPr lang="en-SG" sz="2000" b="1" i="1" dirty="0"/>
              <a:t> </a:t>
            </a:r>
            <a:r>
              <a:rPr lang="en-SG" sz="2000" b="1" i="1" dirty="0" err="1"/>
              <a:t>kontroler</a:t>
            </a:r>
            <a:r>
              <a:rPr lang="en-SG" sz="2000" b="1" i="1" dirty="0"/>
              <a:t> NN </a:t>
            </a:r>
            <a:r>
              <a:rPr lang="en-SG" sz="2000" b="1" i="1" dirty="0" err="1"/>
              <a:t>saat</a:t>
            </a:r>
            <a:r>
              <a:rPr lang="en-SG" sz="2000" b="1" i="1" dirty="0"/>
              <a:t> </a:t>
            </a:r>
            <a:r>
              <a:rPr lang="en-SG" sz="2000" b="1" i="1" dirty="0" err="1"/>
              <a:t>jumlah</a:t>
            </a:r>
            <a:r>
              <a:rPr lang="en-SG" sz="2000" b="1" i="1" dirty="0"/>
              <a:t> </a:t>
            </a:r>
            <a:r>
              <a:rPr lang="en-SG" sz="2000" b="1" i="1" dirty="0" err="1"/>
              <a:t>keran</a:t>
            </a:r>
            <a:r>
              <a:rPr lang="en-SG" sz="2000" b="1" i="1" dirty="0"/>
              <a:t> 0–4, setpoint </a:t>
            </a:r>
            <a:r>
              <a:rPr lang="en-SG" sz="2000" b="1" i="1" dirty="0" err="1"/>
              <a:t>tetap</a:t>
            </a:r>
            <a:r>
              <a:rPr lang="en-SG" sz="2000" b="1" i="1" dirty="0"/>
              <a:t> 0,30 bar</a:t>
            </a:r>
            <a:endParaRPr lang="en-SG" sz="20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8165EE4-B754-43C7-AE7F-036EA76F7E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536" y="2977834"/>
            <a:ext cx="8522225" cy="53172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691959-EDD6-2DDA-0D48-261F148E5A0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811" y="1144963"/>
            <a:ext cx="9343593" cy="5650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3526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A3F1644E-30EC-29FF-E8FA-9970775EB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4FD78C33-46DE-A8FE-8A2F-B78E62A49D3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DC9558FE-9EE8-914B-D135-D0C5C82AE057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9ACF024F-6870-6E35-E534-A3B34793AEC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8C876AF8-D541-B2B6-4DD7-6887B2A92E11}"/>
              </a:ext>
            </a:extLst>
          </p:cNvPr>
          <p:cNvSpPr/>
          <p:nvPr/>
        </p:nvSpPr>
        <p:spPr>
          <a:xfrm>
            <a:off x="1713765" y="1249829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99155"/>
              </a:lnSpc>
              <a:buClr>
                <a:srgbClr val="233D80"/>
              </a:buClr>
              <a:buSzPts val="2250"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RESPON TEKANAN KERAN</a:t>
            </a:r>
            <a:endParaRPr lang="en-US"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1B454D-E40A-9AE7-B886-BBF77F3F4E6C}"/>
              </a:ext>
            </a:extLst>
          </p:cNvPr>
          <p:cNvGrpSpPr/>
          <p:nvPr/>
        </p:nvGrpSpPr>
        <p:grpSpPr>
          <a:xfrm>
            <a:off x="0" y="1100278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4AB9475-1BB2-B1DE-7393-3A76D5F6C5F6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DC3E200-7D6D-3E7A-E6DE-B83615C95D2A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86C11C2-93A2-76CB-72C1-8A9F6EC11CAB}"/>
              </a:ext>
            </a:extLst>
          </p:cNvPr>
          <p:cNvSpPr txBox="1"/>
          <p:nvPr/>
        </p:nvSpPr>
        <p:spPr>
          <a:xfrm>
            <a:off x="5699519" y="1651042"/>
            <a:ext cx="6888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800" i="1" dirty="0" err="1"/>
              <a:t>Respons</a:t>
            </a:r>
            <a:r>
              <a:rPr lang="en-SG" sz="1800" i="1" dirty="0"/>
              <a:t> </a:t>
            </a:r>
            <a:r>
              <a:rPr lang="en-SG" sz="1800" i="1" dirty="0" err="1"/>
              <a:t>Tekanan</a:t>
            </a:r>
            <a:r>
              <a:rPr lang="en-SG" sz="1800" i="1" dirty="0"/>
              <a:t> Pompa Air </a:t>
            </a:r>
            <a:r>
              <a:rPr lang="en-SG" sz="1800" i="1" dirty="0" err="1"/>
              <a:t>terhadap</a:t>
            </a:r>
            <a:r>
              <a:rPr lang="en-SG" sz="1800" i="1" dirty="0"/>
              <a:t> </a:t>
            </a:r>
            <a:r>
              <a:rPr lang="en-SG" sz="1800" i="1" dirty="0" err="1"/>
              <a:t>Perubahan</a:t>
            </a:r>
            <a:r>
              <a:rPr lang="en-SG" sz="1800" i="1" dirty="0"/>
              <a:t> Setpoint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AEBF6EA-3286-0E56-0F7A-457A648434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7250" y="2416992"/>
            <a:ext cx="10594729" cy="5916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3370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658E4D8A-AF0F-4360-F6EF-7942CACB1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046902DD-F1EE-3D80-292A-D781DED858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0DF4E740-B4C5-B4A3-FDAF-C8249F3E5F76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6BFED945-A21C-A233-4404-AA3530BAAB90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A4E5147A-4D61-810F-E79D-064C3AE28360}"/>
              </a:ext>
            </a:extLst>
          </p:cNvPr>
          <p:cNvSpPr/>
          <p:nvPr/>
        </p:nvSpPr>
        <p:spPr>
          <a:xfrm>
            <a:off x="1713765" y="1249829"/>
            <a:ext cx="905351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99155"/>
              </a:lnSpc>
              <a:buClr>
                <a:srgbClr val="233D80"/>
              </a:buClr>
              <a:buSzPts val="2250"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PENGUJIAN RESPON TEKANAN KERAN</a:t>
            </a:r>
            <a:endParaRPr lang="en-US"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FEABB86-EAE4-A0E5-AAA9-58D2E389ABA7}"/>
              </a:ext>
            </a:extLst>
          </p:cNvPr>
          <p:cNvGrpSpPr/>
          <p:nvPr/>
        </p:nvGrpSpPr>
        <p:grpSpPr>
          <a:xfrm>
            <a:off x="0" y="1100278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1AAF74-0494-0083-98BA-D1F28768F5C8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BAF1A7D-C849-C0F9-8924-3E1DE88F6B48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55CC9A1-441A-67DA-EF6B-EA8CF04432F0}"/>
              </a:ext>
            </a:extLst>
          </p:cNvPr>
          <p:cNvSpPr txBox="1"/>
          <p:nvPr/>
        </p:nvSpPr>
        <p:spPr>
          <a:xfrm>
            <a:off x="4804210" y="1929576"/>
            <a:ext cx="867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800" i="1" dirty="0"/>
              <a:t>Keran </a:t>
            </a:r>
            <a:r>
              <a:rPr lang="en-SG" sz="1800" i="1" dirty="0" err="1"/>
              <a:t>dibuka</a:t>
            </a:r>
            <a:r>
              <a:rPr lang="en-SG" sz="1800" i="1" dirty="0"/>
              <a:t>/</a:t>
            </a:r>
            <a:r>
              <a:rPr lang="en-SG" sz="1800" i="1" dirty="0" err="1"/>
              <a:t>tutup</a:t>
            </a:r>
            <a:r>
              <a:rPr lang="en-SG" sz="1800" i="1" dirty="0"/>
              <a:t> </a:t>
            </a:r>
            <a:r>
              <a:rPr lang="en-SG" sz="1800" i="1" dirty="0" err="1"/>
              <a:t>mendadak</a:t>
            </a:r>
            <a:r>
              <a:rPr lang="en-SG" sz="1800" i="1" dirty="0"/>
              <a:t> </a:t>
            </a:r>
            <a:r>
              <a:rPr lang="en-SG" sz="1800" i="1" dirty="0" err="1"/>
              <a:t>saat</a:t>
            </a:r>
            <a:r>
              <a:rPr lang="en-SG" sz="1800" i="1" dirty="0"/>
              <a:t> </a:t>
            </a:r>
            <a:r>
              <a:rPr lang="en-SG" sz="1800" i="1" dirty="0" err="1"/>
              <a:t>sistem</a:t>
            </a:r>
            <a:r>
              <a:rPr lang="en-SG" sz="1800" i="1" dirty="0"/>
              <a:t> </a:t>
            </a:r>
            <a:r>
              <a:rPr lang="en-SG" sz="1800" i="1" dirty="0" err="1"/>
              <a:t>sedang</a:t>
            </a:r>
            <a:r>
              <a:rPr lang="en-SG" sz="1800" i="1" dirty="0"/>
              <a:t> </a:t>
            </a:r>
            <a:r>
              <a:rPr lang="en-SG" sz="1800" i="1" dirty="0" err="1"/>
              <a:t>berjalan</a:t>
            </a:r>
            <a:r>
              <a:rPr lang="en-SG" sz="1800" i="1" dirty="0"/>
              <a:t>, uji </a:t>
            </a:r>
            <a:r>
              <a:rPr lang="en-SG" sz="1800" i="1" dirty="0" err="1"/>
              <a:t>ketahanan</a:t>
            </a:r>
            <a:r>
              <a:rPr lang="en-SG" sz="1800" i="1" dirty="0"/>
              <a:t> </a:t>
            </a:r>
            <a:r>
              <a:rPr lang="en-SG" sz="1800" i="1" dirty="0" err="1"/>
              <a:t>kendali</a:t>
            </a:r>
            <a:endParaRPr lang="en-SG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D6098-395A-FB48-1759-F8F36418BE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8116" y="2506034"/>
            <a:ext cx="10411768" cy="637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1355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13D14A4C-E273-0E98-3CEE-44239B550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5" descr="preencoded.png">
            <a:extLst>
              <a:ext uri="{FF2B5EF4-FFF2-40B4-BE49-F238E27FC236}">
                <a16:creationId xmlns:a16="http://schemas.microsoft.com/office/drawing/2014/main" id="{7CFE013D-AC27-FC50-367D-5CD4AC6A55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5" descr="preencoded.png">
            <a:extLst>
              <a:ext uri="{FF2B5EF4-FFF2-40B4-BE49-F238E27FC236}">
                <a16:creationId xmlns:a16="http://schemas.microsoft.com/office/drawing/2014/main" id="{2C0FB0D9-8B1E-E0C0-1DE6-0DE56DE3C2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8288000" cy="6398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5" descr="preencoded.png">
            <a:extLst>
              <a:ext uri="{FF2B5EF4-FFF2-40B4-BE49-F238E27FC236}">
                <a16:creationId xmlns:a16="http://schemas.microsoft.com/office/drawing/2014/main" id="{7CBF590B-EC9C-C991-70AE-D7914F38E0A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8287999" cy="1028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5" descr="preencoded.png">
            <a:extLst>
              <a:ext uri="{FF2B5EF4-FFF2-40B4-BE49-F238E27FC236}">
                <a16:creationId xmlns:a16="http://schemas.microsoft.com/office/drawing/2014/main" id="{20042814-C2CC-D767-69CD-B9BC57021175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714500"/>
            <a:ext cx="8696325" cy="857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5" descr="preencoded.png">
            <a:extLst>
              <a:ext uri="{FF2B5EF4-FFF2-40B4-BE49-F238E27FC236}">
                <a16:creationId xmlns:a16="http://schemas.microsoft.com/office/drawing/2014/main" id="{4E9D0A4F-AB23-58AD-7C16-AAEC9F7009B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4371975"/>
            <a:ext cx="13725525" cy="591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5" descr="preencoded.png">
            <a:extLst>
              <a:ext uri="{FF2B5EF4-FFF2-40B4-BE49-F238E27FC236}">
                <a16:creationId xmlns:a16="http://schemas.microsoft.com/office/drawing/2014/main" id="{E0C8EC64-9ECF-28BC-0094-43FB6C7B830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29227" y="7877175"/>
            <a:ext cx="665609" cy="665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5" descr="preencoded.png">
            <a:extLst>
              <a:ext uri="{FF2B5EF4-FFF2-40B4-BE49-F238E27FC236}">
                <a16:creationId xmlns:a16="http://schemas.microsoft.com/office/drawing/2014/main" id="{69D4418F-A863-7B87-B62E-747A634550F4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>
            <a:extLst>
              <a:ext uri="{FF2B5EF4-FFF2-40B4-BE49-F238E27FC236}">
                <a16:creationId xmlns:a16="http://schemas.microsoft.com/office/drawing/2014/main" id="{E120D81F-77BA-E8B6-7E41-C59A97476111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>
            <a:extLst>
              <a:ext uri="{FF2B5EF4-FFF2-40B4-BE49-F238E27FC236}">
                <a16:creationId xmlns:a16="http://schemas.microsoft.com/office/drawing/2014/main" id="{6A336319-6EF4-8F2D-E06A-3450CA1D1F0C}"/>
              </a:ext>
            </a:extLst>
          </p:cNvPr>
          <p:cNvSpPr/>
          <p:nvPr/>
        </p:nvSpPr>
        <p:spPr>
          <a:xfrm>
            <a:off x="7322342" y="3349210"/>
            <a:ext cx="3643313" cy="1114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9453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7500"/>
              <a:buFont typeface="Work Sans ExtraBold"/>
              <a:buNone/>
            </a:pPr>
            <a:r>
              <a:rPr lang="en-US" sz="7500" dirty="0">
                <a:solidFill>
                  <a:srgbClr val="233D80"/>
                </a:solidFill>
                <a:latin typeface="Artifakt Element Black" panose="020B0A03050000020004" pitchFamily="34" charset="0"/>
                <a:ea typeface="Artifakt Element Black" panose="020B0A03050000020004" pitchFamily="34" charset="0"/>
                <a:cs typeface="Calibri bold" panose="020F0702030404030204" pitchFamily="34" charset="0"/>
                <a:sym typeface="Work Sans ExtraBold"/>
              </a:rPr>
              <a:t>Bab V</a:t>
            </a:r>
            <a:endParaRPr sz="7500" dirty="0">
              <a:solidFill>
                <a:schemeClr val="dk1"/>
              </a:solidFill>
              <a:latin typeface="Artifakt Element Black" panose="020B0A03050000020004" pitchFamily="34" charset="0"/>
              <a:ea typeface="Artifakt Element Black" panose="020B0A03050000020004" pitchFamily="34" charset="0"/>
              <a:cs typeface="Calibri bold" panose="020F0702030404030204" pitchFamily="34" charset="0"/>
              <a:sym typeface="Calibri"/>
            </a:endParaRPr>
          </a:p>
        </p:txBody>
      </p:sp>
      <p:pic>
        <p:nvPicPr>
          <p:cNvPr id="110" name="Google Shape;110;p5" title="Group 48098395.png">
            <a:extLst>
              <a:ext uri="{FF2B5EF4-FFF2-40B4-BE49-F238E27FC236}">
                <a16:creationId xmlns:a16="http://schemas.microsoft.com/office/drawing/2014/main" id="{61E8EF9F-3DD7-BA7F-04A2-69FB8F6048EF}"/>
              </a:ext>
            </a:extLst>
          </p:cNvPr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ED63F6-BAEE-6256-21D0-E6C5169DA2DA}"/>
              </a:ext>
            </a:extLst>
          </p:cNvPr>
          <p:cNvSpPr txBox="1"/>
          <p:nvPr/>
        </p:nvSpPr>
        <p:spPr>
          <a:xfrm>
            <a:off x="6506764" y="4694931"/>
            <a:ext cx="43791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6000" dirty="0">
                <a:solidFill>
                  <a:schemeClr val="bg2"/>
                </a:solidFill>
                <a:latin typeface="Artifakt Element Medium" panose="020B0603050000020004" pitchFamily="34" charset="0"/>
                <a:ea typeface="Artifakt Element Medium" panose="020B0603050000020004" pitchFamily="34" charset="0"/>
              </a:rPr>
              <a:t>PENUTUP</a:t>
            </a:r>
          </a:p>
        </p:txBody>
      </p:sp>
    </p:spTree>
    <p:extLst>
      <p:ext uri="{BB962C8B-B14F-4D97-AF65-F5344CB8AC3E}">
        <p14:creationId xmlns:p14="http://schemas.microsoft.com/office/powerpoint/2010/main" val="14804065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2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1459871" cy="422894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2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8288000" cy="639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85" name="Google Shape;585;p27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1686348"/>
            <a:ext cx="18288000" cy="872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27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0" y="0"/>
            <a:ext cx="18285107" cy="1559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8" name="Google Shape;588;p27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9410700"/>
            <a:ext cx="82200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27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1" name="Google Shape;591;p27" title="Group 4809839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E7A63F4F-D8D9-C640-AD3B-6338B612D60F}"/>
              </a:ext>
            </a:extLst>
          </p:cNvPr>
          <p:cNvSpPr/>
          <p:nvPr/>
        </p:nvSpPr>
        <p:spPr>
          <a:xfrm>
            <a:off x="1696866" y="1873965"/>
            <a:ext cx="1960734" cy="481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99155"/>
              </a:lnSpc>
              <a:buClr>
                <a:srgbClr val="233D80"/>
              </a:buClr>
              <a:buSzPts val="2250"/>
            </a:pPr>
            <a:r>
              <a:rPr lang="en-US" sz="2250" b="1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KESIMPULAN</a:t>
            </a:r>
            <a:endParaRPr lang="en-US" sz="22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64566F4-7D25-1DBF-E2D7-95A4077745DE}"/>
              </a:ext>
            </a:extLst>
          </p:cNvPr>
          <p:cNvGrpSpPr/>
          <p:nvPr/>
        </p:nvGrpSpPr>
        <p:grpSpPr>
          <a:xfrm>
            <a:off x="-6667" y="1774732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78FA96A-5843-93A9-5565-DE9D17EC4DA6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B6F3992-3108-88E6-A0B7-477D1BA1648E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65413310-A227-EAFE-9D63-6CC7E0B69E4B}"/>
              </a:ext>
            </a:extLst>
          </p:cNvPr>
          <p:cNvSpPr txBox="1"/>
          <p:nvPr/>
        </p:nvSpPr>
        <p:spPr>
          <a:xfrm>
            <a:off x="306929" y="2583185"/>
            <a:ext cx="1373768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AutoNum type="arabicPeriod"/>
            </a:pPr>
            <a:r>
              <a:rPr lang="en-SG" sz="2400" dirty="0"/>
              <a:t>PWM AC </a:t>
            </a:r>
            <a:r>
              <a:rPr lang="en-SG" sz="2400" i="1" dirty="0"/>
              <a:t>chopper</a:t>
            </a:r>
            <a:r>
              <a:rPr lang="en-SG" sz="2400" dirty="0"/>
              <a:t> </a:t>
            </a:r>
            <a:r>
              <a:rPr lang="en-SG" sz="2400" dirty="0" err="1"/>
              <a:t>berhasil</a:t>
            </a:r>
            <a:r>
              <a:rPr lang="en-SG" sz="2400" dirty="0"/>
              <a:t> </a:t>
            </a:r>
            <a:r>
              <a:rPr lang="en-SG" sz="2400" dirty="0" err="1"/>
              <a:t>mengendalikan</a:t>
            </a:r>
            <a:r>
              <a:rPr lang="en-SG" sz="2400" dirty="0"/>
              <a:t> </a:t>
            </a:r>
            <a:r>
              <a:rPr lang="en-SG" sz="2400" dirty="0" err="1"/>
              <a:t>tegangan</a:t>
            </a:r>
            <a:r>
              <a:rPr lang="en-SG" sz="2400" dirty="0"/>
              <a:t> </a:t>
            </a:r>
            <a:r>
              <a:rPr lang="en-SG" sz="2400" dirty="0" err="1"/>
              <a:t>pompa</a:t>
            </a:r>
            <a:r>
              <a:rPr lang="en-SG" sz="2400" dirty="0"/>
              <a:t>.</a:t>
            </a:r>
          </a:p>
          <a:p>
            <a:pPr marL="457200" lvl="0" indent="-457200">
              <a:buAutoNum type="arabicPeriod"/>
            </a:pPr>
            <a:r>
              <a:rPr lang="en-SG" sz="2400" dirty="0"/>
              <a:t>Neural Network MLP 3-4-1 </a:t>
            </a:r>
            <a:r>
              <a:rPr lang="en-SG" sz="2400" dirty="0" err="1"/>
              <a:t>berhasil</a:t>
            </a:r>
            <a:r>
              <a:rPr lang="en-SG" sz="2400" dirty="0"/>
              <a:t> </a:t>
            </a:r>
            <a:r>
              <a:rPr lang="en-SG" sz="2400" dirty="0" err="1"/>
              <a:t>mengendalikan</a:t>
            </a:r>
            <a:r>
              <a:rPr lang="en-SG" sz="2400" dirty="0"/>
              <a:t> </a:t>
            </a:r>
            <a:r>
              <a:rPr lang="en-SG" sz="2400" dirty="0" err="1"/>
              <a:t>tekanan</a:t>
            </a:r>
            <a:r>
              <a:rPr lang="en-SG" sz="2400" dirty="0"/>
              <a:t> </a:t>
            </a:r>
            <a:r>
              <a:rPr lang="en-SG" sz="2400" dirty="0" err="1"/>
              <a:t>dengan</a:t>
            </a:r>
            <a:r>
              <a:rPr lang="en-SG" sz="2400" dirty="0"/>
              <a:t> </a:t>
            </a:r>
            <a:r>
              <a:rPr lang="en-SG" sz="2400" dirty="0" err="1"/>
              <a:t>akurasi</a:t>
            </a:r>
            <a:r>
              <a:rPr lang="en-SG" sz="2400" dirty="0"/>
              <a:t> </a:t>
            </a:r>
            <a:r>
              <a:rPr lang="en-SG" sz="2400" dirty="0" err="1"/>
              <a:t>tinggi</a:t>
            </a:r>
            <a:r>
              <a:rPr lang="en-SG" sz="2400" dirty="0"/>
              <a:t> </a:t>
            </a:r>
            <a:r>
              <a:rPr lang="en-SG" sz="2400" b="1" dirty="0"/>
              <a:t>(R² = 0,915).</a:t>
            </a:r>
          </a:p>
          <a:p>
            <a:pPr marL="457200" lvl="0" indent="-457200">
              <a:buAutoNum type="arabicPeriod"/>
            </a:pPr>
            <a:r>
              <a:rPr lang="en-SG" sz="2400" i="1" dirty="0"/>
              <a:t>Error</a:t>
            </a:r>
            <a:r>
              <a:rPr lang="en-SG" sz="2400" dirty="0"/>
              <a:t> </a:t>
            </a:r>
            <a:r>
              <a:rPr lang="en-SG" sz="2400" dirty="0" err="1"/>
              <a:t>tekanan</a:t>
            </a:r>
            <a:r>
              <a:rPr lang="en-SG" sz="2400" dirty="0"/>
              <a:t> sangat </a:t>
            </a:r>
            <a:r>
              <a:rPr lang="en-SG" sz="2400" dirty="0" err="1"/>
              <a:t>kecil</a:t>
            </a:r>
            <a:r>
              <a:rPr lang="en-SG" sz="2400" dirty="0"/>
              <a:t> (≤ 0,009 bar), pada </a:t>
            </a:r>
            <a:r>
              <a:rPr lang="en-SG" sz="2400" dirty="0" err="1"/>
              <a:t>pengujian</a:t>
            </a:r>
            <a:r>
              <a:rPr lang="en-SG" sz="2400" dirty="0"/>
              <a:t> </a:t>
            </a:r>
            <a:r>
              <a:rPr lang="en-SG" sz="2400" dirty="0" err="1"/>
              <a:t>perubahan</a:t>
            </a:r>
            <a:r>
              <a:rPr lang="en-SG" sz="2400" dirty="0"/>
              <a:t> SP </a:t>
            </a:r>
            <a:r>
              <a:rPr lang="en-SG" sz="2400" dirty="0" err="1"/>
              <a:t>mengikuti</a:t>
            </a:r>
            <a:r>
              <a:rPr lang="en-SG" sz="2400" dirty="0"/>
              <a:t> </a:t>
            </a:r>
            <a:r>
              <a:rPr lang="en-SG" sz="2400" dirty="0" err="1"/>
              <a:t>perubahan</a:t>
            </a:r>
            <a:r>
              <a:rPr lang="en-SG" sz="2400" dirty="0"/>
              <a:t> </a:t>
            </a:r>
            <a:r>
              <a:rPr lang="en-SG" sz="2400" i="1" dirty="0"/>
              <a:t>setpoint</a:t>
            </a:r>
            <a:r>
              <a:rPr lang="en-SG" sz="2400" dirty="0"/>
              <a:t> </a:t>
            </a:r>
            <a:r>
              <a:rPr lang="en-SG" sz="2400" dirty="0" err="1"/>
              <a:t>dengan</a:t>
            </a:r>
            <a:r>
              <a:rPr lang="en-SG" sz="2400" dirty="0"/>
              <a:t> </a:t>
            </a:r>
            <a:r>
              <a:rPr lang="en-SG" sz="2400" b="1" i="1" dirty="0"/>
              <a:t>settling time </a:t>
            </a:r>
            <a:r>
              <a:rPr lang="en-SG" sz="2400" b="1" dirty="0"/>
              <a:t>4–7 </a:t>
            </a:r>
            <a:r>
              <a:rPr lang="en-SG" sz="2400" b="1" dirty="0" err="1"/>
              <a:t>detik</a:t>
            </a:r>
            <a:r>
              <a:rPr lang="en-SG" sz="2400" b="1" dirty="0"/>
              <a:t>.</a:t>
            </a:r>
          </a:p>
          <a:p>
            <a:pPr marL="457200" lvl="0" indent="-457200">
              <a:buAutoNum type="arabicPeriod"/>
            </a:pPr>
            <a:r>
              <a:rPr lang="en-SG" sz="2400" dirty="0"/>
              <a:t>Pada </a:t>
            </a:r>
            <a:r>
              <a:rPr lang="en-SG" sz="2400" dirty="0" err="1"/>
              <a:t>pengujian</a:t>
            </a:r>
            <a:r>
              <a:rPr lang="en-SG" sz="2400" dirty="0"/>
              <a:t> </a:t>
            </a:r>
            <a:r>
              <a:rPr lang="en-SG" sz="2400" dirty="0" err="1"/>
              <a:t>gangguan</a:t>
            </a:r>
            <a:r>
              <a:rPr lang="en-SG" sz="2400" dirty="0"/>
              <a:t> </a:t>
            </a:r>
            <a:r>
              <a:rPr lang="en-SG" sz="2400" dirty="0" err="1"/>
              <a:t>keran</a:t>
            </a:r>
            <a:r>
              <a:rPr lang="en-SG" sz="2400" dirty="0"/>
              <a:t> </a:t>
            </a:r>
            <a:r>
              <a:rPr lang="en-SG" sz="2400" dirty="0" err="1"/>
              <a:t>kontroler</a:t>
            </a:r>
            <a:r>
              <a:rPr lang="en-SG" sz="2400" dirty="0"/>
              <a:t> </a:t>
            </a:r>
            <a:r>
              <a:rPr lang="en-SG" sz="2400" dirty="0" err="1"/>
              <a:t>memulihkan</a:t>
            </a:r>
            <a:r>
              <a:rPr lang="en-SG" sz="2400" dirty="0"/>
              <a:t> </a:t>
            </a:r>
            <a:r>
              <a:rPr lang="en-SG" sz="2400" dirty="0" err="1"/>
              <a:t>tekanana</a:t>
            </a:r>
            <a:r>
              <a:rPr lang="en-SG" sz="2400" dirty="0"/>
              <a:t> </a:t>
            </a:r>
            <a:r>
              <a:rPr lang="en-SG" sz="2400" dirty="0" err="1"/>
              <a:t>dalam</a:t>
            </a:r>
            <a:r>
              <a:rPr lang="en-SG" sz="2400" b="1" dirty="0"/>
              <a:t> 9-15 </a:t>
            </a:r>
            <a:r>
              <a:rPr lang="en-SG" sz="2400" b="1" dirty="0" err="1"/>
              <a:t>detik</a:t>
            </a:r>
            <a:r>
              <a:rPr lang="en-SG" sz="2400" b="1" dirty="0"/>
              <a:t>.</a:t>
            </a:r>
          </a:p>
          <a:p>
            <a:pPr marL="457200" lvl="0" indent="-457200">
              <a:buAutoNum type="arabicPeriod"/>
            </a:pPr>
            <a:r>
              <a:rPr lang="en-SG" sz="2400" dirty="0"/>
              <a:t>Kinerja ANN </a:t>
            </a:r>
            <a:r>
              <a:rPr lang="en-SG" sz="2400" dirty="0" err="1"/>
              <a:t>lebih</a:t>
            </a:r>
            <a:r>
              <a:rPr lang="en-SG" sz="2400" dirty="0"/>
              <a:t> </a:t>
            </a:r>
            <a:r>
              <a:rPr lang="en-SG" sz="2400" dirty="0" err="1"/>
              <a:t>baik</a:t>
            </a:r>
            <a:r>
              <a:rPr lang="en-SG" sz="2400" dirty="0"/>
              <a:t> </a:t>
            </a:r>
            <a:r>
              <a:rPr lang="en-SG" sz="2400" dirty="0" err="1"/>
              <a:t>dibanding</a:t>
            </a:r>
            <a:r>
              <a:rPr lang="en-SG" sz="2400" dirty="0"/>
              <a:t> </a:t>
            </a:r>
            <a:r>
              <a:rPr lang="en-SG" sz="2400" dirty="0" err="1"/>
              <a:t>kontrol</a:t>
            </a:r>
            <a:r>
              <a:rPr lang="en-SG" sz="2400" dirty="0"/>
              <a:t> </a:t>
            </a:r>
            <a:r>
              <a:rPr lang="en-SG" sz="2400" dirty="0" err="1"/>
              <a:t>proporsional</a:t>
            </a:r>
            <a:r>
              <a:rPr lang="en-SG" sz="2400" dirty="0"/>
              <a:t> dan </a:t>
            </a:r>
            <a:r>
              <a:rPr lang="en-SG" sz="2400" i="1" dirty="0"/>
              <a:t>duty cycle </a:t>
            </a:r>
            <a:r>
              <a:rPr lang="en-SG" sz="2400" dirty="0" err="1"/>
              <a:t>tetap</a:t>
            </a:r>
            <a:r>
              <a:rPr lang="en-SG" sz="2400" dirty="0"/>
              <a:t>.</a:t>
            </a:r>
          </a:p>
          <a:p>
            <a:pPr marL="457200" lvl="0" indent="-457200">
              <a:buAutoNum type="arabicPeriod"/>
            </a:pPr>
            <a:r>
              <a:rPr lang="en-SG" sz="2400" dirty="0" err="1"/>
              <a:t>Kegagalan</a:t>
            </a:r>
            <a:r>
              <a:rPr lang="en-SG" sz="2400" dirty="0"/>
              <a:t> </a:t>
            </a:r>
            <a:r>
              <a:rPr lang="en-SG" sz="2400" dirty="0" err="1"/>
              <a:t>mencapai</a:t>
            </a:r>
            <a:r>
              <a:rPr lang="en-SG" sz="2400" dirty="0"/>
              <a:t> </a:t>
            </a:r>
            <a:r>
              <a:rPr lang="en-SG" sz="2400" i="1" dirty="0"/>
              <a:t>setpoint</a:t>
            </a:r>
            <a:r>
              <a:rPr lang="en-SG" sz="2400" dirty="0"/>
              <a:t> pada </a:t>
            </a:r>
            <a:r>
              <a:rPr lang="en-SG" sz="2400" dirty="0" err="1"/>
              <a:t>beberapa</a:t>
            </a:r>
            <a:r>
              <a:rPr lang="en-SG" sz="2400" dirty="0"/>
              <a:t> </a:t>
            </a:r>
            <a:r>
              <a:rPr lang="en-SG" sz="2400" dirty="0" err="1"/>
              <a:t>kondisi</a:t>
            </a:r>
            <a:r>
              <a:rPr lang="en-SG" sz="2400" dirty="0"/>
              <a:t> </a:t>
            </a:r>
            <a:r>
              <a:rPr lang="en-SG" sz="2400" dirty="0" err="1"/>
              <a:t>disebabkan</a:t>
            </a:r>
            <a:r>
              <a:rPr lang="en-SG" sz="2400" dirty="0"/>
              <a:t> </a:t>
            </a:r>
            <a:r>
              <a:rPr lang="en-SG" sz="2400" b="1" dirty="0"/>
              <a:t>batas minimum </a:t>
            </a:r>
            <a:r>
              <a:rPr lang="en-SG" sz="2400" b="1" dirty="0" err="1"/>
              <a:t>pompa</a:t>
            </a:r>
            <a:r>
              <a:rPr lang="en-SG" sz="2400" b="1" dirty="0"/>
              <a:t> (</a:t>
            </a:r>
            <a:r>
              <a:rPr lang="en-SG" sz="2400" b="1" dirty="0" err="1"/>
              <a:t>saturasi</a:t>
            </a:r>
            <a:r>
              <a:rPr lang="en-SG" sz="2400" b="1" dirty="0"/>
              <a:t> </a:t>
            </a:r>
            <a:r>
              <a:rPr lang="en-SG" sz="2400" b="1" dirty="0" err="1"/>
              <a:t>aktuator</a:t>
            </a:r>
            <a:r>
              <a:rPr lang="en-SG" sz="2400" b="1" dirty="0"/>
              <a:t>)</a:t>
            </a:r>
            <a:r>
              <a:rPr lang="en-SG" sz="2400" dirty="0"/>
              <a:t>, </a:t>
            </a:r>
            <a:r>
              <a:rPr lang="en-SG" sz="2400" dirty="0" err="1"/>
              <a:t>bukan</a:t>
            </a:r>
            <a:r>
              <a:rPr lang="en-SG" sz="2400" dirty="0"/>
              <a:t> </a:t>
            </a:r>
            <a:r>
              <a:rPr lang="en-SG" sz="2400" dirty="0" err="1"/>
              <a:t>kegagalan</a:t>
            </a:r>
            <a:r>
              <a:rPr lang="en-SG" sz="2400" dirty="0"/>
              <a:t> </a:t>
            </a:r>
            <a:r>
              <a:rPr lang="en-SG" sz="2400" dirty="0" err="1"/>
              <a:t>metode</a:t>
            </a:r>
            <a:r>
              <a:rPr lang="en-SG" sz="2400" dirty="0"/>
              <a:t> </a:t>
            </a:r>
            <a:r>
              <a:rPr lang="en-SG" sz="2400" dirty="0" err="1"/>
              <a:t>kontrol</a:t>
            </a:r>
            <a:r>
              <a:rPr lang="en-SG" sz="2400" dirty="0"/>
              <a:t>.</a:t>
            </a:r>
            <a:endParaRPr lang="en-SG" sz="2400" dirty="0">
              <a:latin typeface="Work Sans" pitchFamily="2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A265B83-C4DE-10E9-7057-35918C93AE33}"/>
              </a:ext>
            </a:extLst>
          </p:cNvPr>
          <p:cNvGrpSpPr/>
          <p:nvPr/>
        </p:nvGrpSpPr>
        <p:grpSpPr>
          <a:xfrm>
            <a:off x="-6667" y="5831793"/>
            <a:ext cx="1518284" cy="557215"/>
            <a:chOff x="19050" y="1796298"/>
            <a:chExt cx="1518284" cy="55721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DCA9EC3-96F3-C6E1-1337-70779ED7995D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3C82A66-1F06-4757-BF91-F461D92E58BC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519155C-21EF-CB0F-5E6E-3704B016BAF7}"/>
              </a:ext>
            </a:extLst>
          </p:cNvPr>
          <p:cNvSpPr txBox="1"/>
          <p:nvPr/>
        </p:nvSpPr>
        <p:spPr>
          <a:xfrm>
            <a:off x="1518333" y="5910641"/>
            <a:ext cx="1632122" cy="435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9155"/>
              </a:lnSpc>
              <a:buClr>
                <a:srgbClr val="233D80"/>
              </a:buClr>
              <a:buSzPts val="2250"/>
            </a:pPr>
            <a:r>
              <a:rPr lang="en-US" sz="2250" b="1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SARAN</a:t>
            </a:r>
            <a:endParaRPr lang="en-US" sz="225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4ABE7F-9CB5-A35A-43D0-C13B9A9CAD52}"/>
              </a:ext>
            </a:extLst>
          </p:cNvPr>
          <p:cNvSpPr txBox="1"/>
          <p:nvPr/>
        </p:nvSpPr>
        <p:spPr>
          <a:xfrm>
            <a:off x="306929" y="6407043"/>
            <a:ext cx="1309211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SG" sz="2400" dirty="0" err="1"/>
              <a:t>Menambahkan</a:t>
            </a:r>
            <a:r>
              <a:rPr lang="en-SG" sz="2400" dirty="0"/>
              <a:t> </a:t>
            </a:r>
            <a:r>
              <a:rPr lang="en-SG" sz="2400" dirty="0" err="1"/>
              <a:t>sistem</a:t>
            </a:r>
            <a:r>
              <a:rPr lang="en-SG" sz="2400" dirty="0"/>
              <a:t> </a:t>
            </a:r>
            <a:r>
              <a:rPr lang="en-SG" sz="2400" b="1" dirty="0" err="1"/>
              <a:t>pendingin</a:t>
            </a:r>
            <a:r>
              <a:rPr lang="en-SG" sz="2400" b="1" dirty="0"/>
              <a:t> (</a:t>
            </a:r>
            <a:r>
              <a:rPr lang="en-SG" sz="2400" b="1" i="1" dirty="0"/>
              <a:t>cooling</a:t>
            </a:r>
            <a:r>
              <a:rPr lang="en-SG" sz="2400" b="1" dirty="0"/>
              <a:t>)</a:t>
            </a:r>
            <a:r>
              <a:rPr lang="en-SG" sz="2400" dirty="0"/>
              <a:t> pada snubber dan </a:t>
            </a:r>
            <a:r>
              <a:rPr lang="en-SG" sz="2400" dirty="0" err="1"/>
              <a:t>komponen</a:t>
            </a:r>
            <a:r>
              <a:rPr lang="en-SG" sz="2400" dirty="0"/>
              <a:t> </a:t>
            </a:r>
            <a:r>
              <a:rPr lang="en-SG" sz="2400" dirty="0" err="1"/>
              <a:t>daya</a:t>
            </a:r>
            <a:r>
              <a:rPr lang="en-SG" sz="2400" dirty="0"/>
              <a:t> </a:t>
            </a:r>
            <a:r>
              <a:rPr lang="en-SG" sz="2400" dirty="0" err="1"/>
              <a:t>untuk</a:t>
            </a:r>
            <a:r>
              <a:rPr lang="en-SG" sz="2400" dirty="0"/>
              <a:t> </a:t>
            </a:r>
            <a:r>
              <a:rPr lang="en-SG" sz="2400" dirty="0" err="1"/>
              <a:t>menjaga</a:t>
            </a:r>
            <a:r>
              <a:rPr lang="en-SG" sz="2400" dirty="0"/>
              <a:t> </a:t>
            </a:r>
            <a:r>
              <a:rPr lang="en-SG" sz="2400" dirty="0" err="1"/>
              <a:t>stabilitas</a:t>
            </a:r>
            <a:r>
              <a:rPr lang="en-SG" sz="2400" dirty="0"/>
              <a:t> </a:t>
            </a:r>
            <a:r>
              <a:rPr lang="en-SG" sz="2400" dirty="0" err="1"/>
              <a:t>termal</a:t>
            </a:r>
            <a:r>
              <a:rPr lang="en-SG" sz="2400" dirty="0"/>
              <a:t> </a:t>
            </a:r>
            <a:r>
              <a:rPr lang="en-SG" sz="2400" dirty="0" err="1"/>
              <a:t>saat</a:t>
            </a:r>
            <a:r>
              <a:rPr lang="en-SG" sz="2400" dirty="0"/>
              <a:t> </a:t>
            </a:r>
            <a:r>
              <a:rPr lang="en-SG" sz="2400" dirty="0" err="1"/>
              <a:t>operasi</a:t>
            </a:r>
            <a:r>
              <a:rPr lang="en-SG" sz="2400" dirty="0"/>
              <a:t> </a:t>
            </a:r>
            <a:r>
              <a:rPr lang="en-SG" sz="2400" dirty="0" err="1"/>
              <a:t>kontinu</a:t>
            </a:r>
            <a:endParaRPr lang="en-SG" sz="2400" dirty="0"/>
          </a:p>
          <a:p>
            <a:pPr marL="457200" indent="-457200">
              <a:buAutoNum type="arabicPeriod"/>
            </a:pPr>
            <a:r>
              <a:rPr lang="en-SG" sz="2400" dirty="0" err="1"/>
              <a:t>Mengintegrasikan</a:t>
            </a:r>
            <a:r>
              <a:rPr lang="en-SG" sz="2400" dirty="0"/>
              <a:t> </a:t>
            </a:r>
            <a:r>
              <a:rPr lang="en-SG" sz="2400" dirty="0" err="1"/>
              <a:t>sistem</a:t>
            </a:r>
            <a:r>
              <a:rPr lang="en-SG" sz="2400" dirty="0"/>
              <a:t> </a:t>
            </a:r>
            <a:r>
              <a:rPr lang="en-SG" sz="2400" dirty="0" err="1"/>
              <a:t>secara</a:t>
            </a:r>
            <a:r>
              <a:rPr lang="en-SG" sz="2400" dirty="0"/>
              <a:t> </a:t>
            </a:r>
            <a:r>
              <a:rPr lang="en-SG" sz="2400" dirty="0" err="1"/>
              <a:t>langsung</a:t>
            </a:r>
            <a:r>
              <a:rPr lang="en-SG" sz="2400" dirty="0"/>
              <a:t> </a:t>
            </a:r>
            <a:r>
              <a:rPr lang="en-SG" sz="2400" dirty="0" err="1"/>
              <a:t>dengan</a:t>
            </a:r>
            <a:r>
              <a:rPr lang="en-SG" sz="2400" dirty="0"/>
              <a:t> inverter (</a:t>
            </a:r>
            <a:r>
              <a:rPr lang="en-SG" sz="2400" dirty="0" err="1"/>
              <a:t>sumber</a:t>
            </a:r>
            <a:r>
              <a:rPr lang="en-SG" sz="2400" dirty="0"/>
              <a:t> DC/PLTS) </a:t>
            </a:r>
            <a:r>
              <a:rPr lang="en-SG" sz="2400" dirty="0" err="1"/>
              <a:t>sehingga</a:t>
            </a:r>
            <a:r>
              <a:rPr lang="en-SG" sz="2400" dirty="0"/>
              <a:t> </a:t>
            </a:r>
            <a:r>
              <a:rPr lang="en-SG" sz="2400" dirty="0" err="1"/>
              <a:t>menjadi</a:t>
            </a:r>
            <a:r>
              <a:rPr lang="en-SG" sz="2400" dirty="0"/>
              <a:t> </a:t>
            </a:r>
            <a:r>
              <a:rPr lang="en-SG" sz="2400" dirty="0" err="1"/>
              <a:t>satu</a:t>
            </a:r>
            <a:r>
              <a:rPr lang="en-SG" sz="2400" dirty="0"/>
              <a:t> </a:t>
            </a:r>
            <a:r>
              <a:rPr lang="en-SG" sz="2400" dirty="0" err="1"/>
              <a:t>kesatuan</a:t>
            </a:r>
            <a:r>
              <a:rPr lang="en-SG" sz="2400" dirty="0"/>
              <a:t> solar water pump inverter</a:t>
            </a:r>
          </a:p>
          <a:p>
            <a:pPr marL="457200" indent="-457200">
              <a:buAutoNum type="arabicPeriod"/>
            </a:pPr>
            <a:r>
              <a:rPr lang="en-SG" sz="2400" dirty="0" err="1"/>
              <a:t>Memperluas</a:t>
            </a:r>
            <a:r>
              <a:rPr lang="en-SG" sz="2400" dirty="0"/>
              <a:t> dataset </a:t>
            </a:r>
            <a:r>
              <a:rPr lang="en-SG" sz="2400" dirty="0" err="1"/>
              <a:t>pelatihan</a:t>
            </a:r>
            <a:r>
              <a:rPr lang="en-SG" sz="2400" dirty="0"/>
              <a:t> Neural Network </a:t>
            </a:r>
            <a:r>
              <a:rPr lang="en-SG" sz="2400" dirty="0" err="1"/>
              <a:t>dengan</a:t>
            </a:r>
            <a:r>
              <a:rPr lang="en-SG" sz="2400" dirty="0"/>
              <a:t> </a:t>
            </a:r>
            <a:r>
              <a:rPr lang="en-SG" sz="2400" dirty="0" err="1"/>
              <a:t>variasi</a:t>
            </a:r>
            <a:r>
              <a:rPr lang="en-SG" sz="2400" dirty="0"/>
              <a:t> </a:t>
            </a:r>
            <a:r>
              <a:rPr lang="en-SG" sz="2400" b="1" i="1" dirty="0"/>
              <a:t>setpoint</a:t>
            </a:r>
            <a:r>
              <a:rPr lang="en-SG" sz="2400" dirty="0"/>
              <a:t> dan </a:t>
            </a:r>
            <a:r>
              <a:rPr lang="en-SG" sz="2400" dirty="0" err="1"/>
              <a:t>kondisi</a:t>
            </a:r>
            <a:r>
              <a:rPr lang="en-SG" sz="2400" dirty="0"/>
              <a:t> </a:t>
            </a:r>
            <a:r>
              <a:rPr lang="en-SG" sz="2400" dirty="0" err="1"/>
              <a:t>operasi</a:t>
            </a:r>
            <a:r>
              <a:rPr lang="en-SG" sz="2400" dirty="0"/>
              <a:t> yang </a:t>
            </a:r>
            <a:r>
              <a:rPr lang="en-SG" sz="2400" dirty="0" err="1"/>
              <a:t>lebih</a:t>
            </a:r>
            <a:r>
              <a:rPr lang="en-SG" sz="2400" dirty="0"/>
              <a:t> </a:t>
            </a:r>
            <a:r>
              <a:rPr lang="en-SG" sz="2400" dirty="0" err="1"/>
              <a:t>beragam</a:t>
            </a:r>
            <a:r>
              <a:rPr lang="en-SG" sz="2400" dirty="0"/>
              <a:t>.</a:t>
            </a:r>
          </a:p>
          <a:p>
            <a:pPr marL="457200" indent="-457200">
              <a:buAutoNum type="arabicPeriod"/>
            </a:pPr>
            <a:r>
              <a:rPr lang="en-SG" sz="2400" dirty="0" err="1"/>
              <a:t>Melakukan</a:t>
            </a:r>
            <a:r>
              <a:rPr lang="en-SG" sz="2400" dirty="0"/>
              <a:t> </a:t>
            </a:r>
            <a:r>
              <a:rPr lang="en-SG" sz="2400" dirty="0" err="1"/>
              <a:t>analisa</a:t>
            </a:r>
            <a:r>
              <a:rPr lang="en-SG" sz="2400" dirty="0"/>
              <a:t> </a:t>
            </a:r>
            <a:r>
              <a:rPr lang="en-SG" sz="2400" dirty="0" err="1"/>
              <a:t>efisiensi</a:t>
            </a:r>
            <a:r>
              <a:rPr lang="en-SG" sz="2400" dirty="0"/>
              <a:t> </a:t>
            </a:r>
            <a:r>
              <a:rPr lang="en-SG" sz="2400" dirty="0" err="1"/>
              <a:t>daya</a:t>
            </a:r>
            <a:r>
              <a:rPr lang="en-SG" sz="2400" dirty="0"/>
              <a:t> dan </a:t>
            </a:r>
            <a:r>
              <a:rPr lang="en-SG" sz="2400" dirty="0" err="1"/>
              <a:t>kerugian</a:t>
            </a:r>
            <a:r>
              <a:rPr lang="en-SG" sz="2400" dirty="0"/>
              <a:t> </a:t>
            </a:r>
            <a:r>
              <a:rPr lang="en-SG" sz="2400" dirty="0" err="1"/>
              <a:t>daya</a:t>
            </a:r>
            <a:r>
              <a:rPr lang="en-SG" sz="2400" dirty="0"/>
              <a:t> pada </a:t>
            </a:r>
            <a:r>
              <a:rPr lang="en-SG" sz="2400" dirty="0" err="1"/>
              <a:t>rangkaian</a:t>
            </a:r>
            <a:r>
              <a:rPr lang="en-SG" sz="2400" dirty="0"/>
              <a:t> </a:t>
            </a:r>
            <a:r>
              <a:rPr lang="en-SG" sz="2400" dirty="0" err="1"/>
              <a:t>daya</a:t>
            </a:r>
            <a:r>
              <a:rPr lang="en-SG" sz="2400" dirty="0"/>
              <a:t> </a:t>
            </a:r>
            <a:r>
              <a:rPr lang="en-SG" sz="2400" dirty="0">
                <a:sym typeface="Wingdings" panose="05000000000000000000" pitchFamily="2" charset="2"/>
              </a:rPr>
              <a:t> </a:t>
            </a:r>
            <a:r>
              <a:rPr lang="en-SG" sz="2400" b="1" dirty="0" err="1"/>
              <a:t>keandalan</a:t>
            </a:r>
            <a:r>
              <a:rPr lang="en-SG" sz="2400" b="1" dirty="0"/>
              <a:t>, </a:t>
            </a:r>
            <a:r>
              <a:rPr lang="en-SG" sz="2400" b="1" dirty="0" err="1"/>
              <a:t>stabilitas</a:t>
            </a:r>
            <a:r>
              <a:rPr lang="en-SG" sz="2400" b="1" dirty="0"/>
              <a:t>, dan </a:t>
            </a:r>
            <a:r>
              <a:rPr lang="en-SG" sz="2400" b="1" dirty="0" err="1"/>
              <a:t>efisiensi</a:t>
            </a:r>
            <a:r>
              <a:rPr lang="en-SG" sz="2400" b="1" dirty="0"/>
              <a:t> </a:t>
            </a:r>
            <a:r>
              <a:rPr lang="en-SG" sz="2400" b="1" dirty="0" err="1"/>
              <a:t>energi</a:t>
            </a:r>
            <a:r>
              <a:rPr lang="en-SG" sz="2400" dirty="0"/>
              <a:t> </a:t>
            </a:r>
            <a:r>
              <a:rPr lang="en-SG" sz="2400" dirty="0" err="1"/>
              <a:t>sistem</a:t>
            </a:r>
            <a:r>
              <a:rPr lang="en-SG" sz="2400" dirty="0"/>
              <a:t>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F5CF1EFB-38AC-14D6-B6BF-27E5B404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6609CDBA-F865-1E75-263B-D6EFF5C31B7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AEFAEF7C-BC8E-856E-01A6-92915C1BC0BA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>
            <a:extLst>
              <a:ext uri="{FF2B5EF4-FFF2-40B4-BE49-F238E27FC236}">
                <a16:creationId xmlns:a16="http://schemas.microsoft.com/office/drawing/2014/main" id="{4AD73579-B4C2-6742-0CB3-F54CAB919FF7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44F43115-DFF1-B30E-BB0C-60FE49C5CF42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69;p13">
            <a:extLst>
              <a:ext uri="{FF2B5EF4-FFF2-40B4-BE49-F238E27FC236}">
                <a16:creationId xmlns:a16="http://schemas.microsoft.com/office/drawing/2014/main" id="{9E8B8E0C-313E-C74F-3099-066DD90E241D}"/>
              </a:ext>
            </a:extLst>
          </p:cNvPr>
          <p:cNvSpPr/>
          <p:nvPr/>
        </p:nvSpPr>
        <p:spPr>
          <a:xfrm>
            <a:off x="7954145" y="5046401"/>
            <a:ext cx="1982335" cy="348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99155"/>
              </a:lnSpc>
              <a:buClr>
                <a:srgbClr val="233D80"/>
              </a:buClr>
              <a:buSzPts val="2250"/>
            </a:pPr>
            <a:r>
              <a:rPr lang="en-US" sz="2250" dirty="0">
                <a:solidFill>
                  <a:srgbClr val="233D80"/>
                </a:solidFill>
                <a:latin typeface="Work Sans Medium"/>
                <a:ea typeface="Calibri"/>
                <a:cs typeface="Calibri"/>
                <a:sym typeface="Work Sans Medium"/>
              </a:rPr>
              <a:t>VIDEO DEMO</a:t>
            </a:r>
            <a:endParaRPr lang="en-US" sz="2250" i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0AF7082-075D-A34C-0B62-0A7C658CA607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5480B2-20BA-568F-A3EA-16E3F8874EFE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0FE8880-8AD7-ACDF-6CFC-DB4D6667A341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4132031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9" name="Google Shape;619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4657725"/>
            <a:ext cx="11459871" cy="562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7629525"/>
            <a:ext cx="182880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3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82880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30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9427" y="168566"/>
            <a:ext cx="18288000" cy="6398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4" name="Google Shape;624;p30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9410700"/>
            <a:ext cx="8220075" cy="638175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30"/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0"/>
          <p:cNvSpPr/>
          <p:nvPr/>
        </p:nvSpPr>
        <p:spPr>
          <a:xfrm>
            <a:off x="3562350" y="4476750"/>
            <a:ext cx="11163300" cy="16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97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0"/>
              <a:buFont typeface="Work Sans ExtraBold"/>
              <a:buNone/>
            </a:pPr>
            <a:r>
              <a:rPr lang="en-US" sz="7200" dirty="0">
                <a:solidFill>
                  <a:srgbClr val="FFFFFF"/>
                </a:solidFill>
                <a:latin typeface="Work Sans ExtraBold"/>
                <a:ea typeface="Work Sans ExtraBold"/>
                <a:cs typeface="Work Sans ExtraBold"/>
                <a:sym typeface="Work Sans ExtraBold"/>
              </a:rPr>
              <a:t>TERIMA KASIH </a:t>
            </a:r>
            <a:endParaRPr sz="7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0"/>
          <p:cNvSpPr/>
          <p:nvPr/>
        </p:nvSpPr>
        <p:spPr>
          <a:xfrm>
            <a:off x="8582025" y="5810250"/>
            <a:ext cx="1133475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9866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3000"/>
              <a:buFont typeface="Work Sans"/>
              <a:buNone/>
            </a:pPr>
            <a:r>
              <a:rPr lang="en-US" sz="3000" b="1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Nama 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0"/>
          <p:cNvSpPr txBox="1">
            <a:spLocks noGrp="1"/>
          </p:cNvSpPr>
          <p:nvPr>
            <p:ph type="sldNum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0" name="Google Shape;630;p30" title="Group 48098395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18362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>
          <a:extLst>
            <a:ext uri="{FF2B5EF4-FFF2-40B4-BE49-F238E27FC236}">
              <a16:creationId xmlns:a16="http://schemas.microsoft.com/office/drawing/2014/main" id="{C03C5FA6-1653-CA04-07B9-6DC630C4A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15" descr="preencoded.png">
            <a:extLst>
              <a:ext uri="{FF2B5EF4-FFF2-40B4-BE49-F238E27FC236}">
                <a16:creationId xmlns:a16="http://schemas.microsoft.com/office/drawing/2014/main" id="{7C190E0D-D951-7752-8660-889E1F4A1A0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3900" y="9605237"/>
            <a:ext cx="68580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>
            <a:extLst>
              <a:ext uri="{FF2B5EF4-FFF2-40B4-BE49-F238E27FC236}">
                <a16:creationId xmlns:a16="http://schemas.microsoft.com/office/drawing/2014/main" id="{EAADC81A-C388-DBE2-4D81-4C345632CA04}"/>
              </a:ext>
            </a:extLst>
          </p:cNvPr>
          <p:cNvSpPr/>
          <p:nvPr/>
        </p:nvSpPr>
        <p:spPr>
          <a:xfrm>
            <a:off x="12144375" y="600075"/>
            <a:ext cx="5372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99155"/>
              </a:lnSpc>
              <a:spcBef>
                <a:spcPts val="0"/>
              </a:spcBef>
              <a:spcAft>
                <a:spcPts val="0"/>
              </a:spcAft>
              <a:buClr>
                <a:srgbClr val="233D80"/>
              </a:buClr>
              <a:buSzPts val="2250"/>
              <a:buFont typeface="Work Sans"/>
              <a:buNone/>
            </a:pPr>
            <a:r>
              <a:rPr lang="en-US" sz="2250">
                <a:solidFill>
                  <a:srgbClr val="233D80"/>
                </a:solidFill>
                <a:latin typeface="Work Sans"/>
                <a:ea typeface="Work Sans"/>
                <a:cs typeface="Work Sans"/>
                <a:sym typeface="Work Sans"/>
              </a:rPr>
              <a:t>Institut Teknologi Sepuluh Nopember 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>
            <a:extLst>
              <a:ext uri="{FF2B5EF4-FFF2-40B4-BE49-F238E27FC236}">
                <a16:creationId xmlns:a16="http://schemas.microsoft.com/office/drawing/2014/main" id="{0CD0D503-E164-8EAE-8DC2-BC9C6D1D28C9}"/>
              </a:ext>
            </a:extLst>
          </p:cNvPr>
          <p:cNvSpPr txBox="1">
            <a:spLocks noGrp="1"/>
          </p:cNvSpPr>
          <p:nvPr>
            <p:ph type="sldNum" idx="4294967295"/>
          </p:nvPr>
        </p:nvSpPr>
        <p:spPr>
          <a:xfrm>
            <a:off x="17465040" y="9669780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33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p15" title="Group 48098395.png">
            <a:extLst>
              <a:ext uri="{FF2B5EF4-FFF2-40B4-BE49-F238E27FC236}">
                <a16:creationId xmlns:a16="http://schemas.microsoft.com/office/drawing/2014/main" id="{1D4DE003-BD05-174A-5281-64EB66CC6C5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475" y="388563"/>
            <a:ext cx="3163839" cy="75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628D4E5C-5522-F0FC-8EC3-FBD6A2175E1B}"/>
              </a:ext>
            </a:extLst>
          </p:cNvPr>
          <p:cNvGrpSpPr/>
          <p:nvPr/>
        </p:nvGrpSpPr>
        <p:grpSpPr>
          <a:xfrm>
            <a:off x="-6667" y="1485480"/>
            <a:ext cx="1518284" cy="557215"/>
            <a:chOff x="19050" y="1796298"/>
            <a:chExt cx="1518284" cy="55721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EBD176A-B285-17BC-D1CC-40C54D144120}"/>
                </a:ext>
              </a:extLst>
            </p:cNvPr>
            <p:cNvSpPr/>
            <p:nvPr/>
          </p:nvSpPr>
          <p:spPr>
            <a:xfrm>
              <a:off x="19050" y="1796300"/>
              <a:ext cx="1256163" cy="557213"/>
            </a:xfrm>
            <a:prstGeom prst="rect">
              <a:avLst/>
            </a:prstGeom>
            <a:solidFill>
              <a:srgbClr val="007A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9B0EAF9-A9E2-429E-97FB-237164F4730E}"/>
                </a:ext>
              </a:extLst>
            </p:cNvPr>
            <p:cNvSpPr/>
            <p:nvPr/>
          </p:nvSpPr>
          <p:spPr>
            <a:xfrm>
              <a:off x="1275213" y="1796298"/>
              <a:ext cx="262121" cy="557213"/>
            </a:xfrm>
            <a:prstGeom prst="rect">
              <a:avLst/>
            </a:prstGeom>
            <a:solidFill>
              <a:srgbClr val="FEF01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DC4B3D1-113E-FEF8-6C90-425D7B74F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05659" y="1353416"/>
            <a:ext cx="13896975" cy="758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27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2513</TotalTime>
  <Words>804</Words>
  <Application>Microsoft Office PowerPoint</Application>
  <PresentationFormat>Custom</PresentationFormat>
  <Paragraphs>168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4" baseType="lpstr">
      <vt:lpstr>Calibri</vt:lpstr>
      <vt:lpstr>Work Sans ExtraBold</vt:lpstr>
      <vt:lpstr>Arial</vt:lpstr>
      <vt:lpstr>Times New Roman</vt:lpstr>
      <vt:lpstr>Work Sans Medium</vt:lpstr>
      <vt:lpstr>Cambria Math</vt:lpstr>
      <vt:lpstr>Artifakt Element Medium</vt:lpstr>
      <vt:lpstr>Wingdings</vt:lpstr>
      <vt:lpstr>Work Sans</vt:lpstr>
      <vt:lpstr>Artifakt Element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Fauzan Fakhrizal Azmi;ITS Desain</dc:creator>
  <cp:lastModifiedBy>Yoel Yhokhanan Sianipar</cp:lastModifiedBy>
  <cp:revision>63</cp:revision>
  <dcterms:created xsi:type="dcterms:W3CDTF">2026-01-05T06:15:44Z</dcterms:created>
  <dcterms:modified xsi:type="dcterms:W3CDTF">2026-07-03T00:52:54Z</dcterms:modified>
</cp:coreProperties>
</file>