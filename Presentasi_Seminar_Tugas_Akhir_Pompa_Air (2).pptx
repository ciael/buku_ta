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7" d="100"/>
          <a:sy n="57"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2099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Saya Yoel Yhokhanan Sianipar, NRP 5022221081. Pada seminar tugas akhir ini saya memaparkan Sistem Pengendalian Tekanan Pompa Air Berbasis Inverter dengan Neural Network, dibimbing Prof. Rivai dan Dr. Suwito.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 pertama, pendahuluan: latar belakang, rumusan masalah, batasan, dan tujuan penelitian.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Tekanan air rumah tangga tidak stabil ketika jumlah keran berubah: sedikit keran tekanan tinggi, banyak keran tekanan drop. Solusi umum bekerja di sisi keluaran. Penelitian ini mengendalikan dari sisi suplai daya via PWM AC chopper + neural network.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rumusan masalah: perancangan sistem kontrol terintegrasi inverter, dan penerapan neural network sebagai kendali tekanan. Tujuannya menjaga tekanan stabil pada beban berubah. Batasan: simulasi PSIM, pompa 1 fasa, lima keran, sumber baterai/PSU.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 dua, tinjauan pustaka: penelitian terdahulu dan dasar teori inverter, PWM AC chopper, karakteristik pompa, dan neural network.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Putra 2015 PWM AC chopper open-loop, Rosada 2017 TRIAC PID, Sabir &amp; Koshti 2023 PWM AC chopper RBFNN simulasi. Penelitian ini memakai PWM AC chopper full-bridge dengan neural network MLP, diuji langsung pada hardware.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Inverter full-bridge memotong tegangan AC secara bipolar. Tegangan RMS keluaran sebanding dengan duty cycle: Vout = D dikali Vin. Topologi PWM AC chopper memakai empat IGBT sebagai dua pasang leg komplementer.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Berdasarkan hukum afinitas, tekanan pompa sebanding dengan kuadrat kecepatan, sehingga mengatur tegangan suplai dapat mengatur tekanan. Neural network MLP mampu mempelajari pola hubungan masukan-keluaran nonlinier langsung dari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 tiga, metodologi: skema sistem closed-loop, perancangan rangkaian daya, perancangan pengendali neural network, akuisisi dataset, dan diagram alir penelitian.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Skema closed-loop: sensor tekanan mengukur tekanan, STM32 menjalankan neural network untuk menghasilkan duty cycle, diteruskan ke gate driver dan IGBT pada PWM AC chopper yang mengatur tegangan suplai pompa, sehingga tekanan dijaga pada setpoint walau jumlah keran berubah.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Rangkaian daya full-bridge empat IGBT FGH40N120AN. Komponen kritis: snubber RC 100 nanofarad dan 66 ohm, dead time 1,5 mikrodetik untuk mencegah shoot-through, frekuensi switching 5 kHz.</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Pengendali MLP 3-4-1: tiga masukan yaitu galat, perubahan galat, dan duty cycle; satu keluaran yaitu perubahan duty cycle yang diakumulasi dan dibatasi 70 sampai 95 persen. Hanya 21 parameter sehingga ringan di STM32. Dilatih dengan behavior cloning dari data closed-loop.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diakuisisi closed-loop manual mengejar setpoint dengan aturan koreksi bertingkat berdasarkan galat. Terkumpul 12 berkas, 16 episode, 453 baris siap latih, dibagi 70-10-20. Dilatih dengan solver L-BFGS dan loss MSE.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penelitian dari studi literatur, perancangan, simulasi PSIM, implementasi hardware, akuisisi dataset, pelatihan NN, deployment ke STM32, pengujian, hingga analisis. Perangkat utama: STM32U545RE, IGBT FGH40N120AN, gate driver HCPL-3120, sensor DFRobot, pompa GP125.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 empat, hasil dan pembahasan: pengujian sinyal PWM dan dead time, rangkaian PWM AC chopper, model neural network, serta pengujian sistem kendali tekanan secara penuh.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Duty cycle terukur sangat dekat dengan yang diatur, selisih di bawah 1 persen. Dead time terukur 1,48 dan 1,49 mikrodetik, sesuai rancangan 1,5 mikrodetik, sehingga tidak terjadi shoot-through.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Tegangan RMS keluaran sangat dekat dengan teori Vout sama dengan D dikali Vin, selisih rata-rata hanya 0,69 persen di bawah 1 persen. Rangkaian mengatur tegangan secara linear dan akurat terhadap duty cycle.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mencapai R kuadrat 0,915 dengan RMSE 0,463 dan MAE 0,329 persen duty. Mengungguli baseline tanpa aksi dan baseline proporsional, membuktikan NN benar-benar mempelajari kendali nonlinier.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Kontroler mencapai setpoint 0,30 bar pada 1 sampai 4 keran dengan galat tunak sangat kecil, di bawah atau sama dengan 0,009 bar. Pada 0 keran terjadi saturasi aktuator: tekanan minimum pompa sudah di atas setpoint, batas fisik, bukan kegagalan kontroler.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Setpoint divariasikan 0,25 sampai 0,35 bar. Setelah sistem mapan, perubahan setpoint ditangani dalam 4 sampai 7 detik dengan galat tunak di bawah 0,015 bar. Kontroler mampu menggeneralisasi ke setpoint di luar pelatihan utama.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Gangguan diberikan dengan membuka atau menutup keran mendadak. Kontroler memulihkan tekanan ke setpoint dalam 9 sampai 15 detik. Pada gangguan terbesar 3 ke 1 keran, deviasi 0,212 bar pulih dalam 9,3 detik. Pengecualian 2 ke 4 keran karena saturasi pompa.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 lima, penutup: kesimpulan dan saran.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kesimpulan: rangkaian daya berhasil dengan dead time terverifikasi dan error tegangan di bawah 1 persen; neural network MLP 3-4-1 mencapai R kuadrat 0,915; sistem menjaga tekanan dengan galat tunak kecil, menolak gangguan, dan mengikuti perubahan setpoint.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Saran: perbaiki snubber dan tambah pendingin; integrasikan langsung dengan inverter PLTS menjadi solar water pump inverter; perluas dataset terutama arah turun; optimasi model di STM32 dan uji jangka panjang.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Saya siap menerima pertanyaan dan masukan dari Bapak/Ibu penguji.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B5A93">
                  <a:alpha val="100000"/>
                </a:srgbClr>
              </a:gs>
              <a:gs pos="48000">
                <a:srgbClr val="0C3157">
                  <a:alpha val="100000"/>
                </a:srgbClr>
              </a:gs>
              <a:gs pos="100000">
                <a:srgbClr val="071F38">
                  <a:alpha val="100000"/>
                </a:srgbClr>
              </a:gs>
            </a:gsLst>
            <a:path path="circle">
              <a:fillToRect l="80000" r="20000" b="100000"/>
            </a:path>
          </a:gradFill>
          <a:ln/>
        </p:spPr>
      </p:sp>
      <p:sp>
        <p:nvSpPr>
          <p:cNvPr id="3" name="Shape 1"/>
          <p:cNvSpPr/>
          <p:nvPr/>
        </p:nvSpPr>
        <p:spPr>
          <a:xfrm>
            <a:off x="800100" y="571500"/>
            <a:ext cx="5139690" cy="464820"/>
          </a:xfrm>
          <a:prstGeom prst="roundRect">
            <a:avLst>
              <a:gd name="adj" fmla="val 50000"/>
            </a:avLst>
          </a:prstGeom>
          <a:ln w="7620">
            <a:solidFill>
              <a:srgbClr val="7FC0FF">
                <a:alpha val="50000"/>
              </a:srgbClr>
            </a:solidFill>
            <a:prstDash val="solid"/>
          </a:ln>
        </p:spPr>
      </p:sp>
      <p:sp>
        <p:nvSpPr>
          <p:cNvPr id="4" name="Text 2"/>
          <p:cNvSpPr/>
          <p:nvPr/>
        </p:nvSpPr>
        <p:spPr>
          <a:xfrm>
            <a:off x="998220" y="674370"/>
            <a:ext cx="4897641" cy="297180"/>
          </a:xfrm>
          <a:prstGeom prst="rect">
            <a:avLst/>
          </a:prstGeom>
          <a:noFill/>
          <a:ln/>
        </p:spPr>
        <p:txBody>
          <a:bodyPr wrap="square" lIns="25400" tIns="25400" rIns="25400" bIns="25400" rtlCol="0" anchor="t">
            <a:normAutofit/>
          </a:bodyPr>
          <a:lstStyle/>
          <a:p>
            <a:pPr marL="0" indent="0" algn="l">
              <a:buNone/>
            </a:pPr>
            <a:r>
              <a:rPr lang="en-US" sz="1575" kern="0" spc="300" dirty="0">
                <a:solidFill>
                  <a:srgbClr val="7FC0FF"/>
                </a:solidFill>
                <a:latin typeface="Arial" pitchFamily="34" charset="0"/>
                <a:ea typeface="Arial" pitchFamily="34" charset="-122"/>
                <a:cs typeface="Arial" pitchFamily="34" charset="-120"/>
              </a:rPr>
              <a:t>SEMINAR TUGAS AKHIR · EE234799</a:t>
            </a:r>
            <a:endParaRPr lang="en-US" sz="1575" dirty="0"/>
          </a:p>
        </p:txBody>
      </p:sp>
      <p:pic>
        <p:nvPicPr>
          <p:cNvPr id="5" name="Image 0" descr="preencoded.png"/>
          <p:cNvPicPr>
            <a:picLocks noChangeAspect="1"/>
          </p:cNvPicPr>
          <p:nvPr/>
        </p:nvPicPr>
        <p:blipFill>
          <a:blip r:embed="rId3"/>
          <a:stretch>
            <a:fillRect/>
          </a:stretch>
        </p:blipFill>
        <p:spPr>
          <a:xfrm>
            <a:off x="15526941" y="571500"/>
            <a:ext cx="963930" cy="628650"/>
          </a:xfrm>
          <a:prstGeom prst="rect">
            <a:avLst/>
          </a:prstGeom>
        </p:spPr>
      </p:pic>
      <p:pic>
        <p:nvPicPr>
          <p:cNvPr id="6" name="Image 1" descr="preencoded.png"/>
          <p:cNvPicPr>
            <a:picLocks noChangeAspect="1"/>
          </p:cNvPicPr>
          <p:nvPr/>
        </p:nvPicPr>
        <p:blipFill>
          <a:blip r:embed="rId4"/>
          <a:stretch>
            <a:fillRect/>
          </a:stretch>
        </p:blipFill>
        <p:spPr>
          <a:xfrm>
            <a:off x="16738521" y="571500"/>
            <a:ext cx="749379" cy="628650"/>
          </a:xfrm>
          <a:prstGeom prst="rect">
            <a:avLst/>
          </a:prstGeom>
        </p:spPr>
      </p:pic>
      <p:sp>
        <p:nvSpPr>
          <p:cNvPr id="7" name="Text 3"/>
          <p:cNvSpPr/>
          <p:nvPr/>
        </p:nvSpPr>
        <p:spPr>
          <a:xfrm>
            <a:off x="800100" y="3331131"/>
            <a:ext cx="18356580" cy="312420"/>
          </a:xfrm>
          <a:prstGeom prst="rect">
            <a:avLst/>
          </a:prstGeom>
          <a:noFill/>
          <a:ln/>
        </p:spPr>
        <p:txBody>
          <a:bodyPr wrap="square" lIns="25400" tIns="25400" rIns="25400" bIns="25400" rtlCol="0" anchor="t">
            <a:normAutofit/>
          </a:bodyPr>
          <a:lstStyle/>
          <a:p>
            <a:pPr marL="0" indent="0" algn="l">
              <a:buNone/>
            </a:pPr>
            <a:r>
              <a:rPr lang="en-US" sz="1650" kern="0" spc="225" dirty="0">
                <a:solidFill>
                  <a:srgbClr val="9FC2E2"/>
                </a:solidFill>
                <a:latin typeface="Arial" pitchFamily="34" charset="0"/>
                <a:ea typeface="Arial" pitchFamily="34" charset="-122"/>
                <a:cs typeface="Arial" pitchFamily="34" charset="-120"/>
              </a:rPr>
              <a:t>DEPARTEMEN TEKNIK ELEKTRO · ITS · 2026</a:t>
            </a:r>
            <a:endParaRPr lang="en-US" sz="1650" dirty="0"/>
          </a:p>
        </p:txBody>
      </p:sp>
      <p:sp>
        <p:nvSpPr>
          <p:cNvPr id="8" name="Text 4"/>
          <p:cNvSpPr/>
          <p:nvPr/>
        </p:nvSpPr>
        <p:spPr>
          <a:xfrm>
            <a:off x="800100" y="4077653"/>
            <a:ext cx="15304770" cy="1518285"/>
          </a:xfrm>
          <a:prstGeom prst="rect">
            <a:avLst/>
          </a:prstGeom>
          <a:noFill/>
          <a:ln/>
        </p:spPr>
        <p:txBody>
          <a:bodyPr wrap="square" lIns="25400" tIns="25400" rIns="25400" bIns="25400" rtlCol="0" anchor="t">
            <a:normAutofit/>
          </a:bodyPr>
          <a:lstStyle/>
          <a:p>
            <a:pPr marL="0" indent="0" algn="l">
              <a:lnSpc>
                <a:spcPct val="105000"/>
              </a:lnSpc>
              <a:buNone/>
            </a:pPr>
            <a:r>
              <a:rPr lang="en-US" sz="5550" b="1" kern="0" spc="-112" dirty="0">
                <a:solidFill>
                  <a:srgbClr val="FFFFFF"/>
                </a:solidFill>
                <a:latin typeface="Arial" pitchFamily="34" charset="0"/>
                <a:ea typeface="Arial" pitchFamily="34" charset="-122"/>
                <a:cs typeface="Arial" pitchFamily="34" charset="-120"/>
              </a:rPr>
              <a:t>Sistem Pengendalian Tekanan Pompa Air Berbasis Inverter dengan Neural Network</a:t>
            </a:r>
            <a:endParaRPr lang="en-US" sz="5550" dirty="0"/>
          </a:p>
        </p:txBody>
      </p:sp>
      <p:sp>
        <p:nvSpPr>
          <p:cNvPr id="9" name="Shape 5"/>
          <p:cNvSpPr/>
          <p:nvPr/>
        </p:nvSpPr>
        <p:spPr>
          <a:xfrm>
            <a:off x="800100" y="6030039"/>
            <a:ext cx="1143000" cy="57150"/>
          </a:xfrm>
          <a:prstGeom prst="roundRect">
            <a:avLst>
              <a:gd name="adj" fmla="val 50000"/>
            </a:avLst>
          </a:prstGeom>
          <a:solidFill>
            <a:srgbClr val="2E86DE"/>
          </a:solidFill>
          <a:ln/>
        </p:spPr>
      </p:sp>
      <p:sp>
        <p:nvSpPr>
          <p:cNvPr id="10" name="Text 6"/>
          <p:cNvSpPr/>
          <p:nvPr/>
        </p:nvSpPr>
        <p:spPr>
          <a:xfrm>
            <a:off x="800100" y="6411039"/>
            <a:ext cx="2810459" cy="251460"/>
          </a:xfrm>
          <a:prstGeom prst="rect">
            <a:avLst/>
          </a:prstGeom>
          <a:noFill/>
          <a:ln/>
        </p:spPr>
        <p:txBody>
          <a:bodyPr wrap="square" lIns="25400" tIns="25400" rIns="25400" bIns="25400" rtlCol="0" anchor="t">
            <a:normAutofit/>
          </a:bodyPr>
          <a:lstStyle/>
          <a:p>
            <a:pPr marL="0" indent="0" algn="l">
              <a:buNone/>
            </a:pPr>
            <a:r>
              <a:rPr lang="en-US" sz="1275" kern="0" spc="150" dirty="0">
                <a:solidFill>
                  <a:srgbClr val="7FC0FF"/>
                </a:solidFill>
                <a:latin typeface="Arial" pitchFamily="34" charset="0"/>
                <a:ea typeface="Arial" pitchFamily="34" charset="-122"/>
                <a:cs typeface="Arial" pitchFamily="34" charset="-120"/>
              </a:rPr>
              <a:t>PENYUSUN</a:t>
            </a:r>
            <a:endParaRPr lang="en-US" sz="1275" dirty="0"/>
          </a:p>
        </p:txBody>
      </p:sp>
      <p:sp>
        <p:nvSpPr>
          <p:cNvPr id="11" name="Text 7"/>
          <p:cNvSpPr/>
          <p:nvPr/>
        </p:nvSpPr>
        <p:spPr>
          <a:xfrm>
            <a:off x="800100" y="6700600"/>
            <a:ext cx="2631611" cy="685800"/>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EAF3FC"/>
                </a:solidFill>
                <a:latin typeface="Arial" pitchFamily="34" charset="0"/>
                <a:ea typeface="Arial" pitchFamily="34" charset="-122"/>
                <a:cs typeface="Arial" pitchFamily="34" charset="-120"/>
              </a:rPr>
              <a:t>Yoel Yhokhanan Sianipar </a:t>
            </a:r>
            <a:r>
              <a:rPr lang="en-US" sz="1800" dirty="0">
                <a:solidFill>
                  <a:srgbClr val="EAF3FC"/>
                </a:solidFill>
                <a:latin typeface="Arial" pitchFamily="34" charset="0"/>
                <a:ea typeface="Arial" pitchFamily="34" charset="-122"/>
                <a:cs typeface="Arial" pitchFamily="34" charset="-120"/>
              </a:rPr>
              <a:t>NRP 5022221081</a:t>
            </a:r>
            <a:endParaRPr lang="en-US" sz="1800" dirty="0"/>
          </a:p>
        </p:txBody>
      </p:sp>
      <p:sp>
        <p:nvSpPr>
          <p:cNvPr id="12" name="Text 8"/>
          <p:cNvSpPr/>
          <p:nvPr/>
        </p:nvSpPr>
        <p:spPr>
          <a:xfrm>
            <a:off x="4021812" y="6411039"/>
            <a:ext cx="3982236" cy="251460"/>
          </a:xfrm>
          <a:prstGeom prst="rect">
            <a:avLst/>
          </a:prstGeom>
          <a:noFill/>
          <a:ln/>
        </p:spPr>
        <p:txBody>
          <a:bodyPr wrap="square" lIns="25400" tIns="25400" rIns="25400" bIns="25400" rtlCol="0" anchor="t">
            <a:normAutofit/>
          </a:bodyPr>
          <a:lstStyle/>
          <a:p>
            <a:pPr marL="0" indent="0" algn="l">
              <a:buNone/>
            </a:pPr>
            <a:r>
              <a:rPr lang="en-US" sz="1275" kern="0" spc="150" dirty="0">
                <a:solidFill>
                  <a:srgbClr val="7FC0FF"/>
                </a:solidFill>
                <a:latin typeface="Arial" pitchFamily="34" charset="0"/>
                <a:ea typeface="Arial" pitchFamily="34" charset="-122"/>
                <a:cs typeface="Arial" pitchFamily="34" charset="-120"/>
              </a:rPr>
              <a:t>DOSEN PEMBIMBING</a:t>
            </a:r>
            <a:endParaRPr lang="en-US" sz="1275" dirty="0"/>
          </a:p>
        </p:txBody>
      </p:sp>
      <p:sp>
        <p:nvSpPr>
          <p:cNvPr id="13" name="Text 9"/>
          <p:cNvSpPr/>
          <p:nvPr/>
        </p:nvSpPr>
        <p:spPr>
          <a:xfrm>
            <a:off x="4021812" y="6700600"/>
            <a:ext cx="3728821"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EAF3FC"/>
                </a:solidFill>
                <a:latin typeface="Arial" pitchFamily="34" charset="0"/>
                <a:ea typeface="Arial" pitchFamily="34" charset="-122"/>
                <a:cs typeface="Arial" pitchFamily="34" charset="-120"/>
              </a:rPr>
              <a:t>Prof. Dr. Muhammad Rivai, S.T., M.T. Dr. Suwito, S.T., M.T.</a:t>
            </a:r>
            <a:endParaRPr lang="en-US" sz="1800" dirty="0"/>
          </a:p>
        </p:txBody>
      </p:sp>
      <p:sp>
        <p:nvSpPr>
          <p:cNvPr id="14" name="Text 10"/>
          <p:cNvSpPr/>
          <p:nvPr/>
        </p:nvSpPr>
        <p:spPr>
          <a:xfrm>
            <a:off x="8308777" y="6411039"/>
            <a:ext cx="5194745" cy="251460"/>
          </a:xfrm>
          <a:prstGeom prst="rect">
            <a:avLst/>
          </a:prstGeom>
          <a:noFill/>
          <a:ln/>
        </p:spPr>
        <p:txBody>
          <a:bodyPr wrap="square" lIns="25400" tIns="25400" rIns="25400" bIns="25400" rtlCol="0" anchor="t">
            <a:normAutofit/>
          </a:bodyPr>
          <a:lstStyle/>
          <a:p>
            <a:pPr marL="0" indent="0" algn="l">
              <a:buNone/>
            </a:pPr>
            <a:r>
              <a:rPr lang="en-US" sz="1275" kern="0" spc="150" dirty="0">
                <a:solidFill>
                  <a:srgbClr val="7FC0FF"/>
                </a:solidFill>
                <a:latin typeface="Arial" pitchFamily="34" charset="0"/>
                <a:ea typeface="Arial" pitchFamily="34" charset="-122"/>
                <a:cs typeface="Arial" pitchFamily="34" charset="-120"/>
              </a:rPr>
              <a:t>DOSEN PENGUJI</a:t>
            </a:r>
            <a:endParaRPr lang="en-US" sz="1275" dirty="0"/>
          </a:p>
        </p:txBody>
      </p:sp>
      <p:sp>
        <p:nvSpPr>
          <p:cNvPr id="15" name="Text 11"/>
          <p:cNvSpPr/>
          <p:nvPr/>
        </p:nvSpPr>
        <p:spPr>
          <a:xfrm>
            <a:off x="8308777" y="6700600"/>
            <a:ext cx="4864170"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EAF3FC"/>
                </a:solidFill>
                <a:latin typeface="Arial" pitchFamily="34" charset="0"/>
                <a:ea typeface="Arial" pitchFamily="34" charset="-122"/>
                <a:cs typeface="Arial" pitchFamily="34" charset="-120"/>
              </a:rPr>
              <a:t>Astria Nur Irfansyah, S.T., M.Eng., Ph.D. Dr. Rudy Dikairono, S.T., M.T. · Ir. Tasripan, M.T.</a:t>
            </a:r>
            <a:endParaRPr lang="en-US" sz="1800" dirty="0"/>
          </a:p>
        </p:txBody>
      </p:sp>
      <p:sp>
        <p:nvSpPr>
          <p:cNvPr id="16" name="Text 12"/>
          <p:cNvSpPr/>
          <p:nvPr/>
        </p:nvSpPr>
        <p:spPr>
          <a:xfrm>
            <a:off x="800100" y="9479280"/>
            <a:ext cx="5122974" cy="312420"/>
          </a:xfrm>
          <a:prstGeom prst="rect">
            <a:avLst/>
          </a:prstGeom>
          <a:noFill/>
          <a:ln/>
        </p:spPr>
        <p:txBody>
          <a:bodyPr wrap="square" lIns="25400" tIns="25400" rIns="25400" bIns="25400" rtlCol="0" anchor="t">
            <a:normAutofit/>
          </a:bodyPr>
          <a:lstStyle/>
          <a:p>
            <a:pPr marL="0" indent="0" algn="l">
              <a:buNone/>
            </a:pPr>
            <a:r>
              <a:rPr lang="en-US" sz="1650" dirty="0">
                <a:solidFill>
                  <a:srgbClr val="BCD3E8"/>
                </a:solidFill>
                <a:latin typeface="Arial" pitchFamily="34" charset="0"/>
                <a:ea typeface="Arial" pitchFamily="34" charset="-122"/>
                <a:cs typeface="Arial" pitchFamily="34" charset="-120"/>
              </a:rPr>
              <a:t>Institut Teknologi Sepuluh Nopember — Surabaya</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5426E">
                  <a:alpha val="100000"/>
                </a:srgbClr>
              </a:gs>
              <a:gs pos="55000">
                <a:srgbClr val="0A2A4A">
                  <a:alpha val="100000"/>
                </a:srgbClr>
              </a:gs>
              <a:gs pos="100000">
                <a:srgbClr val="071F38">
                  <a:alpha val="100000"/>
                </a:srgbClr>
              </a:gs>
            </a:gsLst>
            <a:path path="circle">
              <a:fillToRect l="78000" t="8000" r="22000" b="92000"/>
            </a:path>
          </a:gradFill>
          <a:ln/>
        </p:spPr>
      </p:sp>
      <p:sp>
        <p:nvSpPr>
          <p:cNvPr id="3" name="Text 1"/>
          <p:cNvSpPr/>
          <p:nvPr/>
        </p:nvSpPr>
        <p:spPr>
          <a:xfrm>
            <a:off x="800100" y="3523297"/>
            <a:ext cx="18356580" cy="403860"/>
          </a:xfrm>
          <a:prstGeom prst="rect">
            <a:avLst/>
          </a:prstGeom>
          <a:noFill/>
          <a:ln/>
        </p:spPr>
        <p:txBody>
          <a:bodyPr wrap="square" lIns="25400" tIns="25400" rIns="25400" bIns="25400" rtlCol="0" anchor="t">
            <a:normAutofit/>
          </a:bodyPr>
          <a:lstStyle/>
          <a:p>
            <a:pPr marL="0" indent="0" algn="l">
              <a:buNone/>
            </a:pPr>
            <a:r>
              <a:rPr lang="en-US" sz="2250" kern="0" spc="450" dirty="0">
                <a:solidFill>
                  <a:srgbClr val="7FC0FF"/>
                </a:solidFill>
                <a:latin typeface="Arial" pitchFamily="34" charset="0"/>
                <a:ea typeface="Arial" pitchFamily="34" charset="-122"/>
                <a:cs typeface="Arial" pitchFamily="34" charset="-120"/>
              </a:rPr>
              <a:t>BAB I</a:t>
            </a:r>
            <a:endParaRPr lang="en-US" sz="2250" dirty="0"/>
          </a:p>
        </p:txBody>
      </p:sp>
      <p:sp>
        <p:nvSpPr>
          <p:cNvPr id="4" name="Text 2"/>
          <p:cNvSpPr/>
          <p:nvPr/>
        </p:nvSpPr>
        <p:spPr>
          <a:xfrm>
            <a:off x="800100" y="4022408"/>
            <a:ext cx="18356580" cy="952500"/>
          </a:xfrm>
          <a:prstGeom prst="rect">
            <a:avLst/>
          </a:prstGeom>
          <a:noFill/>
          <a:ln/>
        </p:spPr>
        <p:txBody>
          <a:bodyPr wrap="square" lIns="25400" tIns="25400" rIns="25400" bIns="25400" rtlCol="0" anchor="t">
            <a:normAutofit/>
          </a:bodyPr>
          <a:lstStyle/>
          <a:p>
            <a:pPr marL="0" indent="0" algn="l">
              <a:lnSpc>
                <a:spcPct val="100000"/>
              </a:lnSpc>
              <a:buNone/>
            </a:pPr>
            <a:r>
              <a:rPr lang="en-US" sz="7200" b="1" kern="0" spc="-112" dirty="0">
                <a:solidFill>
                  <a:srgbClr val="FFFFFF"/>
                </a:solidFill>
                <a:latin typeface="Arial" pitchFamily="34" charset="0"/>
                <a:ea typeface="Arial" pitchFamily="34" charset="-122"/>
                <a:cs typeface="Arial" pitchFamily="34" charset="-120"/>
              </a:rPr>
              <a:t>Pendahuluan</a:t>
            </a:r>
            <a:endParaRPr lang="en-US" sz="7200" dirty="0"/>
          </a:p>
        </p:txBody>
      </p:sp>
      <p:sp>
        <p:nvSpPr>
          <p:cNvPr id="5" name="Shape 3"/>
          <p:cNvSpPr/>
          <p:nvPr/>
        </p:nvSpPr>
        <p:spPr>
          <a:xfrm>
            <a:off x="800100" y="5260657"/>
            <a:ext cx="1143000" cy="57150"/>
          </a:xfrm>
          <a:prstGeom prst="roundRect">
            <a:avLst>
              <a:gd name="adj" fmla="val 50000"/>
            </a:avLst>
          </a:prstGeom>
          <a:solidFill>
            <a:srgbClr val="2E86DE"/>
          </a:solidFill>
          <a:ln/>
        </p:spPr>
      </p:sp>
      <p:sp>
        <p:nvSpPr>
          <p:cNvPr id="6" name="Text 4"/>
          <p:cNvSpPr/>
          <p:nvPr/>
        </p:nvSpPr>
        <p:spPr>
          <a:xfrm>
            <a:off x="800100" y="5603557"/>
            <a:ext cx="12573000" cy="39814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AFC6DE"/>
                </a:solidFill>
                <a:latin typeface="Arial" pitchFamily="34" charset="0"/>
                <a:ea typeface="Arial" pitchFamily="34" charset="-122"/>
                <a:cs typeface="Arial" pitchFamily="34" charset="-120"/>
              </a:rPr>
              <a:t>Latar belakang masalah tekanan pompa air, rumusan masalah, batasan, dan tujuan penelitian.</a:t>
            </a:r>
            <a:endParaRPr lang="en-US" sz="2025" dirty="0"/>
          </a:p>
        </p:txBody>
      </p:sp>
      <p:sp>
        <p:nvSpPr>
          <p:cNvPr id="7" name="Shape 5"/>
          <p:cNvSpPr/>
          <p:nvPr/>
        </p:nvSpPr>
        <p:spPr>
          <a:xfrm>
            <a:off x="0" y="9486900"/>
            <a:ext cx="18288000" cy="9525"/>
          </a:xfrm>
          <a:prstGeom prst="rect">
            <a:avLst/>
          </a:prstGeom>
          <a:solidFill>
            <a:srgbClr val="E1E9F2"/>
          </a:solidFill>
          <a:ln/>
        </p:spPr>
      </p:sp>
      <p:sp>
        <p:nvSpPr>
          <p:cNvPr id="8" name="Shape 6"/>
          <p:cNvSpPr/>
          <p:nvPr/>
        </p:nvSpPr>
        <p:spPr>
          <a:xfrm>
            <a:off x="800100" y="10023158"/>
            <a:ext cx="1063109" cy="22860"/>
          </a:xfrm>
          <a:prstGeom prst="rect">
            <a:avLst/>
          </a:prstGeom>
          <a:solidFill>
            <a:srgbClr val="2E86DE"/>
          </a:solidFill>
          <a:ln/>
        </p:spPr>
      </p:sp>
      <p:sp>
        <p:nvSpPr>
          <p:cNvPr id="9" name="Text 7"/>
          <p:cNvSpPr/>
          <p:nvPr/>
        </p:nvSpPr>
        <p:spPr>
          <a:xfrm>
            <a:off x="800100" y="9758363"/>
            <a:ext cx="1139309"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Pendahuluan</a:t>
            </a:r>
            <a:endParaRPr lang="en-US" sz="1350" dirty="0"/>
          </a:p>
        </p:txBody>
      </p:sp>
      <p:sp>
        <p:nvSpPr>
          <p:cNvPr id="10" name="Text 8"/>
          <p:cNvSpPr/>
          <p:nvPr/>
        </p:nvSpPr>
        <p:spPr>
          <a:xfrm>
            <a:off x="2148959"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11" name="Text 9"/>
          <p:cNvSpPr/>
          <p:nvPr/>
        </p:nvSpPr>
        <p:spPr>
          <a:xfrm>
            <a:off x="4156829"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12" name="Text 10"/>
          <p:cNvSpPr/>
          <p:nvPr/>
        </p:nvSpPr>
        <p:spPr>
          <a:xfrm>
            <a:off x="5518904"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13" name="Text 11"/>
          <p:cNvSpPr/>
          <p:nvPr/>
        </p:nvSpPr>
        <p:spPr>
          <a:xfrm>
            <a:off x="7742039"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14" name="Text 12"/>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3873794"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 · PENDAHULUAN</a:t>
            </a:r>
            <a:endParaRPr lang="en-US" sz="1500" dirty="0"/>
          </a:p>
        </p:txBody>
      </p:sp>
      <p:sp>
        <p:nvSpPr>
          <p:cNvPr id="5" name="Text 3"/>
          <p:cNvSpPr/>
          <p:nvPr/>
        </p:nvSpPr>
        <p:spPr>
          <a:xfrm>
            <a:off x="1108710" y="830580"/>
            <a:ext cx="3873794"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Latar Belakang</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Text 4"/>
          <p:cNvSpPr/>
          <p:nvPr/>
        </p:nvSpPr>
        <p:spPr>
          <a:xfrm>
            <a:off x="800100" y="1956792"/>
            <a:ext cx="8427434" cy="124587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33495F"/>
                </a:solidFill>
                <a:latin typeface="Arial" pitchFamily="34" charset="0"/>
                <a:ea typeface="Arial" pitchFamily="34" charset="-122"/>
                <a:cs typeface="Arial" pitchFamily="34" charset="-120"/>
              </a:rPr>
              <a:t>Tekanan air pompa rumah tangga </a:t>
            </a:r>
            <a:r>
              <a:rPr lang="en-US" sz="2250" b="1" dirty="0">
                <a:solidFill>
                  <a:srgbClr val="1763A6"/>
                </a:solidFill>
                <a:latin typeface="Arial" pitchFamily="34" charset="0"/>
                <a:ea typeface="Arial" pitchFamily="34" charset="-122"/>
                <a:cs typeface="Arial" pitchFamily="34" charset="-120"/>
              </a:rPr>
              <a:t>tidak stabil </a:t>
            </a:r>
            <a:r>
              <a:rPr lang="en-US" sz="2250" dirty="0">
                <a:solidFill>
                  <a:srgbClr val="33495F"/>
                </a:solidFill>
                <a:latin typeface="Arial" pitchFamily="34" charset="0"/>
                <a:ea typeface="Arial" pitchFamily="34" charset="-122"/>
                <a:cs typeface="Arial" pitchFamily="34" charset="-120"/>
              </a:rPr>
              <a:t>ketika jumlah keran berubah — sedikit keran membuat tekanan melonjak, banyak keran membuat tekanan turun drastis.</a:t>
            </a:r>
            <a:endParaRPr lang="en-US" sz="2250" dirty="0"/>
          </a:p>
        </p:txBody>
      </p:sp>
      <p:sp>
        <p:nvSpPr>
          <p:cNvPr id="9" name="Text 5"/>
          <p:cNvSpPr/>
          <p:nvPr/>
        </p:nvSpPr>
        <p:spPr>
          <a:xfrm>
            <a:off x="1123950" y="3621762"/>
            <a:ext cx="8103584" cy="797004"/>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PLTS atap rumah tangga terus naik; </a:t>
            </a:r>
            <a:r>
              <a:rPr lang="en-US" sz="2175" b="1" dirty="0">
                <a:solidFill>
                  <a:srgbClr val="1763A6"/>
                </a:solidFill>
                <a:latin typeface="Arial" pitchFamily="34" charset="0"/>
                <a:ea typeface="Arial" pitchFamily="34" charset="-122"/>
                <a:cs typeface="Arial" pitchFamily="34" charset="-120"/>
              </a:rPr>
              <a:t>inverter </a:t>
            </a:r>
            <a:r>
              <a:rPr lang="en-US" sz="2175" dirty="0">
                <a:solidFill>
                  <a:srgbClr val="2C4259"/>
                </a:solidFill>
                <a:latin typeface="Arial" pitchFamily="34" charset="0"/>
                <a:ea typeface="Arial" pitchFamily="34" charset="-122"/>
                <a:cs typeface="Arial" pitchFamily="34" charset="-120"/>
              </a:rPr>
              <a:t>menjadi kunci konversi DC → AC.</a:t>
            </a:r>
            <a:endParaRPr lang="en-US" sz="2175" dirty="0"/>
          </a:p>
        </p:txBody>
      </p:sp>
      <p:sp>
        <p:nvSpPr>
          <p:cNvPr id="10" name="Text 6"/>
          <p:cNvSpPr/>
          <p:nvPr/>
        </p:nvSpPr>
        <p:spPr>
          <a:xfrm>
            <a:off x="1123950" y="4533067"/>
            <a:ext cx="8103584" cy="804624"/>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Solusi lama (</a:t>
            </a:r>
            <a:r>
              <a:rPr lang="en-US" sz="2175" b="1" dirty="0">
                <a:solidFill>
                  <a:srgbClr val="1763A6"/>
                </a:solidFill>
                <a:latin typeface="Arial" pitchFamily="34" charset="0"/>
                <a:ea typeface="Arial" pitchFamily="34" charset="-122"/>
                <a:cs typeface="Arial" pitchFamily="34" charset="-120"/>
              </a:rPr>
              <a:t>pressure switch / APC / TRIAC–PID</a:t>
            </a:r>
            <a:r>
              <a:rPr lang="en-US" sz="2175" dirty="0">
                <a:solidFill>
                  <a:srgbClr val="2C4259"/>
                </a:solidFill>
                <a:latin typeface="Arial" pitchFamily="34" charset="0"/>
                <a:ea typeface="Arial" pitchFamily="34" charset="-122"/>
                <a:cs typeface="Arial" pitchFamily="34" charset="-120"/>
              </a:rPr>
              <a:t>) bekerja pada </a:t>
            </a:r>
            <a:r>
              <a:rPr lang="en-US" sz="2175" b="1" dirty="0">
                <a:solidFill>
                  <a:srgbClr val="1763A6"/>
                </a:solidFill>
                <a:latin typeface="Arial" pitchFamily="34" charset="0"/>
                <a:ea typeface="Arial" pitchFamily="34" charset="-122"/>
                <a:cs typeface="Arial" pitchFamily="34" charset="-120"/>
              </a:rPr>
              <a:t>sisi keluaran </a:t>
            </a:r>
            <a:r>
              <a:rPr lang="en-US" sz="2175" dirty="0">
                <a:solidFill>
                  <a:srgbClr val="2C4259"/>
                </a:solidFill>
                <a:latin typeface="Arial" pitchFamily="34" charset="0"/>
                <a:ea typeface="Arial" pitchFamily="34" charset="-122"/>
                <a:cs typeface="Arial" pitchFamily="34" charset="-120"/>
              </a:rPr>
              <a:t>pompa.</a:t>
            </a:r>
            <a:endParaRPr lang="en-US" sz="2175" dirty="0"/>
          </a:p>
        </p:txBody>
      </p:sp>
      <p:sp>
        <p:nvSpPr>
          <p:cNvPr id="11" name="Text 7"/>
          <p:cNvSpPr/>
          <p:nvPr/>
        </p:nvSpPr>
        <p:spPr>
          <a:xfrm>
            <a:off x="1123950" y="5451991"/>
            <a:ext cx="8103584" cy="797004"/>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Usulan: kendalikan tekanan dari </a:t>
            </a:r>
            <a:r>
              <a:rPr lang="en-US" sz="2175" b="1" dirty="0">
                <a:solidFill>
                  <a:srgbClr val="1763A6"/>
                </a:solidFill>
                <a:latin typeface="Arial" pitchFamily="34" charset="0"/>
                <a:ea typeface="Arial" pitchFamily="34" charset="-122"/>
                <a:cs typeface="Arial" pitchFamily="34" charset="-120"/>
              </a:rPr>
              <a:t>sisi suplai daya </a:t>
            </a:r>
            <a:r>
              <a:rPr lang="en-US" sz="2175" dirty="0">
                <a:solidFill>
                  <a:srgbClr val="2C4259"/>
                </a:solidFill>
                <a:latin typeface="Arial" pitchFamily="34" charset="0"/>
                <a:ea typeface="Arial" pitchFamily="34" charset="-122"/>
                <a:cs typeface="Arial" pitchFamily="34" charset="-120"/>
              </a:rPr>
              <a:t>lewat PWM AC chopper + neural network.</a:t>
            </a:r>
            <a:endParaRPr lang="en-US" sz="2175" dirty="0"/>
          </a:p>
        </p:txBody>
      </p:sp>
      <p:sp>
        <p:nvSpPr>
          <p:cNvPr id="12" name="Text 8"/>
          <p:cNvSpPr/>
          <p:nvPr/>
        </p:nvSpPr>
        <p:spPr>
          <a:xfrm>
            <a:off x="1123950" y="6363295"/>
            <a:ext cx="8103584" cy="797004"/>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Hasilnya adaptif terhadap beban dan menjadi langkah awal menuju </a:t>
            </a:r>
            <a:r>
              <a:rPr lang="en-US" sz="2175" b="1" dirty="0">
                <a:solidFill>
                  <a:srgbClr val="1763A6"/>
                </a:solidFill>
                <a:latin typeface="Arial" pitchFamily="34" charset="0"/>
                <a:ea typeface="Arial" pitchFamily="34" charset="-122"/>
                <a:cs typeface="Arial" pitchFamily="34" charset="-120"/>
              </a:rPr>
              <a:t>solar water pump inverter</a:t>
            </a:r>
            <a:r>
              <a:rPr lang="en-US" sz="2175" dirty="0">
                <a:solidFill>
                  <a:srgbClr val="2C4259"/>
                </a:solidFill>
                <a:latin typeface="Arial" pitchFamily="34" charset="0"/>
                <a:ea typeface="Arial" pitchFamily="34" charset="-122"/>
                <a:cs typeface="Arial" pitchFamily="34" charset="-120"/>
              </a:rPr>
              <a:t>.</a:t>
            </a:r>
            <a:endParaRPr lang="en-US" sz="2175" dirty="0"/>
          </a:p>
        </p:txBody>
      </p:sp>
      <p:sp>
        <p:nvSpPr>
          <p:cNvPr id="13" name="Shape 9"/>
          <p:cNvSpPr/>
          <p:nvPr/>
        </p:nvSpPr>
        <p:spPr>
          <a:xfrm>
            <a:off x="9305925" y="1671042"/>
            <a:ext cx="8181975" cy="7211973"/>
          </a:xfrm>
          <a:prstGeom prst="roundRect">
            <a:avLst>
              <a:gd name="adj" fmla="val 1849"/>
            </a:avLst>
          </a:prstGeom>
          <a:solidFill>
            <a:srgbClr val="FFFFFF"/>
          </a:solidFill>
          <a:ln w="7620">
            <a:solidFill>
              <a:srgbClr val="E1E9F2"/>
            </a:solidFill>
            <a:prstDash val="solid"/>
          </a:ln>
        </p:spPr>
      </p:sp>
      <p:pic>
        <p:nvPicPr>
          <p:cNvPr id="14" name="Image 2" descr="preencoded.png"/>
          <p:cNvPicPr>
            <a:picLocks noChangeAspect="1"/>
          </p:cNvPicPr>
          <p:nvPr/>
        </p:nvPicPr>
        <p:blipFill>
          <a:blip r:embed="rId5"/>
          <a:srcRect l="-1" r="-1"/>
          <a:stretch/>
        </p:blipFill>
        <p:spPr>
          <a:xfrm>
            <a:off x="9484995" y="3578781"/>
            <a:ext cx="7823835" cy="3396377"/>
          </a:xfrm>
          <a:prstGeom prst="rect">
            <a:avLst/>
          </a:prstGeom>
        </p:spPr>
      </p:pic>
      <p:sp>
        <p:nvSpPr>
          <p:cNvPr id="15" name="Text 10"/>
          <p:cNvSpPr/>
          <p:nvPr/>
        </p:nvSpPr>
        <p:spPr>
          <a:xfrm>
            <a:off x="9305925" y="9140190"/>
            <a:ext cx="9000173" cy="251460"/>
          </a:xfrm>
          <a:prstGeom prst="rect">
            <a:avLst/>
          </a:prstGeom>
          <a:noFill/>
          <a:ln/>
        </p:spPr>
        <p:txBody>
          <a:bodyPr wrap="square" lIns="25400" tIns="25400" rIns="25400" bIns="25400" rtlCol="0" anchor="t">
            <a:normAutofit/>
          </a:bodyPr>
          <a:lstStyle/>
          <a:p>
            <a:pPr marL="0" indent="0" algn="l">
              <a:buNone/>
            </a:pPr>
            <a:r>
              <a:rPr lang="en-US" sz="1275" kern="0" spc="22" dirty="0">
                <a:solidFill>
                  <a:srgbClr val="7E92A8"/>
                </a:solidFill>
                <a:latin typeface="Arial" pitchFamily="34" charset="0"/>
                <a:ea typeface="Arial" pitchFamily="34" charset="-122"/>
                <a:cs typeface="Arial" pitchFamily="34" charset="-120"/>
              </a:rPr>
              <a:t>Gambar — Sistem PLTS atap dengan inverter dan beban rumah tangga</a:t>
            </a:r>
            <a:endParaRPr lang="en-US" sz="1275" dirty="0"/>
          </a:p>
        </p:txBody>
      </p:sp>
      <p:sp>
        <p:nvSpPr>
          <p:cNvPr id="16" name="Shape 11"/>
          <p:cNvSpPr/>
          <p:nvPr/>
        </p:nvSpPr>
        <p:spPr>
          <a:xfrm>
            <a:off x="0" y="9486900"/>
            <a:ext cx="18288000" cy="9525"/>
          </a:xfrm>
          <a:prstGeom prst="rect">
            <a:avLst/>
          </a:prstGeom>
          <a:solidFill>
            <a:srgbClr val="E1E9F2"/>
          </a:solidFill>
          <a:ln/>
        </p:spPr>
      </p:sp>
      <p:sp>
        <p:nvSpPr>
          <p:cNvPr id="17" name="Shape 12"/>
          <p:cNvSpPr/>
          <p:nvPr/>
        </p:nvSpPr>
        <p:spPr>
          <a:xfrm>
            <a:off x="800100" y="10023158"/>
            <a:ext cx="1063109" cy="22860"/>
          </a:xfrm>
          <a:prstGeom prst="rect">
            <a:avLst/>
          </a:prstGeom>
          <a:solidFill>
            <a:srgbClr val="2E86DE"/>
          </a:solidFill>
          <a:ln/>
        </p:spPr>
      </p:sp>
      <p:sp>
        <p:nvSpPr>
          <p:cNvPr id="18" name="Text 13"/>
          <p:cNvSpPr/>
          <p:nvPr/>
        </p:nvSpPr>
        <p:spPr>
          <a:xfrm>
            <a:off x="800100" y="9758363"/>
            <a:ext cx="1139309"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Pendahuluan</a:t>
            </a:r>
            <a:endParaRPr lang="en-US" sz="1350" dirty="0"/>
          </a:p>
        </p:txBody>
      </p:sp>
      <p:sp>
        <p:nvSpPr>
          <p:cNvPr id="19" name="Text 14"/>
          <p:cNvSpPr/>
          <p:nvPr/>
        </p:nvSpPr>
        <p:spPr>
          <a:xfrm>
            <a:off x="2148959"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20" name="Text 15"/>
          <p:cNvSpPr/>
          <p:nvPr/>
        </p:nvSpPr>
        <p:spPr>
          <a:xfrm>
            <a:off x="4156829"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21" name="Text 16"/>
          <p:cNvSpPr/>
          <p:nvPr/>
        </p:nvSpPr>
        <p:spPr>
          <a:xfrm>
            <a:off x="5518904"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22" name="Text 17"/>
          <p:cNvSpPr/>
          <p:nvPr/>
        </p:nvSpPr>
        <p:spPr>
          <a:xfrm>
            <a:off x="7742039"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23" name="Text 18"/>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9677150"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 · PENDAHULUAN</a:t>
            </a:r>
            <a:endParaRPr lang="en-US" sz="1500" dirty="0"/>
          </a:p>
        </p:txBody>
      </p:sp>
      <p:sp>
        <p:nvSpPr>
          <p:cNvPr id="5" name="Text 3"/>
          <p:cNvSpPr/>
          <p:nvPr/>
        </p:nvSpPr>
        <p:spPr>
          <a:xfrm>
            <a:off x="1108710" y="830580"/>
            <a:ext cx="9677150"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Rumusan Masalah, Tujuan &amp; Batasan</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1671042"/>
            <a:ext cx="2599372" cy="461010"/>
          </a:xfrm>
          <a:prstGeom prst="roundRect">
            <a:avLst>
              <a:gd name="adj" fmla="val 18595"/>
            </a:avLst>
          </a:prstGeom>
          <a:gradFill rotWithShape="1">
            <a:gsLst>
              <a:gs pos="0">
                <a:srgbClr val="1B6FB3">
                  <a:alpha val="100000"/>
                </a:srgbClr>
              </a:gs>
              <a:gs pos="100000">
                <a:srgbClr val="2E86DE">
                  <a:alpha val="100000"/>
                </a:srgbClr>
              </a:gs>
            </a:gsLst>
            <a:lin ang="2700000" scaled="0"/>
          </a:gradFill>
          <a:ln/>
          <a:effectLst>
            <a:outerShdw blurRad="152400" dist="57150" dir="5400000" algn="bl" rotWithShape="0">
              <a:srgbClr val="1763A6">
                <a:alpha val="22000"/>
              </a:srgbClr>
            </a:outerShdw>
          </a:effectLst>
        </p:spPr>
      </p:sp>
      <p:sp>
        <p:nvSpPr>
          <p:cNvPr id="9" name="Text 5"/>
          <p:cNvSpPr/>
          <p:nvPr/>
        </p:nvSpPr>
        <p:spPr>
          <a:xfrm>
            <a:off x="1028700" y="1794867"/>
            <a:ext cx="277535" cy="251460"/>
          </a:xfrm>
          <a:prstGeom prst="rect">
            <a:avLst/>
          </a:prstGeom>
          <a:noFill/>
          <a:ln/>
        </p:spPr>
        <p:txBody>
          <a:bodyPr wrap="square" lIns="25400" tIns="25400" rIns="25400" bIns="25400" rtlCol="0" anchor="t">
            <a:normAutofit/>
          </a:bodyPr>
          <a:lstStyle/>
          <a:p>
            <a:pPr marL="0" indent="0" algn="l">
              <a:buNone/>
            </a:pPr>
            <a:r>
              <a:rPr lang="en-US" sz="1425" b="1" dirty="0">
                <a:solidFill>
                  <a:srgbClr val="FFFFFF">
                    <a:alpha val="70000"/>
                  </a:srgbClr>
                </a:solidFill>
                <a:latin typeface="Arial" pitchFamily="34" charset="0"/>
                <a:ea typeface="Arial" pitchFamily="34" charset="-122"/>
                <a:cs typeface="Arial" pitchFamily="34" charset="-120"/>
              </a:rPr>
              <a:t>01</a:t>
            </a:r>
            <a:endParaRPr lang="en-US" sz="1425" dirty="0"/>
          </a:p>
        </p:txBody>
      </p:sp>
      <p:sp>
        <p:nvSpPr>
          <p:cNvPr id="10" name="Text 6"/>
          <p:cNvSpPr/>
          <p:nvPr/>
        </p:nvSpPr>
        <p:spPr>
          <a:xfrm>
            <a:off x="1344335" y="1775817"/>
            <a:ext cx="1902738" cy="281940"/>
          </a:xfrm>
          <a:prstGeom prst="rect">
            <a:avLst/>
          </a:prstGeom>
          <a:noFill/>
          <a:ln/>
        </p:spPr>
        <p:txBody>
          <a:bodyPr wrap="square" lIns="0" tIns="0" rIns="0" bIns="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Rumusan Masalah</a:t>
            </a:r>
            <a:endParaRPr lang="en-US" sz="1725" dirty="0"/>
          </a:p>
        </p:txBody>
      </p:sp>
      <p:sp>
        <p:nvSpPr>
          <p:cNvPr id="11" name="Text 7"/>
          <p:cNvSpPr/>
          <p:nvPr/>
        </p:nvSpPr>
        <p:spPr>
          <a:xfrm>
            <a:off x="1123950" y="2303502"/>
            <a:ext cx="5235534" cy="1172647"/>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Bagaimana </a:t>
            </a:r>
            <a:r>
              <a:rPr lang="en-US" sz="2175" b="1" dirty="0">
                <a:solidFill>
                  <a:srgbClr val="1763A6"/>
                </a:solidFill>
                <a:latin typeface="Arial" pitchFamily="34" charset="0"/>
                <a:ea typeface="Arial" pitchFamily="34" charset="-122"/>
                <a:cs typeface="Arial" pitchFamily="34" charset="-120"/>
              </a:rPr>
              <a:t>perancangan </a:t>
            </a:r>
            <a:r>
              <a:rPr lang="en-US" sz="2175" dirty="0">
                <a:solidFill>
                  <a:srgbClr val="2C4259"/>
                </a:solidFill>
                <a:latin typeface="Arial" pitchFamily="34" charset="0"/>
                <a:ea typeface="Arial" pitchFamily="34" charset="-122"/>
                <a:cs typeface="Arial" pitchFamily="34" charset="-120"/>
              </a:rPr>
              <a:t>sistem kontrol tekanan pompa air yang terintegrasi dengan inverter?</a:t>
            </a:r>
            <a:endParaRPr lang="en-US" sz="2175" dirty="0"/>
          </a:p>
        </p:txBody>
      </p:sp>
      <p:sp>
        <p:nvSpPr>
          <p:cNvPr id="12" name="Text 8"/>
          <p:cNvSpPr/>
          <p:nvPr/>
        </p:nvSpPr>
        <p:spPr>
          <a:xfrm>
            <a:off x="1123950" y="3590449"/>
            <a:ext cx="5235534" cy="1172647"/>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Bagaimana </a:t>
            </a:r>
            <a:r>
              <a:rPr lang="en-US" sz="2175" b="1" dirty="0">
                <a:solidFill>
                  <a:srgbClr val="1763A6"/>
                </a:solidFill>
                <a:latin typeface="Arial" pitchFamily="34" charset="0"/>
                <a:ea typeface="Arial" pitchFamily="34" charset="-122"/>
                <a:cs typeface="Arial" pitchFamily="34" charset="-120"/>
              </a:rPr>
              <a:t>menerapkan neural network </a:t>
            </a:r>
            <a:r>
              <a:rPr lang="en-US" sz="2175" dirty="0">
                <a:solidFill>
                  <a:srgbClr val="2C4259"/>
                </a:solidFill>
                <a:latin typeface="Arial" pitchFamily="34" charset="0"/>
                <a:ea typeface="Arial" pitchFamily="34" charset="-122"/>
                <a:cs typeface="Arial" pitchFamily="34" charset="-120"/>
              </a:rPr>
              <a:t>sebagai sistem kendali tekanan pada pompa air?</a:t>
            </a:r>
            <a:endParaRPr lang="en-US" sz="2175" dirty="0"/>
          </a:p>
        </p:txBody>
      </p:sp>
      <p:sp>
        <p:nvSpPr>
          <p:cNvPr id="13" name="Shape 9"/>
          <p:cNvSpPr/>
          <p:nvPr/>
        </p:nvSpPr>
        <p:spPr>
          <a:xfrm>
            <a:off x="6445211" y="1671042"/>
            <a:ext cx="1434584" cy="461010"/>
          </a:xfrm>
          <a:prstGeom prst="roundRect">
            <a:avLst>
              <a:gd name="adj" fmla="val 18595"/>
            </a:avLst>
          </a:prstGeom>
          <a:gradFill rotWithShape="1">
            <a:gsLst>
              <a:gs pos="0">
                <a:srgbClr val="1B6FB3">
                  <a:alpha val="100000"/>
                </a:srgbClr>
              </a:gs>
              <a:gs pos="100000">
                <a:srgbClr val="2E86DE">
                  <a:alpha val="100000"/>
                </a:srgbClr>
              </a:gs>
            </a:gsLst>
            <a:lin ang="2700000" scaled="0"/>
          </a:gradFill>
          <a:ln/>
          <a:effectLst>
            <a:outerShdw blurRad="152400" dist="57150" dir="5400000" algn="bl" rotWithShape="0">
              <a:srgbClr val="1763A6">
                <a:alpha val="22000"/>
              </a:srgbClr>
            </a:outerShdw>
          </a:effectLst>
        </p:spPr>
      </p:sp>
      <p:sp>
        <p:nvSpPr>
          <p:cNvPr id="14" name="Text 10"/>
          <p:cNvSpPr/>
          <p:nvPr/>
        </p:nvSpPr>
        <p:spPr>
          <a:xfrm>
            <a:off x="6673811" y="1794867"/>
            <a:ext cx="277535" cy="251460"/>
          </a:xfrm>
          <a:prstGeom prst="rect">
            <a:avLst/>
          </a:prstGeom>
          <a:noFill/>
          <a:ln/>
        </p:spPr>
        <p:txBody>
          <a:bodyPr wrap="square" lIns="25400" tIns="25400" rIns="25400" bIns="25400" rtlCol="0" anchor="t">
            <a:normAutofit/>
          </a:bodyPr>
          <a:lstStyle/>
          <a:p>
            <a:pPr marL="0" indent="0" algn="l">
              <a:buNone/>
            </a:pPr>
            <a:r>
              <a:rPr lang="en-US" sz="1425" b="1" dirty="0">
                <a:solidFill>
                  <a:srgbClr val="FFFFFF">
                    <a:alpha val="70000"/>
                  </a:srgbClr>
                </a:solidFill>
                <a:latin typeface="Arial" pitchFamily="34" charset="0"/>
                <a:ea typeface="Arial" pitchFamily="34" charset="-122"/>
                <a:cs typeface="Arial" pitchFamily="34" charset="-120"/>
              </a:rPr>
              <a:t>02</a:t>
            </a:r>
            <a:endParaRPr lang="en-US" sz="1425" dirty="0"/>
          </a:p>
        </p:txBody>
      </p:sp>
      <p:sp>
        <p:nvSpPr>
          <p:cNvPr id="15" name="Text 11"/>
          <p:cNvSpPr/>
          <p:nvPr/>
        </p:nvSpPr>
        <p:spPr>
          <a:xfrm>
            <a:off x="6989445" y="1775817"/>
            <a:ext cx="737950" cy="281940"/>
          </a:xfrm>
          <a:prstGeom prst="rect">
            <a:avLst/>
          </a:prstGeom>
          <a:noFill/>
          <a:ln/>
        </p:spPr>
        <p:txBody>
          <a:bodyPr wrap="square" lIns="0" tIns="0" rIns="0" bIns="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Tujuan</a:t>
            </a:r>
            <a:endParaRPr lang="en-US" sz="1725" dirty="0"/>
          </a:p>
        </p:txBody>
      </p:sp>
      <p:sp>
        <p:nvSpPr>
          <p:cNvPr id="16" name="Shape 12"/>
          <p:cNvSpPr/>
          <p:nvPr/>
        </p:nvSpPr>
        <p:spPr>
          <a:xfrm>
            <a:off x="6445211" y="2303502"/>
            <a:ext cx="5397461" cy="7050048"/>
          </a:xfrm>
          <a:prstGeom prst="roundRect">
            <a:avLst>
              <a:gd name="adj" fmla="val 2471"/>
            </a:avLst>
          </a:prstGeom>
          <a:gradFill rotWithShape="1">
            <a:gsLst>
              <a:gs pos="0">
                <a:srgbClr val="103A63">
                  <a:alpha val="100000"/>
                </a:srgbClr>
              </a:gs>
              <a:gs pos="100000">
                <a:srgbClr val="1763A6">
                  <a:alpha val="100000"/>
                </a:srgbClr>
              </a:gs>
            </a:gsLst>
            <a:lin ang="2700000" scaled="0"/>
          </a:gradFill>
          <a:ln/>
        </p:spPr>
      </p:sp>
      <p:sp>
        <p:nvSpPr>
          <p:cNvPr id="17" name="Text 13"/>
          <p:cNvSpPr/>
          <p:nvPr/>
        </p:nvSpPr>
        <p:spPr>
          <a:xfrm>
            <a:off x="6692861" y="5123617"/>
            <a:ext cx="5049225" cy="14478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DCEBFA"/>
                </a:solidFill>
                <a:latin typeface="Arial" pitchFamily="34" charset="0"/>
                <a:ea typeface="Arial" pitchFamily="34" charset="-122"/>
                <a:cs typeface="Arial" pitchFamily="34" charset="-120"/>
              </a:rPr>
              <a:t>Merancang sistem yang </a:t>
            </a:r>
            <a:r>
              <a:rPr lang="en-US" sz="1950" b="1" dirty="0">
                <a:solidFill>
                  <a:srgbClr val="FFFFFF"/>
                </a:solidFill>
                <a:latin typeface="Arial" pitchFamily="34" charset="0"/>
                <a:ea typeface="Arial" pitchFamily="34" charset="-122"/>
                <a:cs typeface="Arial" pitchFamily="34" charset="-120"/>
              </a:rPr>
              <a:t>menjaga tekanan air tetap stabil </a:t>
            </a:r>
            <a:r>
              <a:rPr lang="en-US" sz="1950" dirty="0">
                <a:solidFill>
                  <a:srgbClr val="DCEBFA"/>
                </a:solidFill>
                <a:latin typeface="Arial" pitchFamily="34" charset="0"/>
                <a:ea typeface="Arial" pitchFamily="34" charset="-122"/>
                <a:cs typeface="Arial" pitchFamily="34" charset="-120"/>
              </a:rPr>
              <a:t>pada beban yang berubah-ubah, dengan mengendalikan sisi suplai daya menggunakan </a:t>
            </a:r>
            <a:r>
              <a:rPr lang="en-US" sz="1950" b="1" dirty="0">
                <a:solidFill>
                  <a:srgbClr val="FFFFFF"/>
                </a:solidFill>
                <a:latin typeface="Arial" pitchFamily="34" charset="0"/>
                <a:ea typeface="Arial" pitchFamily="34" charset="-122"/>
                <a:cs typeface="Arial" pitchFamily="34" charset="-120"/>
              </a:rPr>
              <a:t>neural network</a:t>
            </a:r>
            <a:r>
              <a:rPr lang="en-US" sz="1950" dirty="0">
                <a:solidFill>
                  <a:srgbClr val="DCEBFA"/>
                </a:solidFill>
                <a:latin typeface="Arial" pitchFamily="34" charset="0"/>
                <a:ea typeface="Arial" pitchFamily="34" charset="-122"/>
                <a:cs typeface="Arial" pitchFamily="34" charset="-120"/>
              </a:rPr>
              <a:t>.</a:t>
            </a:r>
            <a:endParaRPr lang="en-US" sz="1950" dirty="0"/>
          </a:p>
        </p:txBody>
      </p:sp>
      <p:sp>
        <p:nvSpPr>
          <p:cNvPr id="18" name="Shape 14"/>
          <p:cNvSpPr/>
          <p:nvPr/>
        </p:nvSpPr>
        <p:spPr>
          <a:xfrm>
            <a:off x="12090321" y="1671042"/>
            <a:ext cx="2465665" cy="461010"/>
          </a:xfrm>
          <a:prstGeom prst="roundRect">
            <a:avLst>
              <a:gd name="adj" fmla="val 18595"/>
            </a:avLst>
          </a:prstGeom>
          <a:gradFill rotWithShape="1">
            <a:gsLst>
              <a:gs pos="0">
                <a:srgbClr val="1B6FB3">
                  <a:alpha val="100000"/>
                </a:srgbClr>
              </a:gs>
              <a:gs pos="100000">
                <a:srgbClr val="2E86DE">
                  <a:alpha val="100000"/>
                </a:srgbClr>
              </a:gs>
            </a:gsLst>
            <a:lin ang="2700000" scaled="0"/>
          </a:gradFill>
          <a:ln/>
          <a:effectLst>
            <a:outerShdw blurRad="152400" dist="57150" dir="5400000" algn="bl" rotWithShape="0">
              <a:srgbClr val="1763A6">
                <a:alpha val="22000"/>
              </a:srgbClr>
            </a:outerShdw>
          </a:effectLst>
        </p:spPr>
      </p:sp>
      <p:sp>
        <p:nvSpPr>
          <p:cNvPr id="19" name="Text 15"/>
          <p:cNvSpPr/>
          <p:nvPr/>
        </p:nvSpPr>
        <p:spPr>
          <a:xfrm>
            <a:off x="12318921" y="1794867"/>
            <a:ext cx="277535" cy="251460"/>
          </a:xfrm>
          <a:prstGeom prst="rect">
            <a:avLst/>
          </a:prstGeom>
          <a:noFill/>
          <a:ln/>
        </p:spPr>
        <p:txBody>
          <a:bodyPr wrap="square" lIns="25400" tIns="25400" rIns="25400" bIns="25400" rtlCol="0" anchor="t">
            <a:normAutofit/>
          </a:bodyPr>
          <a:lstStyle/>
          <a:p>
            <a:pPr marL="0" indent="0" algn="l">
              <a:buNone/>
            </a:pPr>
            <a:r>
              <a:rPr lang="en-US" sz="1425" b="1" dirty="0">
                <a:solidFill>
                  <a:srgbClr val="FFFFFF">
                    <a:alpha val="70000"/>
                  </a:srgbClr>
                </a:solidFill>
                <a:latin typeface="Arial" pitchFamily="34" charset="0"/>
                <a:ea typeface="Arial" pitchFamily="34" charset="-122"/>
                <a:cs typeface="Arial" pitchFamily="34" charset="-120"/>
              </a:rPr>
              <a:t>03</a:t>
            </a:r>
            <a:endParaRPr lang="en-US" sz="1425" dirty="0"/>
          </a:p>
        </p:txBody>
      </p:sp>
      <p:sp>
        <p:nvSpPr>
          <p:cNvPr id="20" name="Text 16"/>
          <p:cNvSpPr/>
          <p:nvPr/>
        </p:nvSpPr>
        <p:spPr>
          <a:xfrm>
            <a:off x="12634556" y="1775817"/>
            <a:ext cx="1769030" cy="281940"/>
          </a:xfrm>
          <a:prstGeom prst="rect">
            <a:avLst/>
          </a:prstGeom>
          <a:noFill/>
          <a:ln/>
        </p:spPr>
        <p:txBody>
          <a:bodyPr wrap="square" lIns="0" tIns="0" rIns="0" bIns="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Batasan Masalah</a:t>
            </a:r>
            <a:endParaRPr lang="en-US" sz="1725" dirty="0"/>
          </a:p>
        </p:txBody>
      </p:sp>
      <p:sp>
        <p:nvSpPr>
          <p:cNvPr id="21" name="Text 17"/>
          <p:cNvSpPr/>
          <p:nvPr/>
        </p:nvSpPr>
        <p:spPr>
          <a:xfrm>
            <a:off x="12414171" y="2303502"/>
            <a:ext cx="5613357"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Desain &amp; simulasi pada </a:t>
            </a:r>
            <a:r>
              <a:rPr lang="en-US" sz="2175" b="1" dirty="0">
                <a:solidFill>
                  <a:srgbClr val="1763A6"/>
                </a:solidFill>
                <a:latin typeface="Arial" pitchFamily="34" charset="0"/>
                <a:ea typeface="Arial" pitchFamily="34" charset="-122"/>
                <a:cs typeface="Arial" pitchFamily="34" charset="-120"/>
              </a:rPr>
              <a:t>PSIM</a:t>
            </a:r>
            <a:endParaRPr lang="en-US" sz="2175" dirty="0"/>
          </a:p>
        </p:txBody>
      </p:sp>
      <p:sp>
        <p:nvSpPr>
          <p:cNvPr id="22" name="Text 18"/>
          <p:cNvSpPr/>
          <p:nvPr/>
        </p:nvSpPr>
        <p:spPr>
          <a:xfrm>
            <a:off x="12414171" y="2810589"/>
            <a:ext cx="5613357"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Perhitungan mode ideal, </a:t>
            </a:r>
            <a:r>
              <a:rPr lang="en-US" sz="2175" b="1" dirty="0">
                <a:solidFill>
                  <a:srgbClr val="1763A6"/>
                </a:solidFill>
                <a:latin typeface="Arial" pitchFamily="34" charset="0"/>
                <a:ea typeface="Arial" pitchFamily="34" charset="-122"/>
                <a:cs typeface="Arial" pitchFamily="34" charset="-120"/>
              </a:rPr>
              <a:t>beban dinamis</a:t>
            </a:r>
            <a:endParaRPr lang="en-US" sz="2175" dirty="0"/>
          </a:p>
        </p:txBody>
      </p:sp>
      <p:sp>
        <p:nvSpPr>
          <p:cNvPr id="23" name="Text 19"/>
          <p:cNvSpPr/>
          <p:nvPr/>
        </p:nvSpPr>
        <p:spPr>
          <a:xfrm>
            <a:off x="12414171" y="3317677"/>
            <a:ext cx="5613357"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Sumber </a:t>
            </a:r>
            <a:r>
              <a:rPr lang="en-US" sz="2175" b="1" dirty="0">
                <a:solidFill>
                  <a:srgbClr val="1763A6"/>
                </a:solidFill>
                <a:latin typeface="Arial" pitchFamily="34" charset="0"/>
                <a:ea typeface="Arial" pitchFamily="34" charset="-122"/>
                <a:cs typeface="Arial" pitchFamily="34" charset="-120"/>
              </a:rPr>
              <a:t>baterai 12 V / power supply</a:t>
            </a:r>
            <a:endParaRPr lang="en-US" sz="2175" dirty="0"/>
          </a:p>
        </p:txBody>
      </p:sp>
      <p:sp>
        <p:nvSpPr>
          <p:cNvPr id="24" name="Text 20"/>
          <p:cNvSpPr/>
          <p:nvPr/>
        </p:nvSpPr>
        <p:spPr>
          <a:xfrm>
            <a:off x="12414171" y="3824764"/>
            <a:ext cx="5613357"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Pompa air </a:t>
            </a:r>
            <a:r>
              <a:rPr lang="en-US" sz="2175" b="1" dirty="0">
                <a:solidFill>
                  <a:srgbClr val="1763A6"/>
                </a:solidFill>
                <a:latin typeface="Arial" pitchFamily="34" charset="0"/>
                <a:ea typeface="Arial" pitchFamily="34" charset="-122"/>
                <a:cs typeface="Arial" pitchFamily="34" charset="-120"/>
              </a:rPr>
              <a:t>1 fasa</a:t>
            </a:r>
            <a:endParaRPr lang="en-US" sz="2175" dirty="0"/>
          </a:p>
        </p:txBody>
      </p:sp>
      <p:sp>
        <p:nvSpPr>
          <p:cNvPr id="25" name="Text 21"/>
          <p:cNvSpPr/>
          <p:nvPr/>
        </p:nvSpPr>
        <p:spPr>
          <a:xfrm>
            <a:off x="12414171" y="4331851"/>
            <a:ext cx="5613357"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Variasi beban hingga </a:t>
            </a:r>
            <a:r>
              <a:rPr lang="en-US" sz="2175" b="1" dirty="0">
                <a:solidFill>
                  <a:srgbClr val="1763A6"/>
                </a:solidFill>
                <a:latin typeface="Arial" pitchFamily="34" charset="0"/>
                <a:ea typeface="Arial" pitchFamily="34" charset="-122"/>
                <a:cs typeface="Arial" pitchFamily="34" charset="-120"/>
              </a:rPr>
              <a:t>4–5 keran</a:t>
            </a:r>
            <a:endParaRPr lang="en-US" sz="2175" dirty="0"/>
          </a:p>
        </p:txBody>
      </p:sp>
      <p:sp>
        <p:nvSpPr>
          <p:cNvPr id="26" name="Shape 22"/>
          <p:cNvSpPr/>
          <p:nvPr/>
        </p:nvSpPr>
        <p:spPr>
          <a:xfrm>
            <a:off x="0" y="9486900"/>
            <a:ext cx="18288000" cy="9525"/>
          </a:xfrm>
          <a:prstGeom prst="rect">
            <a:avLst/>
          </a:prstGeom>
          <a:solidFill>
            <a:srgbClr val="E1E9F2"/>
          </a:solidFill>
          <a:ln/>
        </p:spPr>
      </p:sp>
      <p:sp>
        <p:nvSpPr>
          <p:cNvPr id="27" name="Shape 23"/>
          <p:cNvSpPr/>
          <p:nvPr/>
        </p:nvSpPr>
        <p:spPr>
          <a:xfrm>
            <a:off x="800100" y="10023158"/>
            <a:ext cx="1063109" cy="22860"/>
          </a:xfrm>
          <a:prstGeom prst="rect">
            <a:avLst/>
          </a:prstGeom>
          <a:solidFill>
            <a:srgbClr val="2E86DE"/>
          </a:solidFill>
          <a:ln/>
        </p:spPr>
      </p:sp>
      <p:sp>
        <p:nvSpPr>
          <p:cNvPr id="28" name="Text 24"/>
          <p:cNvSpPr/>
          <p:nvPr/>
        </p:nvSpPr>
        <p:spPr>
          <a:xfrm>
            <a:off x="800100" y="9758363"/>
            <a:ext cx="1139309"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Pendahuluan</a:t>
            </a:r>
            <a:endParaRPr lang="en-US" sz="1350" dirty="0"/>
          </a:p>
        </p:txBody>
      </p:sp>
      <p:sp>
        <p:nvSpPr>
          <p:cNvPr id="29" name="Text 25"/>
          <p:cNvSpPr/>
          <p:nvPr/>
        </p:nvSpPr>
        <p:spPr>
          <a:xfrm>
            <a:off x="2148959"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30" name="Text 26"/>
          <p:cNvSpPr/>
          <p:nvPr/>
        </p:nvSpPr>
        <p:spPr>
          <a:xfrm>
            <a:off x="4156829"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31" name="Text 27"/>
          <p:cNvSpPr/>
          <p:nvPr/>
        </p:nvSpPr>
        <p:spPr>
          <a:xfrm>
            <a:off x="5518904"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32" name="Text 28"/>
          <p:cNvSpPr/>
          <p:nvPr/>
        </p:nvSpPr>
        <p:spPr>
          <a:xfrm>
            <a:off x="7742039"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33" name="Text 29"/>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5426E">
                  <a:alpha val="100000"/>
                </a:srgbClr>
              </a:gs>
              <a:gs pos="55000">
                <a:srgbClr val="0A2A4A">
                  <a:alpha val="100000"/>
                </a:srgbClr>
              </a:gs>
              <a:gs pos="100000">
                <a:srgbClr val="071F38">
                  <a:alpha val="100000"/>
                </a:srgbClr>
              </a:gs>
            </a:gsLst>
            <a:path path="circle">
              <a:fillToRect l="78000" t="8000" r="22000" b="92000"/>
            </a:path>
          </a:gradFill>
          <a:ln/>
        </p:spPr>
      </p:sp>
      <p:sp>
        <p:nvSpPr>
          <p:cNvPr id="3" name="Text 1"/>
          <p:cNvSpPr/>
          <p:nvPr/>
        </p:nvSpPr>
        <p:spPr>
          <a:xfrm>
            <a:off x="800100" y="3343275"/>
            <a:ext cx="18356580" cy="403860"/>
          </a:xfrm>
          <a:prstGeom prst="rect">
            <a:avLst/>
          </a:prstGeom>
          <a:noFill/>
          <a:ln/>
        </p:spPr>
        <p:txBody>
          <a:bodyPr wrap="square" lIns="25400" tIns="25400" rIns="25400" bIns="25400" rtlCol="0" anchor="t">
            <a:normAutofit/>
          </a:bodyPr>
          <a:lstStyle/>
          <a:p>
            <a:pPr marL="0" indent="0" algn="l">
              <a:buNone/>
            </a:pPr>
            <a:r>
              <a:rPr lang="en-US" sz="2250" kern="0" spc="450" dirty="0">
                <a:solidFill>
                  <a:srgbClr val="7FC0FF"/>
                </a:solidFill>
                <a:latin typeface="Arial" pitchFamily="34" charset="0"/>
                <a:ea typeface="Arial" pitchFamily="34" charset="-122"/>
                <a:cs typeface="Arial" pitchFamily="34" charset="-120"/>
              </a:rPr>
              <a:t>BAB II</a:t>
            </a:r>
            <a:endParaRPr lang="en-US" sz="2250" dirty="0"/>
          </a:p>
        </p:txBody>
      </p:sp>
      <p:sp>
        <p:nvSpPr>
          <p:cNvPr id="4" name="Text 2"/>
          <p:cNvSpPr/>
          <p:nvPr/>
        </p:nvSpPr>
        <p:spPr>
          <a:xfrm>
            <a:off x="800100" y="3842385"/>
            <a:ext cx="18356580" cy="952500"/>
          </a:xfrm>
          <a:prstGeom prst="rect">
            <a:avLst/>
          </a:prstGeom>
          <a:noFill/>
          <a:ln/>
        </p:spPr>
        <p:txBody>
          <a:bodyPr wrap="square" lIns="25400" tIns="25400" rIns="25400" bIns="25400" rtlCol="0" anchor="t">
            <a:normAutofit/>
          </a:bodyPr>
          <a:lstStyle/>
          <a:p>
            <a:pPr marL="0" indent="0" algn="l">
              <a:lnSpc>
                <a:spcPct val="100000"/>
              </a:lnSpc>
              <a:buNone/>
            </a:pPr>
            <a:r>
              <a:rPr lang="en-US" sz="7200" b="1" kern="0" spc="-112" dirty="0">
                <a:solidFill>
                  <a:srgbClr val="FFFFFF"/>
                </a:solidFill>
                <a:latin typeface="Arial" pitchFamily="34" charset="0"/>
                <a:ea typeface="Arial" pitchFamily="34" charset="-122"/>
                <a:cs typeface="Arial" pitchFamily="34" charset="-120"/>
              </a:rPr>
              <a:t>Tinjauan Pustaka</a:t>
            </a:r>
            <a:endParaRPr lang="en-US" sz="7200" dirty="0"/>
          </a:p>
        </p:txBody>
      </p:sp>
      <p:sp>
        <p:nvSpPr>
          <p:cNvPr id="5" name="Shape 3"/>
          <p:cNvSpPr/>
          <p:nvPr/>
        </p:nvSpPr>
        <p:spPr>
          <a:xfrm>
            <a:off x="800100" y="5080635"/>
            <a:ext cx="1143000" cy="57150"/>
          </a:xfrm>
          <a:prstGeom prst="roundRect">
            <a:avLst>
              <a:gd name="adj" fmla="val 50000"/>
            </a:avLst>
          </a:prstGeom>
          <a:solidFill>
            <a:srgbClr val="2E86DE"/>
          </a:solidFill>
          <a:ln/>
        </p:spPr>
      </p:sp>
      <p:sp>
        <p:nvSpPr>
          <p:cNvPr id="6" name="Text 4"/>
          <p:cNvSpPr/>
          <p:nvPr/>
        </p:nvSpPr>
        <p:spPr>
          <a:xfrm>
            <a:off x="800100" y="5423535"/>
            <a:ext cx="11772900" cy="758190"/>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AFC6DE"/>
                </a:solidFill>
                <a:latin typeface="Arial" pitchFamily="34" charset="0"/>
                <a:ea typeface="Arial" pitchFamily="34" charset="-122"/>
                <a:cs typeface="Arial" pitchFamily="34" charset="-120"/>
              </a:rPr>
              <a:t>Penelitian terdahulu dan dasar teori: inverter satu fasa, PWM AC chopper, karakteristik pompa air, dan neural network.</a:t>
            </a:r>
            <a:endParaRPr lang="en-US" sz="2025" dirty="0"/>
          </a:p>
        </p:txBody>
      </p:sp>
      <p:sp>
        <p:nvSpPr>
          <p:cNvPr id="7" name="Shape 5"/>
          <p:cNvSpPr/>
          <p:nvPr/>
        </p:nvSpPr>
        <p:spPr>
          <a:xfrm>
            <a:off x="0" y="9486900"/>
            <a:ext cx="18288000" cy="9525"/>
          </a:xfrm>
          <a:prstGeom prst="rect">
            <a:avLst/>
          </a:prstGeom>
          <a:solidFill>
            <a:srgbClr val="E1E9F2"/>
          </a:solidFill>
          <a:ln/>
        </p:spPr>
      </p:sp>
      <p:sp>
        <p:nvSpPr>
          <p:cNvPr id="8" name="Text 6"/>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9" name="Shape 7"/>
          <p:cNvSpPr/>
          <p:nvPr/>
        </p:nvSpPr>
        <p:spPr>
          <a:xfrm>
            <a:off x="2269808" y="10023158"/>
            <a:ext cx="1394698" cy="22860"/>
          </a:xfrm>
          <a:prstGeom prst="rect">
            <a:avLst/>
          </a:prstGeom>
          <a:solidFill>
            <a:srgbClr val="2E86DE"/>
          </a:solidFill>
          <a:ln/>
        </p:spPr>
      </p:sp>
      <p:sp>
        <p:nvSpPr>
          <p:cNvPr id="10" name="Text 8"/>
          <p:cNvSpPr/>
          <p:nvPr/>
        </p:nvSpPr>
        <p:spPr>
          <a:xfrm>
            <a:off x="2269808" y="9758363"/>
            <a:ext cx="147089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Tinjauan Pustaka</a:t>
            </a:r>
            <a:endParaRPr lang="en-US" sz="1350" dirty="0"/>
          </a:p>
        </p:txBody>
      </p:sp>
      <p:sp>
        <p:nvSpPr>
          <p:cNvPr id="11" name="Text 9"/>
          <p:cNvSpPr/>
          <p:nvPr/>
        </p:nvSpPr>
        <p:spPr>
          <a:xfrm>
            <a:off x="3950256"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12" name="Text 10"/>
          <p:cNvSpPr/>
          <p:nvPr/>
        </p:nvSpPr>
        <p:spPr>
          <a:xfrm>
            <a:off x="5312331"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13" name="Text 11"/>
          <p:cNvSpPr/>
          <p:nvPr/>
        </p:nvSpPr>
        <p:spPr>
          <a:xfrm>
            <a:off x="7535466"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14" name="Text 12"/>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5201686"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II · TINJAUAN PUSTAKA</a:t>
            </a:r>
            <a:endParaRPr lang="en-US" sz="1500" dirty="0"/>
          </a:p>
        </p:txBody>
      </p:sp>
      <p:sp>
        <p:nvSpPr>
          <p:cNvPr id="5" name="Text 3"/>
          <p:cNvSpPr/>
          <p:nvPr/>
        </p:nvSpPr>
        <p:spPr>
          <a:xfrm>
            <a:off x="1108710" y="830580"/>
            <a:ext cx="5201686"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Penelitian Terdahulu</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3774400"/>
            <a:ext cx="3648075" cy="483870"/>
          </a:xfrm>
          <a:prstGeom prst="roundRect">
            <a:avLst>
              <a:gd name="adj" fmla="val 19685"/>
            </a:avLst>
          </a:prstGeom>
          <a:solidFill>
            <a:srgbClr val="1763A6"/>
          </a:solidFill>
          <a:ln/>
        </p:spPr>
      </p:sp>
      <p:sp>
        <p:nvSpPr>
          <p:cNvPr id="9" name="Text 5"/>
          <p:cNvSpPr/>
          <p:nvPr/>
        </p:nvSpPr>
        <p:spPr>
          <a:xfrm>
            <a:off x="971550" y="3898225"/>
            <a:ext cx="3414617" cy="274320"/>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Peneliti</a:t>
            </a:r>
            <a:endParaRPr lang="en-US" sz="1575" dirty="0"/>
          </a:p>
        </p:txBody>
      </p:sp>
      <p:sp>
        <p:nvSpPr>
          <p:cNvPr id="10" name="Shape 6"/>
          <p:cNvSpPr/>
          <p:nvPr/>
        </p:nvSpPr>
        <p:spPr>
          <a:xfrm>
            <a:off x="4448175" y="3774400"/>
            <a:ext cx="4702255" cy="483870"/>
          </a:xfrm>
          <a:prstGeom prst="rect">
            <a:avLst/>
          </a:prstGeom>
          <a:solidFill>
            <a:srgbClr val="1763A6"/>
          </a:solidFill>
          <a:ln/>
        </p:spPr>
      </p:sp>
      <p:sp>
        <p:nvSpPr>
          <p:cNvPr id="11" name="Text 7"/>
          <p:cNvSpPr/>
          <p:nvPr/>
        </p:nvSpPr>
        <p:spPr>
          <a:xfrm>
            <a:off x="4619625" y="3898225"/>
            <a:ext cx="4500422" cy="274320"/>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Rangkaian Kontrol</a:t>
            </a:r>
            <a:endParaRPr lang="en-US" sz="1575" dirty="0"/>
          </a:p>
        </p:txBody>
      </p:sp>
      <p:sp>
        <p:nvSpPr>
          <p:cNvPr id="12" name="Shape 8"/>
          <p:cNvSpPr/>
          <p:nvPr/>
        </p:nvSpPr>
        <p:spPr>
          <a:xfrm>
            <a:off x="9150429" y="3774400"/>
            <a:ext cx="4587121" cy="483870"/>
          </a:xfrm>
          <a:prstGeom prst="rect">
            <a:avLst/>
          </a:prstGeom>
          <a:solidFill>
            <a:srgbClr val="1763A6"/>
          </a:solidFill>
          <a:ln/>
        </p:spPr>
      </p:sp>
      <p:sp>
        <p:nvSpPr>
          <p:cNvPr id="13" name="Text 9"/>
          <p:cNvSpPr/>
          <p:nvPr/>
        </p:nvSpPr>
        <p:spPr>
          <a:xfrm>
            <a:off x="9321879" y="3898225"/>
            <a:ext cx="4381835" cy="274320"/>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Sistem Kontrol</a:t>
            </a:r>
            <a:endParaRPr lang="en-US" sz="1575" dirty="0"/>
          </a:p>
        </p:txBody>
      </p:sp>
      <p:sp>
        <p:nvSpPr>
          <p:cNvPr id="14" name="Shape 10"/>
          <p:cNvSpPr/>
          <p:nvPr/>
        </p:nvSpPr>
        <p:spPr>
          <a:xfrm>
            <a:off x="13737551" y="3774400"/>
            <a:ext cx="3750350" cy="483870"/>
          </a:xfrm>
          <a:prstGeom prst="rect">
            <a:avLst/>
          </a:prstGeom>
          <a:solidFill>
            <a:srgbClr val="1763A6"/>
          </a:solidFill>
          <a:ln/>
        </p:spPr>
      </p:sp>
      <p:sp>
        <p:nvSpPr>
          <p:cNvPr id="15" name="Text 11"/>
          <p:cNvSpPr/>
          <p:nvPr/>
        </p:nvSpPr>
        <p:spPr>
          <a:xfrm>
            <a:off x="13909001" y="3898225"/>
            <a:ext cx="3519960" cy="274320"/>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Implementasi</a:t>
            </a:r>
            <a:endParaRPr lang="en-US" sz="1575" dirty="0"/>
          </a:p>
        </p:txBody>
      </p:sp>
      <p:sp>
        <p:nvSpPr>
          <p:cNvPr id="16" name="Shape 12"/>
          <p:cNvSpPr/>
          <p:nvPr/>
        </p:nvSpPr>
        <p:spPr>
          <a:xfrm>
            <a:off x="800100" y="4765000"/>
            <a:ext cx="3648075" cy="9525"/>
          </a:xfrm>
          <a:prstGeom prst="rect">
            <a:avLst/>
          </a:prstGeom>
          <a:solidFill>
            <a:srgbClr val="E1E9F2"/>
          </a:solidFill>
          <a:ln/>
        </p:spPr>
      </p:sp>
      <p:sp>
        <p:nvSpPr>
          <p:cNvPr id="17" name="Text 13"/>
          <p:cNvSpPr/>
          <p:nvPr/>
        </p:nvSpPr>
        <p:spPr>
          <a:xfrm>
            <a:off x="971550" y="4372570"/>
            <a:ext cx="3414617" cy="31623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Putra (2015)</a:t>
            </a:r>
            <a:endParaRPr lang="en-US" sz="1725" dirty="0"/>
          </a:p>
        </p:txBody>
      </p:sp>
      <p:sp>
        <p:nvSpPr>
          <p:cNvPr id="18" name="Shape 14"/>
          <p:cNvSpPr/>
          <p:nvPr/>
        </p:nvSpPr>
        <p:spPr>
          <a:xfrm>
            <a:off x="4448175" y="4765000"/>
            <a:ext cx="4702255" cy="9525"/>
          </a:xfrm>
          <a:prstGeom prst="rect">
            <a:avLst/>
          </a:prstGeom>
          <a:solidFill>
            <a:srgbClr val="E1E9F2"/>
          </a:solidFill>
          <a:ln/>
        </p:spPr>
      </p:sp>
      <p:sp>
        <p:nvSpPr>
          <p:cNvPr id="19" name="Text 15"/>
          <p:cNvSpPr/>
          <p:nvPr/>
        </p:nvSpPr>
        <p:spPr>
          <a:xfrm>
            <a:off x="4619625" y="4372570"/>
            <a:ext cx="4500422" cy="31623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PWM AC Chopper</a:t>
            </a:r>
            <a:endParaRPr lang="en-US" sz="1725" dirty="0"/>
          </a:p>
        </p:txBody>
      </p:sp>
      <p:sp>
        <p:nvSpPr>
          <p:cNvPr id="20" name="Shape 16"/>
          <p:cNvSpPr/>
          <p:nvPr/>
        </p:nvSpPr>
        <p:spPr>
          <a:xfrm>
            <a:off x="9150429" y="4765000"/>
            <a:ext cx="4587121" cy="9525"/>
          </a:xfrm>
          <a:prstGeom prst="rect">
            <a:avLst/>
          </a:prstGeom>
          <a:solidFill>
            <a:srgbClr val="E1E9F2"/>
          </a:solidFill>
          <a:ln/>
        </p:spPr>
      </p:sp>
      <p:sp>
        <p:nvSpPr>
          <p:cNvPr id="21" name="Text 17"/>
          <p:cNvSpPr/>
          <p:nvPr/>
        </p:nvSpPr>
        <p:spPr>
          <a:xfrm>
            <a:off x="9321879" y="4372570"/>
            <a:ext cx="4381835" cy="31623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Open-loop</a:t>
            </a:r>
            <a:endParaRPr lang="en-US" sz="1725" dirty="0"/>
          </a:p>
        </p:txBody>
      </p:sp>
      <p:sp>
        <p:nvSpPr>
          <p:cNvPr id="22" name="Shape 18"/>
          <p:cNvSpPr/>
          <p:nvPr/>
        </p:nvSpPr>
        <p:spPr>
          <a:xfrm>
            <a:off x="13737551" y="4765000"/>
            <a:ext cx="3750350" cy="9525"/>
          </a:xfrm>
          <a:prstGeom prst="rect">
            <a:avLst/>
          </a:prstGeom>
          <a:solidFill>
            <a:srgbClr val="E1E9F2"/>
          </a:solidFill>
          <a:ln/>
        </p:spPr>
      </p:sp>
      <p:sp>
        <p:nvSpPr>
          <p:cNvPr id="23" name="Text 19"/>
          <p:cNvSpPr/>
          <p:nvPr/>
        </p:nvSpPr>
        <p:spPr>
          <a:xfrm>
            <a:off x="13909001" y="4372570"/>
            <a:ext cx="3519960" cy="31623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Pompa air</a:t>
            </a:r>
            <a:endParaRPr lang="en-US" sz="1725" dirty="0"/>
          </a:p>
        </p:txBody>
      </p:sp>
      <p:sp>
        <p:nvSpPr>
          <p:cNvPr id="24" name="Shape 20"/>
          <p:cNvSpPr/>
          <p:nvPr/>
        </p:nvSpPr>
        <p:spPr>
          <a:xfrm>
            <a:off x="800100" y="4772620"/>
            <a:ext cx="3648075" cy="518160"/>
          </a:xfrm>
          <a:prstGeom prst="rect">
            <a:avLst/>
          </a:prstGeom>
          <a:solidFill>
            <a:srgbClr val="F6F9FD"/>
          </a:solidFill>
          <a:ln/>
        </p:spPr>
      </p:sp>
      <p:sp>
        <p:nvSpPr>
          <p:cNvPr id="25" name="Shape 21"/>
          <p:cNvSpPr/>
          <p:nvPr/>
        </p:nvSpPr>
        <p:spPr>
          <a:xfrm>
            <a:off x="800100" y="5283160"/>
            <a:ext cx="3648075" cy="9525"/>
          </a:xfrm>
          <a:prstGeom prst="rect">
            <a:avLst/>
          </a:prstGeom>
          <a:solidFill>
            <a:srgbClr val="E1E9F2"/>
          </a:solidFill>
          <a:ln/>
        </p:spPr>
      </p:sp>
      <p:sp>
        <p:nvSpPr>
          <p:cNvPr id="26" name="Text 22"/>
          <p:cNvSpPr/>
          <p:nvPr/>
        </p:nvSpPr>
        <p:spPr>
          <a:xfrm>
            <a:off x="971550" y="4886920"/>
            <a:ext cx="3414617"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Rosada (2017)</a:t>
            </a:r>
            <a:endParaRPr lang="en-US" sz="1725" dirty="0"/>
          </a:p>
        </p:txBody>
      </p:sp>
      <p:sp>
        <p:nvSpPr>
          <p:cNvPr id="27" name="Shape 23"/>
          <p:cNvSpPr/>
          <p:nvPr/>
        </p:nvSpPr>
        <p:spPr>
          <a:xfrm>
            <a:off x="4448175" y="4772620"/>
            <a:ext cx="4702255" cy="518160"/>
          </a:xfrm>
          <a:prstGeom prst="rect">
            <a:avLst/>
          </a:prstGeom>
          <a:solidFill>
            <a:srgbClr val="F6F9FD"/>
          </a:solidFill>
          <a:ln/>
        </p:spPr>
      </p:sp>
      <p:sp>
        <p:nvSpPr>
          <p:cNvPr id="28" name="Shape 24"/>
          <p:cNvSpPr/>
          <p:nvPr/>
        </p:nvSpPr>
        <p:spPr>
          <a:xfrm>
            <a:off x="4448175" y="5283160"/>
            <a:ext cx="4702255" cy="9525"/>
          </a:xfrm>
          <a:prstGeom prst="rect">
            <a:avLst/>
          </a:prstGeom>
          <a:solidFill>
            <a:srgbClr val="E1E9F2"/>
          </a:solidFill>
          <a:ln/>
        </p:spPr>
      </p:sp>
      <p:sp>
        <p:nvSpPr>
          <p:cNvPr id="29" name="Text 25"/>
          <p:cNvSpPr/>
          <p:nvPr/>
        </p:nvSpPr>
        <p:spPr>
          <a:xfrm>
            <a:off x="4619625" y="4886920"/>
            <a:ext cx="450042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TRIAC</a:t>
            </a:r>
            <a:endParaRPr lang="en-US" sz="1725" dirty="0"/>
          </a:p>
        </p:txBody>
      </p:sp>
      <p:sp>
        <p:nvSpPr>
          <p:cNvPr id="30" name="Shape 26"/>
          <p:cNvSpPr/>
          <p:nvPr/>
        </p:nvSpPr>
        <p:spPr>
          <a:xfrm>
            <a:off x="9150429" y="4772620"/>
            <a:ext cx="4587121" cy="518160"/>
          </a:xfrm>
          <a:prstGeom prst="rect">
            <a:avLst/>
          </a:prstGeom>
          <a:solidFill>
            <a:srgbClr val="F6F9FD"/>
          </a:solidFill>
          <a:ln/>
        </p:spPr>
      </p:sp>
      <p:sp>
        <p:nvSpPr>
          <p:cNvPr id="31" name="Shape 27"/>
          <p:cNvSpPr/>
          <p:nvPr/>
        </p:nvSpPr>
        <p:spPr>
          <a:xfrm>
            <a:off x="9150429" y="5283160"/>
            <a:ext cx="4587121" cy="9525"/>
          </a:xfrm>
          <a:prstGeom prst="rect">
            <a:avLst/>
          </a:prstGeom>
          <a:solidFill>
            <a:srgbClr val="E1E9F2"/>
          </a:solidFill>
          <a:ln/>
        </p:spPr>
      </p:sp>
      <p:sp>
        <p:nvSpPr>
          <p:cNvPr id="32" name="Text 28"/>
          <p:cNvSpPr/>
          <p:nvPr/>
        </p:nvSpPr>
        <p:spPr>
          <a:xfrm>
            <a:off x="9321879" y="4886920"/>
            <a:ext cx="4381835"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PID</a:t>
            </a:r>
            <a:endParaRPr lang="en-US" sz="1725" dirty="0"/>
          </a:p>
        </p:txBody>
      </p:sp>
      <p:sp>
        <p:nvSpPr>
          <p:cNvPr id="33" name="Shape 29"/>
          <p:cNvSpPr/>
          <p:nvPr/>
        </p:nvSpPr>
        <p:spPr>
          <a:xfrm>
            <a:off x="13737551" y="4772620"/>
            <a:ext cx="3750350" cy="518160"/>
          </a:xfrm>
          <a:prstGeom prst="rect">
            <a:avLst/>
          </a:prstGeom>
          <a:solidFill>
            <a:srgbClr val="F6F9FD"/>
          </a:solidFill>
          <a:ln/>
        </p:spPr>
      </p:sp>
      <p:sp>
        <p:nvSpPr>
          <p:cNvPr id="34" name="Shape 30"/>
          <p:cNvSpPr/>
          <p:nvPr/>
        </p:nvSpPr>
        <p:spPr>
          <a:xfrm>
            <a:off x="13737551" y="5283160"/>
            <a:ext cx="3750350" cy="9525"/>
          </a:xfrm>
          <a:prstGeom prst="rect">
            <a:avLst/>
          </a:prstGeom>
          <a:solidFill>
            <a:srgbClr val="E1E9F2"/>
          </a:solidFill>
          <a:ln/>
        </p:spPr>
      </p:sp>
      <p:sp>
        <p:nvSpPr>
          <p:cNvPr id="35" name="Text 31"/>
          <p:cNvSpPr/>
          <p:nvPr/>
        </p:nvSpPr>
        <p:spPr>
          <a:xfrm>
            <a:off x="13909001" y="4886920"/>
            <a:ext cx="3519960"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Pompa air</a:t>
            </a:r>
            <a:endParaRPr lang="en-US" sz="1725" dirty="0"/>
          </a:p>
        </p:txBody>
      </p:sp>
      <p:sp>
        <p:nvSpPr>
          <p:cNvPr id="36" name="Shape 32"/>
          <p:cNvSpPr/>
          <p:nvPr/>
        </p:nvSpPr>
        <p:spPr>
          <a:xfrm>
            <a:off x="800100" y="5801321"/>
            <a:ext cx="3648075" cy="9525"/>
          </a:xfrm>
          <a:prstGeom prst="rect">
            <a:avLst/>
          </a:prstGeom>
          <a:solidFill>
            <a:srgbClr val="E1E9F2"/>
          </a:solidFill>
          <a:ln/>
        </p:spPr>
      </p:sp>
      <p:sp>
        <p:nvSpPr>
          <p:cNvPr id="37" name="Text 33"/>
          <p:cNvSpPr/>
          <p:nvPr/>
        </p:nvSpPr>
        <p:spPr>
          <a:xfrm>
            <a:off x="971550" y="5405081"/>
            <a:ext cx="3414617"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Sabir &amp; Koshti (2023)</a:t>
            </a:r>
            <a:endParaRPr lang="en-US" sz="1725" dirty="0"/>
          </a:p>
        </p:txBody>
      </p:sp>
      <p:sp>
        <p:nvSpPr>
          <p:cNvPr id="38" name="Shape 34"/>
          <p:cNvSpPr/>
          <p:nvPr/>
        </p:nvSpPr>
        <p:spPr>
          <a:xfrm>
            <a:off x="4448175" y="5801321"/>
            <a:ext cx="4702255" cy="9525"/>
          </a:xfrm>
          <a:prstGeom prst="rect">
            <a:avLst/>
          </a:prstGeom>
          <a:solidFill>
            <a:srgbClr val="E1E9F2"/>
          </a:solidFill>
          <a:ln/>
        </p:spPr>
      </p:sp>
      <p:sp>
        <p:nvSpPr>
          <p:cNvPr id="39" name="Text 35"/>
          <p:cNvSpPr/>
          <p:nvPr/>
        </p:nvSpPr>
        <p:spPr>
          <a:xfrm>
            <a:off x="4619625" y="5405081"/>
            <a:ext cx="450042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PWM AC Chopper</a:t>
            </a:r>
            <a:endParaRPr lang="en-US" sz="1725" dirty="0"/>
          </a:p>
        </p:txBody>
      </p:sp>
      <p:sp>
        <p:nvSpPr>
          <p:cNvPr id="40" name="Shape 36"/>
          <p:cNvSpPr/>
          <p:nvPr/>
        </p:nvSpPr>
        <p:spPr>
          <a:xfrm>
            <a:off x="9150429" y="5801321"/>
            <a:ext cx="4587121" cy="9525"/>
          </a:xfrm>
          <a:prstGeom prst="rect">
            <a:avLst/>
          </a:prstGeom>
          <a:solidFill>
            <a:srgbClr val="E1E9F2"/>
          </a:solidFill>
          <a:ln/>
        </p:spPr>
      </p:sp>
      <p:sp>
        <p:nvSpPr>
          <p:cNvPr id="41" name="Text 37"/>
          <p:cNvSpPr/>
          <p:nvPr/>
        </p:nvSpPr>
        <p:spPr>
          <a:xfrm>
            <a:off x="9321879" y="5405081"/>
            <a:ext cx="4381835"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RBFNN</a:t>
            </a:r>
            <a:endParaRPr lang="en-US" sz="1725" dirty="0"/>
          </a:p>
        </p:txBody>
      </p:sp>
      <p:sp>
        <p:nvSpPr>
          <p:cNvPr id="42" name="Shape 38"/>
          <p:cNvSpPr/>
          <p:nvPr/>
        </p:nvSpPr>
        <p:spPr>
          <a:xfrm>
            <a:off x="13737551" y="5801321"/>
            <a:ext cx="3750350" cy="9525"/>
          </a:xfrm>
          <a:prstGeom prst="rect">
            <a:avLst/>
          </a:prstGeom>
          <a:solidFill>
            <a:srgbClr val="E1E9F2"/>
          </a:solidFill>
          <a:ln/>
        </p:spPr>
      </p:sp>
      <p:sp>
        <p:nvSpPr>
          <p:cNvPr id="43" name="Text 39"/>
          <p:cNvSpPr/>
          <p:nvPr/>
        </p:nvSpPr>
        <p:spPr>
          <a:xfrm>
            <a:off x="13909001" y="5405081"/>
            <a:ext cx="3519960"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Simulasi (PSIM)</a:t>
            </a:r>
            <a:endParaRPr lang="en-US" sz="1725" dirty="0"/>
          </a:p>
        </p:txBody>
      </p:sp>
      <p:sp>
        <p:nvSpPr>
          <p:cNvPr id="44" name="Shape 40"/>
          <p:cNvSpPr/>
          <p:nvPr/>
        </p:nvSpPr>
        <p:spPr>
          <a:xfrm>
            <a:off x="800100" y="5808940"/>
            <a:ext cx="3648075" cy="487680"/>
          </a:xfrm>
          <a:prstGeom prst="rect">
            <a:avLst/>
          </a:prstGeom>
          <a:solidFill>
            <a:srgbClr val="E2EFFC"/>
          </a:solidFill>
          <a:ln/>
        </p:spPr>
      </p:sp>
      <p:sp>
        <p:nvSpPr>
          <p:cNvPr id="45" name="Shape 41"/>
          <p:cNvSpPr/>
          <p:nvPr/>
        </p:nvSpPr>
        <p:spPr>
          <a:xfrm>
            <a:off x="800100" y="6289000"/>
            <a:ext cx="3648075" cy="9525"/>
          </a:xfrm>
          <a:prstGeom prst="rect">
            <a:avLst/>
          </a:prstGeom>
          <a:solidFill>
            <a:srgbClr val="E1E9F2"/>
          </a:solidFill>
          <a:ln/>
        </p:spPr>
      </p:sp>
      <p:sp>
        <p:nvSpPr>
          <p:cNvPr id="46" name="Text 42"/>
          <p:cNvSpPr/>
          <p:nvPr/>
        </p:nvSpPr>
        <p:spPr>
          <a:xfrm>
            <a:off x="971550" y="5923240"/>
            <a:ext cx="3414617" cy="289560"/>
          </a:xfrm>
          <a:prstGeom prst="rect">
            <a:avLst/>
          </a:prstGeom>
          <a:noFill/>
          <a:ln/>
        </p:spPr>
        <p:txBody>
          <a:bodyPr wrap="square" lIns="25400" tIns="25400" rIns="25400" bIns="25400" rtlCol="0" anchor="ctr">
            <a:normAutofit/>
          </a:bodyPr>
          <a:lstStyle/>
          <a:p>
            <a:pPr marL="0" indent="0" algn="l">
              <a:buNone/>
            </a:pPr>
            <a:r>
              <a:rPr lang="en-US" sz="1725" b="1" dirty="0">
                <a:solidFill>
                  <a:srgbClr val="1763A6"/>
                </a:solidFill>
                <a:latin typeface="Arial" pitchFamily="34" charset="0"/>
                <a:ea typeface="Arial" pitchFamily="34" charset="-122"/>
                <a:cs typeface="Arial" pitchFamily="34" charset="-120"/>
              </a:rPr>
              <a:t>Penelitian ini (2026)</a:t>
            </a:r>
            <a:endParaRPr lang="en-US" sz="1725" dirty="0"/>
          </a:p>
        </p:txBody>
      </p:sp>
      <p:sp>
        <p:nvSpPr>
          <p:cNvPr id="47" name="Shape 43"/>
          <p:cNvSpPr/>
          <p:nvPr/>
        </p:nvSpPr>
        <p:spPr>
          <a:xfrm>
            <a:off x="4448175" y="5808940"/>
            <a:ext cx="4702255" cy="487680"/>
          </a:xfrm>
          <a:prstGeom prst="rect">
            <a:avLst/>
          </a:prstGeom>
          <a:solidFill>
            <a:srgbClr val="E2EFFC"/>
          </a:solidFill>
          <a:ln/>
        </p:spPr>
      </p:sp>
      <p:sp>
        <p:nvSpPr>
          <p:cNvPr id="48" name="Shape 44"/>
          <p:cNvSpPr/>
          <p:nvPr/>
        </p:nvSpPr>
        <p:spPr>
          <a:xfrm>
            <a:off x="4448175" y="6289000"/>
            <a:ext cx="4702255" cy="9525"/>
          </a:xfrm>
          <a:prstGeom prst="rect">
            <a:avLst/>
          </a:prstGeom>
          <a:solidFill>
            <a:srgbClr val="E1E9F2"/>
          </a:solidFill>
          <a:ln/>
        </p:spPr>
      </p:sp>
      <p:sp>
        <p:nvSpPr>
          <p:cNvPr id="49" name="Text 45"/>
          <p:cNvSpPr/>
          <p:nvPr/>
        </p:nvSpPr>
        <p:spPr>
          <a:xfrm>
            <a:off x="4619625" y="5923240"/>
            <a:ext cx="4500422" cy="289560"/>
          </a:xfrm>
          <a:prstGeom prst="rect">
            <a:avLst/>
          </a:prstGeom>
          <a:noFill/>
          <a:ln/>
        </p:spPr>
        <p:txBody>
          <a:bodyPr wrap="square" lIns="25400" tIns="25400" rIns="25400" bIns="25400" rtlCol="0" anchor="ctr">
            <a:normAutofit/>
          </a:bodyPr>
          <a:lstStyle/>
          <a:p>
            <a:pPr marL="0" indent="0" algn="l">
              <a:buNone/>
            </a:pPr>
            <a:r>
              <a:rPr lang="en-US" sz="1725" b="1" dirty="0">
                <a:solidFill>
                  <a:srgbClr val="1763A6"/>
                </a:solidFill>
                <a:latin typeface="Arial" pitchFamily="34" charset="0"/>
                <a:ea typeface="Arial" pitchFamily="34" charset="-122"/>
                <a:cs typeface="Arial" pitchFamily="34" charset="-120"/>
              </a:rPr>
              <a:t>PWM AC Chopper full-bridge</a:t>
            </a:r>
            <a:endParaRPr lang="en-US" sz="1725" dirty="0"/>
          </a:p>
        </p:txBody>
      </p:sp>
      <p:sp>
        <p:nvSpPr>
          <p:cNvPr id="50" name="Shape 46"/>
          <p:cNvSpPr/>
          <p:nvPr/>
        </p:nvSpPr>
        <p:spPr>
          <a:xfrm>
            <a:off x="9150429" y="5808940"/>
            <a:ext cx="4587121" cy="487680"/>
          </a:xfrm>
          <a:prstGeom prst="rect">
            <a:avLst/>
          </a:prstGeom>
          <a:solidFill>
            <a:srgbClr val="E2EFFC"/>
          </a:solidFill>
          <a:ln/>
        </p:spPr>
      </p:sp>
      <p:sp>
        <p:nvSpPr>
          <p:cNvPr id="51" name="Shape 47"/>
          <p:cNvSpPr/>
          <p:nvPr/>
        </p:nvSpPr>
        <p:spPr>
          <a:xfrm>
            <a:off x="9150429" y="6289000"/>
            <a:ext cx="4587121" cy="9525"/>
          </a:xfrm>
          <a:prstGeom prst="rect">
            <a:avLst/>
          </a:prstGeom>
          <a:solidFill>
            <a:srgbClr val="E1E9F2"/>
          </a:solidFill>
          <a:ln/>
        </p:spPr>
      </p:sp>
      <p:sp>
        <p:nvSpPr>
          <p:cNvPr id="52" name="Text 48"/>
          <p:cNvSpPr/>
          <p:nvPr/>
        </p:nvSpPr>
        <p:spPr>
          <a:xfrm>
            <a:off x="9321879" y="5923240"/>
            <a:ext cx="4381835" cy="289560"/>
          </a:xfrm>
          <a:prstGeom prst="rect">
            <a:avLst/>
          </a:prstGeom>
          <a:noFill/>
          <a:ln/>
        </p:spPr>
        <p:txBody>
          <a:bodyPr wrap="square" lIns="25400" tIns="25400" rIns="25400" bIns="25400" rtlCol="0" anchor="ctr">
            <a:normAutofit/>
          </a:bodyPr>
          <a:lstStyle/>
          <a:p>
            <a:pPr marL="0" indent="0" algn="l">
              <a:buNone/>
            </a:pPr>
            <a:r>
              <a:rPr lang="en-US" sz="1725" b="1" dirty="0">
                <a:solidFill>
                  <a:srgbClr val="1763A6"/>
                </a:solidFill>
                <a:latin typeface="Arial" pitchFamily="34" charset="0"/>
                <a:ea typeface="Arial" pitchFamily="34" charset="-122"/>
                <a:cs typeface="Arial" pitchFamily="34" charset="-120"/>
              </a:rPr>
              <a:t>Neural Network (MLP 3-4-1)</a:t>
            </a:r>
            <a:endParaRPr lang="en-US" sz="1725" dirty="0"/>
          </a:p>
        </p:txBody>
      </p:sp>
      <p:sp>
        <p:nvSpPr>
          <p:cNvPr id="53" name="Shape 49"/>
          <p:cNvSpPr/>
          <p:nvPr/>
        </p:nvSpPr>
        <p:spPr>
          <a:xfrm>
            <a:off x="13737551" y="5808940"/>
            <a:ext cx="3750350" cy="487680"/>
          </a:xfrm>
          <a:prstGeom prst="rect">
            <a:avLst/>
          </a:prstGeom>
          <a:solidFill>
            <a:srgbClr val="E2EFFC"/>
          </a:solidFill>
          <a:ln/>
        </p:spPr>
      </p:sp>
      <p:sp>
        <p:nvSpPr>
          <p:cNvPr id="54" name="Shape 50"/>
          <p:cNvSpPr/>
          <p:nvPr/>
        </p:nvSpPr>
        <p:spPr>
          <a:xfrm>
            <a:off x="13737551" y="6289000"/>
            <a:ext cx="3750350" cy="9525"/>
          </a:xfrm>
          <a:prstGeom prst="rect">
            <a:avLst/>
          </a:prstGeom>
          <a:solidFill>
            <a:srgbClr val="E1E9F2"/>
          </a:solidFill>
          <a:ln/>
        </p:spPr>
      </p:sp>
      <p:sp>
        <p:nvSpPr>
          <p:cNvPr id="55" name="Text 51"/>
          <p:cNvSpPr/>
          <p:nvPr/>
        </p:nvSpPr>
        <p:spPr>
          <a:xfrm>
            <a:off x="13909001" y="5923240"/>
            <a:ext cx="3519960" cy="289560"/>
          </a:xfrm>
          <a:prstGeom prst="rect">
            <a:avLst/>
          </a:prstGeom>
          <a:noFill/>
          <a:ln/>
        </p:spPr>
        <p:txBody>
          <a:bodyPr wrap="square" lIns="25400" tIns="25400" rIns="25400" bIns="25400" rtlCol="0" anchor="ctr">
            <a:normAutofit/>
          </a:bodyPr>
          <a:lstStyle/>
          <a:p>
            <a:pPr marL="0" indent="0" algn="l">
              <a:buNone/>
            </a:pPr>
            <a:r>
              <a:rPr lang="en-US" sz="1725" b="1" dirty="0">
                <a:solidFill>
                  <a:srgbClr val="1763A6"/>
                </a:solidFill>
                <a:latin typeface="Arial" pitchFamily="34" charset="0"/>
                <a:ea typeface="Arial" pitchFamily="34" charset="-122"/>
                <a:cs typeface="Arial" pitchFamily="34" charset="-120"/>
              </a:rPr>
              <a:t>Hardware + pompa air</a:t>
            </a:r>
            <a:endParaRPr lang="en-US" sz="1725" dirty="0"/>
          </a:p>
        </p:txBody>
      </p:sp>
      <p:sp>
        <p:nvSpPr>
          <p:cNvPr id="56" name="Text 52"/>
          <p:cNvSpPr/>
          <p:nvPr/>
        </p:nvSpPr>
        <p:spPr>
          <a:xfrm>
            <a:off x="800100" y="6509981"/>
            <a:ext cx="17188434" cy="578168"/>
          </a:xfrm>
          <a:prstGeom prst="rect">
            <a:avLst/>
          </a:prstGeom>
          <a:noFill/>
          <a:ln/>
        </p:spPr>
        <p:txBody>
          <a:bodyPr wrap="square" lIns="25400" tIns="25400" rIns="25400" bIns="25400" rtlCol="0" anchor="t">
            <a:normAutofit/>
          </a:bodyPr>
          <a:lstStyle/>
          <a:p>
            <a:pPr marL="0" indent="0" algn="l">
              <a:lnSpc>
                <a:spcPct val="135000"/>
              </a:lnSpc>
              <a:buNone/>
            </a:pPr>
            <a:r>
              <a:rPr lang="en-US" sz="1575" dirty="0">
                <a:solidFill>
                  <a:srgbClr val="7E92A8"/>
                </a:solidFill>
                <a:latin typeface="Arial" pitchFamily="34" charset="0"/>
                <a:ea typeface="Arial" pitchFamily="34" charset="-122"/>
                <a:cs typeface="Arial" pitchFamily="34" charset="-120"/>
              </a:rPr>
              <a:t>Posisi penelitian: menggabungkan rangkaian daya PWM AC chopper full-bridge dengan pengendali neural network yang dilatih dari data operasi nyata (behavior cloning) dan diuji langsung pada perangkat keras.</a:t>
            </a:r>
            <a:endParaRPr lang="en-US" sz="1575" dirty="0"/>
          </a:p>
        </p:txBody>
      </p:sp>
      <p:sp>
        <p:nvSpPr>
          <p:cNvPr id="57" name="Shape 53"/>
          <p:cNvSpPr/>
          <p:nvPr/>
        </p:nvSpPr>
        <p:spPr>
          <a:xfrm>
            <a:off x="0" y="9486900"/>
            <a:ext cx="18288000" cy="9525"/>
          </a:xfrm>
          <a:prstGeom prst="rect">
            <a:avLst/>
          </a:prstGeom>
          <a:solidFill>
            <a:srgbClr val="E1E9F2"/>
          </a:solidFill>
          <a:ln/>
        </p:spPr>
      </p:sp>
      <p:sp>
        <p:nvSpPr>
          <p:cNvPr id="58" name="Text 54"/>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59" name="Shape 55"/>
          <p:cNvSpPr/>
          <p:nvPr/>
        </p:nvSpPr>
        <p:spPr>
          <a:xfrm>
            <a:off x="2269808" y="10023158"/>
            <a:ext cx="1394698" cy="22860"/>
          </a:xfrm>
          <a:prstGeom prst="rect">
            <a:avLst/>
          </a:prstGeom>
          <a:solidFill>
            <a:srgbClr val="2E86DE"/>
          </a:solidFill>
          <a:ln/>
        </p:spPr>
      </p:sp>
      <p:sp>
        <p:nvSpPr>
          <p:cNvPr id="60" name="Text 56"/>
          <p:cNvSpPr/>
          <p:nvPr/>
        </p:nvSpPr>
        <p:spPr>
          <a:xfrm>
            <a:off x="2269808" y="9758363"/>
            <a:ext cx="147089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Tinjauan Pustaka</a:t>
            </a:r>
            <a:endParaRPr lang="en-US" sz="1350" dirty="0"/>
          </a:p>
        </p:txBody>
      </p:sp>
      <p:sp>
        <p:nvSpPr>
          <p:cNvPr id="61" name="Text 57"/>
          <p:cNvSpPr/>
          <p:nvPr/>
        </p:nvSpPr>
        <p:spPr>
          <a:xfrm>
            <a:off x="3950256"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62" name="Text 58"/>
          <p:cNvSpPr/>
          <p:nvPr/>
        </p:nvSpPr>
        <p:spPr>
          <a:xfrm>
            <a:off x="5312331"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63" name="Text 59"/>
          <p:cNvSpPr/>
          <p:nvPr/>
        </p:nvSpPr>
        <p:spPr>
          <a:xfrm>
            <a:off x="7535466"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64" name="Text 60"/>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10154007"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II · DASAR TEORI</a:t>
            </a:r>
            <a:endParaRPr lang="en-US" sz="1500" dirty="0"/>
          </a:p>
        </p:txBody>
      </p:sp>
      <p:sp>
        <p:nvSpPr>
          <p:cNvPr id="5" name="Text 3"/>
          <p:cNvSpPr/>
          <p:nvPr/>
        </p:nvSpPr>
        <p:spPr>
          <a:xfrm>
            <a:off x="1108710" y="830580"/>
            <a:ext cx="10154007"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Inverter Satu Fasa &amp; PWM AC Chopper</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1671042"/>
            <a:ext cx="8181975" cy="5939433"/>
          </a:xfrm>
          <a:prstGeom prst="roundRect">
            <a:avLst>
              <a:gd name="adj" fmla="val 2245"/>
            </a:avLst>
          </a:prstGeom>
          <a:solidFill>
            <a:srgbClr val="FFFFFF"/>
          </a:solidFill>
          <a:ln w="7620">
            <a:solidFill>
              <a:srgbClr val="E1E9F2"/>
            </a:solidFill>
            <a:prstDash val="solid"/>
          </a:ln>
        </p:spPr>
      </p:sp>
      <p:pic>
        <p:nvPicPr>
          <p:cNvPr id="9" name="Image 2" descr="preencoded.png"/>
          <p:cNvPicPr>
            <a:picLocks noChangeAspect="1"/>
          </p:cNvPicPr>
          <p:nvPr/>
        </p:nvPicPr>
        <p:blipFill>
          <a:blip r:embed="rId5"/>
          <a:srcRect/>
          <a:stretch/>
        </p:blipFill>
        <p:spPr>
          <a:xfrm>
            <a:off x="1614488" y="2773799"/>
            <a:ext cx="6553200" cy="3733800"/>
          </a:xfrm>
          <a:prstGeom prst="rect">
            <a:avLst/>
          </a:prstGeom>
        </p:spPr>
      </p:pic>
      <p:sp>
        <p:nvSpPr>
          <p:cNvPr id="10" name="Text 5"/>
          <p:cNvSpPr/>
          <p:nvPr/>
        </p:nvSpPr>
        <p:spPr>
          <a:xfrm>
            <a:off x="800100" y="7867650"/>
            <a:ext cx="9000173" cy="251460"/>
          </a:xfrm>
          <a:prstGeom prst="rect">
            <a:avLst/>
          </a:prstGeom>
          <a:noFill/>
          <a:ln/>
        </p:spPr>
        <p:txBody>
          <a:bodyPr wrap="square" lIns="25400" tIns="25400" rIns="25400" bIns="25400" rtlCol="0" anchor="t">
            <a:normAutofit/>
          </a:bodyPr>
          <a:lstStyle/>
          <a:p>
            <a:pPr marL="0" indent="0" algn="l">
              <a:buNone/>
            </a:pPr>
            <a:r>
              <a:rPr lang="en-US" sz="1275" kern="0" spc="22" dirty="0">
                <a:solidFill>
                  <a:srgbClr val="7E92A8"/>
                </a:solidFill>
                <a:latin typeface="Arial" pitchFamily="34" charset="0"/>
                <a:ea typeface="Arial" pitchFamily="34" charset="-122"/>
                <a:cs typeface="Arial" pitchFamily="34" charset="-120"/>
              </a:rPr>
              <a:t>Gambar 2.1 — Rangkaian inverter full-bridge (Hart, 2011)</a:t>
            </a:r>
            <a:endParaRPr lang="en-US" sz="1275" dirty="0"/>
          </a:p>
        </p:txBody>
      </p:sp>
      <p:sp>
        <p:nvSpPr>
          <p:cNvPr id="11" name="Shape 6"/>
          <p:cNvSpPr/>
          <p:nvPr/>
        </p:nvSpPr>
        <p:spPr>
          <a:xfrm>
            <a:off x="9305925" y="1671042"/>
            <a:ext cx="8181975" cy="5939433"/>
          </a:xfrm>
          <a:prstGeom prst="roundRect">
            <a:avLst>
              <a:gd name="adj" fmla="val 2245"/>
            </a:avLst>
          </a:prstGeom>
          <a:solidFill>
            <a:srgbClr val="FFFFFF"/>
          </a:solidFill>
          <a:ln w="7620">
            <a:solidFill>
              <a:srgbClr val="E1E9F2"/>
            </a:solidFill>
            <a:prstDash val="solid"/>
          </a:ln>
        </p:spPr>
      </p:sp>
      <p:pic>
        <p:nvPicPr>
          <p:cNvPr id="12" name="Image 3" descr="preencoded.png"/>
          <p:cNvPicPr>
            <a:picLocks noChangeAspect="1"/>
          </p:cNvPicPr>
          <p:nvPr/>
        </p:nvPicPr>
        <p:blipFill>
          <a:blip r:embed="rId6"/>
          <a:srcRect/>
          <a:stretch/>
        </p:blipFill>
        <p:spPr>
          <a:xfrm>
            <a:off x="9484995" y="2810113"/>
            <a:ext cx="7823835" cy="3661291"/>
          </a:xfrm>
          <a:prstGeom prst="rect">
            <a:avLst/>
          </a:prstGeom>
        </p:spPr>
      </p:pic>
      <p:sp>
        <p:nvSpPr>
          <p:cNvPr id="13" name="Text 7"/>
          <p:cNvSpPr/>
          <p:nvPr/>
        </p:nvSpPr>
        <p:spPr>
          <a:xfrm>
            <a:off x="9305925" y="7867650"/>
            <a:ext cx="9000173" cy="251460"/>
          </a:xfrm>
          <a:prstGeom prst="rect">
            <a:avLst/>
          </a:prstGeom>
          <a:noFill/>
          <a:ln/>
        </p:spPr>
        <p:txBody>
          <a:bodyPr wrap="square" lIns="25400" tIns="25400" rIns="25400" bIns="25400" rtlCol="0" anchor="t">
            <a:normAutofit/>
          </a:bodyPr>
          <a:lstStyle/>
          <a:p>
            <a:pPr marL="0" indent="0" algn="l">
              <a:buNone/>
            </a:pPr>
            <a:r>
              <a:rPr lang="en-US" sz="1275" kern="0" spc="22" dirty="0">
                <a:solidFill>
                  <a:srgbClr val="7E92A8"/>
                </a:solidFill>
                <a:latin typeface="Arial" pitchFamily="34" charset="0"/>
                <a:ea typeface="Arial" pitchFamily="34" charset="-122"/>
                <a:cs typeface="Arial" pitchFamily="34" charset="-120"/>
              </a:rPr>
              <a:t>Gambar 2.5 — Susunan saklar pada rangkaian PWM AC chopper</a:t>
            </a:r>
            <a:endParaRPr lang="en-US" sz="1275" dirty="0"/>
          </a:p>
        </p:txBody>
      </p:sp>
      <p:sp>
        <p:nvSpPr>
          <p:cNvPr id="14" name="Text 8"/>
          <p:cNvSpPr/>
          <p:nvPr/>
        </p:nvSpPr>
        <p:spPr>
          <a:xfrm>
            <a:off x="800100" y="8271510"/>
            <a:ext cx="14716125" cy="86296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3495F"/>
                </a:solidFill>
                <a:latin typeface="Arial" pitchFamily="34" charset="0"/>
                <a:ea typeface="Arial" pitchFamily="34" charset="-122"/>
                <a:cs typeface="Arial" pitchFamily="34" charset="-120"/>
              </a:rPr>
              <a:t>Pemotongan tegangan AC secara </a:t>
            </a:r>
            <a:r>
              <a:rPr lang="en-US" sz="2025" b="1" dirty="0">
                <a:solidFill>
                  <a:srgbClr val="1763A6"/>
                </a:solidFill>
                <a:latin typeface="Arial" pitchFamily="34" charset="0"/>
                <a:ea typeface="Arial" pitchFamily="34" charset="-122"/>
                <a:cs typeface="Arial" pitchFamily="34" charset="-120"/>
              </a:rPr>
              <a:t>bipolar </a:t>
            </a:r>
            <a:r>
              <a:rPr lang="en-US" sz="2025" dirty="0">
                <a:solidFill>
                  <a:srgbClr val="33495F"/>
                </a:solidFill>
                <a:latin typeface="Arial" pitchFamily="34" charset="0"/>
                <a:ea typeface="Arial" pitchFamily="34" charset="-122"/>
                <a:cs typeface="Arial" pitchFamily="34" charset="-120"/>
              </a:rPr>
              <a:t>menghasilkan tegangan RMS keluaran yang linear terhadap duty cycle: </a:t>
            </a:r>
            <a:r>
              <a:rPr lang="en-US" sz="2025" b="1" dirty="0">
                <a:solidFill>
                  <a:srgbClr val="1763A6"/>
                </a:solidFill>
                <a:latin typeface="Arial" pitchFamily="34" charset="0"/>
                <a:ea typeface="Arial" pitchFamily="34" charset="-122"/>
                <a:cs typeface="Arial" pitchFamily="34" charset="-120"/>
              </a:rPr>
              <a:t>V</a:t>
            </a:r>
            <a:r>
              <a:rPr lang="en-US" sz="1688" b="1" baseline="-40000" dirty="0">
                <a:solidFill>
                  <a:srgbClr val="1763A6"/>
                </a:solidFill>
                <a:latin typeface="Arial" pitchFamily="34" charset="0"/>
                <a:ea typeface="Arial" pitchFamily="34" charset="-122"/>
                <a:cs typeface="Arial" pitchFamily="34" charset="-120"/>
              </a:rPr>
              <a:t>out </a:t>
            </a:r>
            <a:r>
              <a:rPr lang="en-US" sz="2025" b="1" dirty="0">
                <a:solidFill>
                  <a:srgbClr val="1763A6"/>
                </a:solidFill>
                <a:latin typeface="Arial" pitchFamily="34" charset="0"/>
                <a:ea typeface="Arial" pitchFamily="34" charset="-122"/>
                <a:cs typeface="Arial" pitchFamily="34" charset="-120"/>
              </a:rPr>
              <a:t>= D · V </a:t>
            </a:r>
            <a:r>
              <a:rPr lang="en-US" sz="1688" b="1" baseline="-40000" dirty="0">
                <a:solidFill>
                  <a:srgbClr val="1763A6"/>
                </a:solidFill>
                <a:latin typeface="Arial" pitchFamily="34" charset="0"/>
                <a:ea typeface="Arial" pitchFamily="34" charset="-122"/>
                <a:cs typeface="Arial" pitchFamily="34" charset="-120"/>
              </a:rPr>
              <a:t>in</a:t>
            </a:r>
            <a:r>
              <a:rPr lang="en-US" sz="2025" dirty="0">
                <a:solidFill>
                  <a:srgbClr val="33495F"/>
                </a:solidFill>
                <a:latin typeface="Arial" pitchFamily="34" charset="0"/>
                <a:ea typeface="Arial" pitchFamily="34" charset="-122"/>
                <a:cs typeface="Arial" pitchFamily="34" charset="-120"/>
              </a:rPr>
              <a:t>.</a:t>
            </a:r>
            <a:endParaRPr lang="en-US" sz="2025" dirty="0"/>
          </a:p>
        </p:txBody>
      </p:sp>
      <p:sp>
        <p:nvSpPr>
          <p:cNvPr id="15" name="Shape 9"/>
          <p:cNvSpPr/>
          <p:nvPr/>
        </p:nvSpPr>
        <p:spPr>
          <a:xfrm>
            <a:off x="0" y="9486900"/>
            <a:ext cx="18288000" cy="9525"/>
          </a:xfrm>
          <a:prstGeom prst="rect">
            <a:avLst/>
          </a:prstGeom>
          <a:solidFill>
            <a:srgbClr val="E1E9F2"/>
          </a:solidFill>
          <a:ln/>
        </p:spPr>
      </p:sp>
      <p:sp>
        <p:nvSpPr>
          <p:cNvPr id="16" name="Text 10"/>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17" name="Shape 11"/>
          <p:cNvSpPr/>
          <p:nvPr/>
        </p:nvSpPr>
        <p:spPr>
          <a:xfrm>
            <a:off x="2269808" y="10023158"/>
            <a:ext cx="1394698" cy="22860"/>
          </a:xfrm>
          <a:prstGeom prst="rect">
            <a:avLst/>
          </a:prstGeom>
          <a:solidFill>
            <a:srgbClr val="2E86DE"/>
          </a:solidFill>
          <a:ln/>
        </p:spPr>
      </p:sp>
      <p:sp>
        <p:nvSpPr>
          <p:cNvPr id="18" name="Text 12"/>
          <p:cNvSpPr/>
          <p:nvPr/>
        </p:nvSpPr>
        <p:spPr>
          <a:xfrm>
            <a:off x="2269808" y="9758363"/>
            <a:ext cx="147089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Tinjauan Pustaka</a:t>
            </a:r>
            <a:endParaRPr lang="en-US" sz="1350" dirty="0"/>
          </a:p>
        </p:txBody>
      </p:sp>
      <p:sp>
        <p:nvSpPr>
          <p:cNvPr id="19" name="Text 13"/>
          <p:cNvSpPr/>
          <p:nvPr/>
        </p:nvSpPr>
        <p:spPr>
          <a:xfrm>
            <a:off x="3950256"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20" name="Text 14"/>
          <p:cNvSpPr/>
          <p:nvPr/>
        </p:nvSpPr>
        <p:spPr>
          <a:xfrm>
            <a:off x="5312331"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21" name="Text 15"/>
          <p:cNvSpPr/>
          <p:nvPr/>
        </p:nvSpPr>
        <p:spPr>
          <a:xfrm>
            <a:off x="7535466"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22" name="Text 16"/>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9822133"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II · DASAR TEORI</a:t>
            </a:r>
            <a:endParaRPr lang="en-US" sz="1500" dirty="0"/>
          </a:p>
        </p:txBody>
      </p:sp>
      <p:sp>
        <p:nvSpPr>
          <p:cNvPr id="5" name="Text 3"/>
          <p:cNvSpPr/>
          <p:nvPr/>
        </p:nvSpPr>
        <p:spPr>
          <a:xfrm>
            <a:off x="1108710" y="830580"/>
            <a:ext cx="9822133"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Karakteristik Pompa &amp; Neural Network</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1671042"/>
            <a:ext cx="8181975" cy="6036588"/>
          </a:xfrm>
          <a:prstGeom prst="roundRect">
            <a:avLst>
              <a:gd name="adj" fmla="val 2209"/>
            </a:avLst>
          </a:prstGeom>
          <a:solidFill>
            <a:srgbClr val="FFFFFF"/>
          </a:solidFill>
          <a:ln w="7620">
            <a:solidFill>
              <a:srgbClr val="E1E9F2"/>
            </a:solidFill>
            <a:prstDash val="solid"/>
          </a:ln>
        </p:spPr>
      </p:sp>
      <p:pic>
        <p:nvPicPr>
          <p:cNvPr id="9" name="Image 2" descr="preencoded.png"/>
          <p:cNvPicPr>
            <a:picLocks noChangeAspect="1"/>
          </p:cNvPicPr>
          <p:nvPr/>
        </p:nvPicPr>
        <p:blipFill>
          <a:blip r:embed="rId5"/>
          <a:srcRect/>
          <a:stretch/>
        </p:blipFill>
        <p:spPr>
          <a:xfrm>
            <a:off x="979170" y="2339459"/>
            <a:ext cx="7823835" cy="4699635"/>
          </a:xfrm>
          <a:prstGeom prst="rect">
            <a:avLst/>
          </a:prstGeom>
        </p:spPr>
      </p:pic>
      <p:sp>
        <p:nvSpPr>
          <p:cNvPr id="10" name="Text 5"/>
          <p:cNvSpPr/>
          <p:nvPr/>
        </p:nvSpPr>
        <p:spPr>
          <a:xfrm>
            <a:off x="800100" y="7964805"/>
            <a:ext cx="9000173" cy="251460"/>
          </a:xfrm>
          <a:prstGeom prst="rect">
            <a:avLst/>
          </a:prstGeom>
          <a:noFill/>
          <a:ln/>
        </p:spPr>
        <p:txBody>
          <a:bodyPr wrap="square" lIns="25400" tIns="25400" rIns="25400" bIns="25400" rtlCol="0" anchor="t">
            <a:normAutofit/>
          </a:bodyPr>
          <a:lstStyle/>
          <a:p>
            <a:pPr marL="0" indent="0" algn="l">
              <a:buNone/>
            </a:pPr>
            <a:r>
              <a:rPr lang="en-US" sz="1275" kern="0" spc="22" dirty="0">
                <a:solidFill>
                  <a:srgbClr val="7E92A8"/>
                </a:solidFill>
                <a:latin typeface="Arial" pitchFamily="34" charset="0"/>
                <a:ea typeface="Arial" pitchFamily="34" charset="-122"/>
                <a:cs typeface="Arial" pitchFamily="34" charset="-120"/>
              </a:rPr>
              <a:t>Gambar 2.4 — Kurva karakteristik kerja pompa (Girdhar et al., 2005)</a:t>
            </a:r>
            <a:endParaRPr lang="en-US" sz="1275" dirty="0"/>
          </a:p>
        </p:txBody>
      </p:sp>
      <p:sp>
        <p:nvSpPr>
          <p:cNvPr id="11" name="Shape 6"/>
          <p:cNvSpPr/>
          <p:nvPr/>
        </p:nvSpPr>
        <p:spPr>
          <a:xfrm>
            <a:off x="9305925" y="1671042"/>
            <a:ext cx="8181975" cy="6036588"/>
          </a:xfrm>
          <a:prstGeom prst="roundRect">
            <a:avLst>
              <a:gd name="adj" fmla="val 2209"/>
            </a:avLst>
          </a:prstGeom>
          <a:solidFill>
            <a:srgbClr val="FFFFFF"/>
          </a:solidFill>
          <a:ln w="7620">
            <a:solidFill>
              <a:srgbClr val="E1E9F2"/>
            </a:solidFill>
            <a:prstDash val="solid"/>
          </a:ln>
        </p:spPr>
      </p:sp>
      <p:pic>
        <p:nvPicPr>
          <p:cNvPr id="12" name="Image 3" descr="preencoded.png"/>
          <p:cNvPicPr>
            <a:picLocks noChangeAspect="1"/>
          </p:cNvPicPr>
          <p:nvPr/>
        </p:nvPicPr>
        <p:blipFill>
          <a:blip r:embed="rId6"/>
          <a:srcRect/>
          <a:stretch/>
        </p:blipFill>
        <p:spPr>
          <a:xfrm>
            <a:off x="10620375" y="2565202"/>
            <a:ext cx="5553075" cy="4248150"/>
          </a:xfrm>
          <a:prstGeom prst="rect">
            <a:avLst/>
          </a:prstGeom>
        </p:spPr>
      </p:pic>
      <p:sp>
        <p:nvSpPr>
          <p:cNvPr id="13" name="Text 7"/>
          <p:cNvSpPr/>
          <p:nvPr/>
        </p:nvSpPr>
        <p:spPr>
          <a:xfrm>
            <a:off x="9305925" y="7964805"/>
            <a:ext cx="9000173" cy="251460"/>
          </a:xfrm>
          <a:prstGeom prst="rect">
            <a:avLst/>
          </a:prstGeom>
          <a:noFill/>
          <a:ln/>
        </p:spPr>
        <p:txBody>
          <a:bodyPr wrap="square" lIns="25400" tIns="25400" rIns="25400" bIns="25400" rtlCol="0" anchor="t">
            <a:normAutofit/>
          </a:bodyPr>
          <a:lstStyle/>
          <a:p>
            <a:pPr marL="0" indent="0" algn="l">
              <a:buNone/>
            </a:pPr>
            <a:r>
              <a:rPr lang="en-US" sz="1275" kern="0" spc="22" dirty="0">
                <a:solidFill>
                  <a:srgbClr val="7E92A8"/>
                </a:solidFill>
                <a:latin typeface="Arial" pitchFamily="34" charset="0"/>
                <a:ea typeface="Arial" pitchFamily="34" charset="-122"/>
                <a:cs typeface="Arial" pitchFamily="34" charset="-120"/>
              </a:rPr>
              <a:t>Gambar 2.6 — Struktur Multi-Layer Perceptron (MLP)</a:t>
            </a:r>
            <a:endParaRPr lang="en-US" sz="1275" dirty="0"/>
          </a:p>
        </p:txBody>
      </p:sp>
      <p:sp>
        <p:nvSpPr>
          <p:cNvPr id="14" name="Text 8"/>
          <p:cNvSpPr/>
          <p:nvPr/>
        </p:nvSpPr>
        <p:spPr>
          <a:xfrm>
            <a:off x="800100" y="8368665"/>
            <a:ext cx="14716125" cy="765810"/>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3495F"/>
                </a:solidFill>
                <a:latin typeface="Arial" pitchFamily="34" charset="0"/>
                <a:ea typeface="Arial" pitchFamily="34" charset="-122"/>
                <a:cs typeface="Arial" pitchFamily="34" charset="-120"/>
              </a:rPr>
              <a:t>Hukum afinitas: tekanan ∝ kecepatan² — mengatur tegangan suplai berarti mengatur tekanan. </a:t>
            </a:r>
            <a:r>
              <a:rPr lang="en-US" sz="2025" b="1" dirty="0">
                <a:solidFill>
                  <a:srgbClr val="1763A6"/>
                </a:solidFill>
                <a:latin typeface="Arial" pitchFamily="34" charset="0"/>
                <a:ea typeface="Arial" pitchFamily="34" charset="-122"/>
                <a:cs typeface="Arial" pitchFamily="34" charset="-120"/>
              </a:rPr>
              <a:t>Neural network </a:t>
            </a:r>
            <a:r>
              <a:rPr lang="en-US" sz="2025" dirty="0">
                <a:solidFill>
                  <a:srgbClr val="33495F"/>
                </a:solidFill>
                <a:latin typeface="Arial" pitchFamily="34" charset="0"/>
                <a:ea typeface="Arial" pitchFamily="34" charset="-122"/>
                <a:cs typeface="Arial" pitchFamily="34" charset="-120"/>
              </a:rPr>
              <a:t>mempelajari hubungan nonlinier ini langsung dari data operasi.</a:t>
            </a:r>
            <a:endParaRPr lang="en-US" sz="2025" dirty="0"/>
          </a:p>
        </p:txBody>
      </p:sp>
      <p:sp>
        <p:nvSpPr>
          <p:cNvPr id="15" name="Shape 9"/>
          <p:cNvSpPr/>
          <p:nvPr/>
        </p:nvSpPr>
        <p:spPr>
          <a:xfrm>
            <a:off x="0" y="9486900"/>
            <a:ext cx="18288000" cy="9525"/>
          </a:xfrm>
          <a:prstGeom prst="rect">
            <a:avLst/>
          </a:prstGeom>
          <a:solidFill>
            <a:srgbClr val="E1E9F2"/>
          </a:solidFill>
          <a:ln/>
        </p:spPr>
      </p:sp>
      <p:sp>
        <p:nvSpPr>
          <p:cNvPr id="16" name="Text 10"/>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17" name="Shape 11"/>
          <p:cNvSpPr/>
          <p:nvPr/>
        </p:nvSpPr>
        <p:spPr>
          <a:xfrm>
            <a:off x="2269808" y="10023158"/>
            <a:ext cx="1394698" cy="22860"/>
          </a:xfrm>
          <a:prstGeom prst="rect">
            <a:avLst/>
          </a:prstGeom>
          <a:solidFill>
            <a:srgbClr val="2E86DE"/>
          </a:solidFill>
          <a:ln/>
        </p:spPr>
      </p:sp>
      <p:sp>
        <p:nvSpPr>
          <p:cNvPr id="18" name="Text 12"/>
          <p:cNvSpPr/>
          <p:nvPr/>
        </p:nvSpPr>
        <p:spPr>
          <a:xfrm>
            <a:off x="2269808" y="9758363"/>
            <a:ext cx="147089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Tinjauan Pustaka</a:t>
            </a:r>
            <a:endParaRPr lang="en-US" sz="1350" dirty="0"/>
          </a:p>
        </p:txBody>
      </p:sp>
      <p:sp>
        <p:nvSpPr>
          <p:cNvPr id="19" name="Text 13"/>
          <p:cNvSpPr/>
          <p:nvPr/>
        </p:nvSpPr>
        <p:spPr>
          <a:xfrm>
            <a:off x="3950256"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20" name="Text 14"/>
          <p:cNvSpPr/>
          <p:nvPr/>
        </p:nvSpPr>
        <p:spPr>
          <a:xfrm>
            <a:off x="5312331"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21" name="Text 15"/>
          <p:cNvSpPr/>
          <p:nvPr/>
        </p:nvSpPr>
        <p:spPr>
          <a:xfrm>
            <a:off x="7535466"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22" name="Text 16"/>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5426E">
                  <a:alpha val="100000"/>
                </a:srgbClr>
              </a:gs>
              <a:gs pos="55000">
                <a:srgbClr val="0A2A4A">
                  <a:alpha val="100000"/>
                </a:srgbClr>
              </a:gs>
              <a:gs pos="100000">
                <a:srgbClr val="071F38">
                  <a:alpha val="100000"/>
                </a:srgbClr>
              </a:gs>
            </a:gsLst>
            <a:path path="circle">
              <a:fillToRect l="78000" t="8000" r="22000" b="92000"/>
            </a:path>
          </a:gradFill>
          <a:ln/>
        </p:spPr>
      </p:sp>
      <p:sp>
        <p:nvSpPr>
          <p:cNvPr id="3" name="Text 1"/>
          <p:cNvSpPr/>
          <p:nvPr/>
        </p:nvSpPr>
        <p:spPr>
          <a:xfrm>
            <a:off x="800100" y="3343275"/>
            <a:ext cx="18356580" cy="403860"/>
          </a:xfrm>
          <a:prstGeom prst="rect">
            <a:avLst/>
          </a:prstGeom>
          <a:noFill/>
          <a:ln/>
        </p:spPr>
        <p:txBody>
          <a:bodyPr wrap="square" lIns="25400" tIns="25400" rIns="25400" bIns="25400" rtlCol="0" anchor="t">
            <a:normAutofit/>
          </a:bodyPr>
          <a:lstStyle/>
          <a:p>
            <a:pPr marL="0" indent="0" algn="l">
              <a:buNone/>
            </a:pPr>
            <a:r>
              <a:rPr lang="en-US" sz="2250" kern="0" spc="450" dirty="0">
                <a:solidFill>
                  <a:srgbClr val="7FC0FF"/>
                </a:solidFill>
                <a:latin typeface="Arial" pitchFamily="34" charset="0"/>
                <a:ea typeface="Arial" pitchFamily="34" charset="-122"/>
                <a:cs typeface="Arial" pitchFamily="34" charset="-120"/>
              </a:rPr>
              <a:t>BAB III</a:t>
            </a:r>
            <a:endParaRPr lang="en-US" sz="2250" dirty="0"/>
          </a:p>
        </p:txBody>
      </p:sp>
      <p:sp>
        <p:nvSpPr>
          <p:cNvPr id="4" name="Text 2"/>
          <p:cNvSpPr/>
          <p:nvPr/>
        </p:nvSpPr>
        <p:spPr>
          <a:xfrm>
            <a:off x="800100" y="3842385"/>
            <a:ext cx="18356580" cy="952500"/>
          </a:xfrm>
          <a:prstGeom prst="rect">
            <a:avLst/>
          </a:prstGeom>
          <a:noFill/>
          <a:ln/>
        </p:spPr>
        <p:txBody>
          <a:bodyPr wrap="square" lIns="25400" tIns="25400" rIns="25400" bIns="25400" rtlCol="0" anchor="t">
            <a:normAutofit/>
          </a:bodyPr>
          <a:lstStyle/>
          <a:p>
            <a:pPr marL="0" indent="0" algn="l">
              <a:lnSpc>
                <a:spcPct val="100000"/>
              </a:lnSpc>
              <a:buNone/>
            </a:pPr>
            <a:r>
              <a:rPr lang="en-US" sz="7200" b="1" kern="0" spc="-112" dirty="0">
                <a:solidFill>
                  <a:srgbClr val="FFFFFF"/>
                </a:solidFill>
                <a:latin typeface="Arial" pitchFamily="34" charset="0"/>
                <a:ea typeface="Arial" pitchFamily="34" charset="-122"/>
                <a:cs typeface="Arial" pitchFamily="34" charset="-120"/>
              </a:rPr>
              <a:t>Metodologi</a:t>
            </a:r>
            <a:endParaRPr lang="en-US" sz="7200" dirty="0"/>
          </a:p>
        </p:txBody>
      </p:sp>
      <p:sp>
        <p:nvSpPr>
          <p:cNvPr id="5" name="Shape 3"/>
          <p:cNvSpPr/>
          <p:nvPr/>
        </p:nvSpPr>
        <p:spPr>
          <a:xfrm>
            <a:off x="800100" y="5080635"/>
            <a:ext cx="1143000" cy="57150"/>
          </a:xfrm>
          <a:prstGeom prst="roundRect">
            <a:avLst>
              <a:gd name="adj" fmla="val 50000"/>
            </a:avLst>
          </a:prstGeom>
          <a:solidFill>
            <a:srgbClr val="2E86DE"/>
          </a:solidFill>
          <a:ln/>
        </p:spPr>
      </p:sp>
      <p:sp>
        <p:nvSpPr>
          <p:cNvPr id="6" name="Text 4"/>
          <p:cNvSpPr/>
          <p:nvPr/>
        </p:nvSpPr>
        <p:spPr>
          <a:xfrm>
            <a:off x="800100" y="5423535"/>
            <a:ext cx="11772900" cy="758190"/>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AFC6DE"/>
                </a:solidFill>
                <a:latin typeface="Arial" pitchFamily="34" charset="0"/>
                <a:ea typeface="Arial" pitchFamily="34" charset="-122"/>
                <a:cs typeface="Arial" pitchFamily="34" charset="-120"/>
              </a:rPr>
              <a:t>Perancangan sistem closed-loop, rangkaian daya PWM AC chopper, pengendali neural network, akuisisi dataset, dan alur penelitian.</a:t>
            </a:r>
            <a:endParaRPr lang="en-US" sz="2025" dirty="0"/>
          </a:p>
        </p:txBody>
      </p:sp>
      <p:sp>
        <p:nvSpPr>
          <p:cNvPr id="7" name="Shape 5"/>
          <p:cNvSpPr/>
          <p:nvPr/>
        </p:nvSpPr>
        <p:spPr>
          <a:xfrm>
            <a:off x="0" y="9486900"/>
            <a:ext cx="18288000" cy="9525"/>
          </a:xfrm>
          <a:prstGeom prst="rect">
            <a:avLst/>
          </a:prstGeom>
          <a:solidFill>
            <a:srgbClr val="E1E9F2"/>
          </a:solidFill>
          <a:ln/>
        </p:spPr>
      </p:sp>
      <p:sp>
        <p:nvSpPr>
          <p:cNvPr id="8" name="Text 6"/>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9" name="Text 7"/>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10" name="Shape 8"/>
          <p:cNvSpPr/>
          <p:nvPr/>
        </p:nvSpPr>
        <p:spPr>
          <a:xfrm>
            <a:off x="4277678" y="10023158"/>
            <a:ext cx="886420" cy="22860"/>
          </a:xfrm>
          <a:prstGeom prst="rect">
            <a:avLst/>
          </a:prstGeom>
          <a:solidFill>
            <a:srgbClr val="2E86DE"/>
          </a:solidFill>
          <a:ln/>
        </p:spPr>
      </p:sp>
      <p:sp>
        <p:nvSpPr>
          <p:cNvPr id="11" name="Text 9"/>
          <p:cNvSpPr/>
          <p:nvPr/>
        </p:nvSpPr>
        <p:spPr>
          <a:xfrm>
            <a:off x="4277678" y="9758363"/>
            <a:ext cx="962620"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Metodologi</a:t>
            </a:r>
            <a:endParaRPr lang="en-US" sz="1350" dirty="0"/>
          </a:p>
        </p:txBody>
      </p:sp>
      <p:sp>
        <p:nvSpPr>
          <p:cNvPr id="12" name="Text 10"/>
          <p:cNvSpPr/>
          <p:nvPr/>
        </p:nvSpPr>
        <p:spPr>
          <a:xfrm>
            <a:off x="5449848"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13" name="Text 11"/>
          <p:cNvSpPr/>
          <p:nvPr/>
        </p:nvSpPr>
        <p:spPr>
          <a:xfrm>
            <a:off x="7672983"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14" name="Text 12"/>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9732157"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III · PEMODELAN SISTEM</a:t>
            </a:r>
            <a:endParaRPr lang="en-US" sz="1500" dirty="0"/>
          </a:p>
        </p:txBody>
      </p:sp>
      <p:sp>
        <p:nvSpPr>
          <p:cNvPr id="5" name="Text 3"/>
          <p:cNvSpPr/>
          <p:nvPr/>
        </p:nvSpPr>
        <p:spPr>
          <a:xfrm>
            <a:off x="1108710" y="830580"/>
            <a:ext cx="9732157"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Skema Sistem Pengendalian Tekanan</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1671042"/>
            <a:ext cx="16687800" cy="5722263"/>
          </a:xfrm>
          <a:prstGeom prst="roundRect">
            <a:avLst>
              <a:gd name="adj" fmla="val 2330"/>
            </a:avLst>
          </a:prstGeom>
          <a:solidFill>
            <a:srgbClr val="FFFFFF"/>
          </a:solidFill>
          <a:ln w="7620">
            <a:solidFill>
              <a:srgbClr val="E1E9F2"/>
            </a:solidFill>
            <a:prstDash val="solid"/>
          </a:ln>
        </p:spPr>
      </p:sp>
      <p:pic>
        <p:nvPicPr>
          <p:cNvPr id="9" name="Image 2" descr="preencoded.png"/>
          <p:cNvPicPr>
            <a:picLocks noChangeAspect="1"/>
          </p:cNvPicPr>
          <p:nvPr/>
        </p:nvPicPr>
        <p:blipFill>
          <a:blip r:embed="rId5"/>
          <a:srcRect/>
          <a:stretch/>
        </p:blipFill>
        <p:spPr>
          <a:xfrm>
            <a:off x="5272088" y="3089077"/>
            <a:ext cx="7743825" cy="2886075"/>
          </a:xfrm>
          <a:prstGeom prst="rect">
            <a:avLst/>
          </a:prstGeom>
        </p:spPr>
      </p:pic>
      <p:sp>
        <p:nvSpPr>
          <p:cNvPr id="10" name="Text 5"/>
          <p:cNvSpPr/>
          <p:nvPr/>
        </p:nvSpPr>
        <p:spPr>
          <a:xfrm>
            <a:off x="800100" y="7479030"/>
            <a:ext cx="18356580" cy="251460"/>
          </a:xfrm>
          <a:prstGeom prst="rect">
            <a:avLst/>
          </a:prstGeom>
          <a:noFill/>
          <a:ln/>
        </p:spPr>
        <p:txBody>
          <a:bodyPr wrap="square" lIns="25400" tIns="25400" rIns="25400" bIns="25400" rtlCol="0" anchor="t">
            <a:normAutofit/>
          </a:bodyPr>
          <a:lstStyle/>
          <a:p>
            <a:pPr marL="0" indent="0" algn="l">
              <a:buNone/>
            </a:pPr>
            <a:r>
              <a:rPr lang="en-US" sz="1275" kern="0" spc="22" dirty="0">
                <a:solidFill>
                  <a:srgbClr val="7E92A8"/>
                </a:solidFill>
                <a:latin typeface="Arial" pitchFamily="34" charset="0"/>
                <a:ea typeface="Arial" pitchFamily="34" charset="-122"/>
                <a:cs typeface="Arial" pitchFamily="34" charset="-120"/>
              </a:rPr>
              <a:t>Gambar 3.1 — Skema sistem alat (loop tertutup kendali tekanan)</a:t>
            </a:r>
            <a:endParaRPr lang="en-US" sz="1275" dirty="0"/>
          </a:p>
        </p:txBody>
      </p:sp>
      <p:sp>
        <p:nvSpPr>
          <p:cNvPr id="11" name="Shape 6"/>
          <p:cNvSpPr/>
          <p:nvPr/>
        </p:nvSpPr>
        <p:spPr>
          <a:xfrm>
            <a:off x="800100" y="7901940"/>
            <a:ext cx="2613660" cy="369570"/>
          </a:xfrm>
          <a:prstGeom prst="roundRect">
            <a:avLst>
              <a:gd name="adj" fmla="val 20619"/>
            </a:avLst>
          </a:prstGeom>
          <a:solidFill>
            <a:srgbClr val="E6F0FB"/>
          </a:solidFill>
          <a:ln w="7620">
            <a:solidFill>
              <a:srgbClr val="CFE2F6"/>
            </a:solidFill>
            <a:prstDash val="solid"/>
          </a:ln>
        </p:spPr>
      </p:sp>
      <p:sp>
        <p:nvSpPr>
          <p:cNvPr id="12" name="Text 7"/>
          <p:cNvSpPr/>
          <p:nvPr/>
        </p:nvSpPr>
        <p:spPr>
          <a:xfrm>
            <a:off x="941070" y="7976235"/>
            <a:ext cx="2410130" cy="259080"/>
          </a:xfrm>
          <a:prstGeom prst="rect">
            <a:avLst/>
          </a:prstGeom>
          <a:noFill/>
          <a:ln/>
        </p:spPr>
        <p:txBody>
          <a:bodyPr wrap="square" lIns="25400" tIns="25400" rIns="25400" bIns="25400" rtlCol="0" anchor="t">
            <a:normAutofit/>
          </a:bodyPr>
          <a:lstStyle/>
          <a:p>
            <a:pPr marL="0" indent="0" algn="l">
              <a:buNone/>
            </a:pPr>
            <a:r>
              <a:rPr lang="en-US" sz="1350" dirty="0">
                <a:solidFill>
                  <a:srgbClr val="1763A6"/>
                </a:solidFill>
                <a:latin typeface="Arial" pitchFamily="34" charset="0"/>
                <a:ea typeface="Arial" pitchFamily="34" charset="-122"/>
                <a:cs typeface="Arial" pitchFamily="34" charset="-120"/>
              </a:rPr>
              <a:t>Sensor tekanan → STM32</a:t>
            </a:r>
            <a:endParaRPr lang="en-US" sz="1350" dirty="0"/>
          </a:p>
        </p:txBody>
      </p:sp>
      <p:sp>
        <p:nvSpPr>
          <p:cNvPr id="13" name="Shape 8"/>
          <p:cNvSpPr/>
          <p:nvPr/>
        </p:nvSpPr>
        <p:spPr>
          <a:xfrm>
            <a:off x="3528060" y="7901940"/>
            <a:ext cx="1893570" cy="369570"/>
          </a:xfrm>
          <a:prstGeom prst="roundRect">
            <a:avLst>
              <a:gd name="adj" fmla="val 20619"/>
            </a:avLst>
          </a:prstGeom>
          <a:solidFill>
            <a:srgbClr val="E6F0FB"/>
          </a:solidFill>
          <a:ln w="7620">
            <a:solidFill>
              <a:srgbClr val="CFE2F6"/>
            </a:solidFill>
            <a:prstDash val="solid"/>
          </a:ln>
        </p:spPr>
      </p:sp>
      <p:sp>
        <p:nvSpPr>
          <p:cNvPr id="14" name="Text 9"/>
          <p:cNvSpPr/>
          <p:nvPr/>
        </p:nvSpPr>
        <p:spPr>
          <a:xfrm>
            <a:off x="3669030" y="7976235"/>
            <a:ext cx="1687830" cy="259080"/>
          </a:xfrm>
          <a:prstGeom prst="rect">
            <a:avLst/>
          </a:prstGeom>
          <a:noFill/>
          <a:ln/>
        </p:spPr>
        <p:txBody>
          <a:bodyPr wrap="square" lIns="25400" tIns="25400" rIns="25400" bIns="25400" rtlCol="0" anchor="t">
            <a:normAutofit/>
          </a:bodyPr>
          <a:lstStyle/>
          <a:p>
            <a:pPr marL="0" indent="0" algn="l">
              <a:buNone/>
            </a:pPr>
            <a:r>
              <a:rPr lang="en-US" sz="1350" dirty="0">
                <a:solidFill>
                  <a:srgbClr val="1763A6"/>
                </a:solidFill>
                <a:latin typeface="Arial" pitchFamily="34" charset="0"/>
                <a:ea typeface="Arial" pitchFamily="34" charset="-122"/>
                <a:cs typeface="Arial" pitchFamily="34" charset="-120"/>
              </a:rPr>
              <a:t>NN → duty cycle</a:t>
            </a:r>
            <a:endParaRPr lang="en-US" sz="1350" dirty="0"/>
          </a:p>
        </p:txBody>
      </p:sp>
      <p:sp>
        <p:nvSpPr>
          <p:cNvPr id="15" name="Shape 10"/>
          <p:cNvSpPr/>
          <p:nvPr/>
        </p:nvSpPr>
        <p:spPr>
          <a:xfrm>
            <a:off x="5535930" y="7901940"/>
            <a:ext cx="2202180" cy="369570"/>
          </a:xfrm>
          <a:prstGeom prst="roundRect">
            <a:avLst>
              <a:gd name="adj" fmla="val 20619"/>
            </a:avLst>
          </a:prstGeom>
          <a:solidFill>
            <a:srgbClr val="E6F0FB"/>
          </a:solidFill>
          <a:ln w="7620">
            <a:solidFill>
              <a:srgbClr val="CFE2F6"/>
            </a:solidFill>
            <a:prstDash val="solid"/>
          </a:ln>
        </p:spPr>
      </p:sp>
      <p:sp>
        <p:nvSpPr>
          <p:cNvPr id="16" name="Text 11"/>
          <p:cNvSpPr/>
          <p:nvPr/>
        </p:nvSpPr>
        <p:spPr>
          <a:xfrm>
            <a:off x="5676900" y="7976235"/>
            <a:ext cx="1996440" cy="259080"/>
          </a:xfrm>
          <a:prstGeom prst="rect">
            <a:avLst/>
          </a:prstGeom>
          <a:noFill/>
          <a:ln/>
        </p:spPr>
        <p:txBody>
          <a:bodyPr wrap="square" lIns="25400" tIns="25400" rIns="25400" bIns="25400" rtlCol="0" anchor="t">
            <a:normAutofit/>
          </a:bodyPr>
          <a:lstStyle/>
          <a:p>
            <a:pPr marL="0" indent="0" algn="l">
              <a:buNone/>
            </a:pPr>
            <a:r>
              <a:rPr lang="en-US" sz="1350" dirty="0">
                <a:solidFill>
                  <a:srgbClr val="1763A6"/>
                </a:solidFill>
                <a:latin typeface="Arial" pitchFamily="34" charset="0"/>
                <a:ea typeface="Arial" pitchFamily="34" charset="-122"/>
                <a:cs typeface="Arial" pitchFamily="34" charset="-120"/>
              </a:rPr>
              <a:t>Gate driver → IGBT</a:t>
            </a:r>
            <a:endParaRPr lang="en-US" sz="1350" dirty="0"/>
          </a:p>
        </p:txBody>
      </p:sp>
      <p:sp>
        <p:nvSpPr>
          <p:cNvPr id="17" name="Shape 12"/>
          <p:cNvSpPr/>
          <p:nvPr/>
        </p:nvSpPr>
        <p:spPr>
          <a:xfrm>
            <a:off x="7852410" y="7901940"/>
            <a:ext cx="3539490" cy="369570"/>
          </a:xfrm>
          <a:prstGeom prst="roundRect">
            <a:avLst>
              <a:gd name="adj" fmla="val 20619"/>
            </a:avLst>
          </a:prstGeom>
          <a:solidFill>
            <a:srgbClr val="E6F0FB"/>
          </a:solidFill>
          <a:ln w="7620">
            <a:solidFill>
              <a:srgbClr val="CFE2F6"/>
            </a:solidFill>
            <a:prstDash val="solid"/>
          </a:ln>
        </p:spPr>
      </p:sp>
      <p:sp>
        <p:nvSpPr>
          <p:cNvPr id="18" name="Text 13"/>
          <p:cNvSpPr/>
          <p:nvPr/>
        </p:nvSpPr>
        <p:spPr>
          <a:xfrm>
            <a:off x="7993380" y="7976235"/>
            <a:ext cx="3363735" cy="259080"/>
          </a:xfrm>
          <a:prstGeom prst="rect">
            <a:avLst/>
          </a:prstGeom>
          <a:noFill/>
          <a:ln/>
        </p:spPr>
        <p:txBody>
          <a:bodyPr wrap="square" lIns="25400" tIns="25400" rIns="25400" bIns="25400" rtlCol="0" anchor="t">
            <a:normAutofit/>
          </a:bodyPr>
          <a:lstStyle/>
          <a:p>
            <a:pPr marL="0" indent="0" algn="l">
              <a:buNone/>
            </a:pPr>
            <a:r>
              <a:rPr lang="en-US" sz="1350" dirty="0">
                <a:solidFill>
                  <a:srgbClr val="1763A6"/>
                </a:solidFill>
                <a:latin typeface="Arial" pitchFamily="34" charset="0"/>
                <a:ea typeface="Arial" pitchFamily="34" charset="-122"/>
                <a:cs typeface="Arial" pitchFamily="34" charset="-120"/>
              </a:rPr>
              <a:t>PWM AC chopper → V suplai pompa</a:t>
            </a:r>
            <a:endParaRPr lang="en-US" sz="1350" dirty="0"/>
          </a:p>
        </p:txBody>
      </p:sp>
      <p:sp>
        <p:nvSpPr>
          <p:cNvPr id="19" name="Text 14"/>
          <p:cNvSpPr/>
          <p:nvPr/>
        </p:nvSpPr>
        <p:spPr>
          <a:xfrm>
            <a:off x="800100" y="8404860"/>
            <a:ext cx="14716125" cy="73914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33495F"/>
                </a:solidFill>
                <a:latin typeface="Arial" pitchFamily="34" charset="0"/>
                <a:ea typeface="Arial" pitchFamily="34" charset="-122"/>
                <a:cs typeface="Arial" pitchFamily="34" charset="-120"/>
              </a:rPr>
              <a:t>Loop tertutup: tegangan suplai — dan tekanan air — terus disesuaikan agar tetap pada </a:t>
            </a:r>
            <a:r>
              <a:rPr lang="en-US" sz="1950" b="1" dirty="0">
                <a:solidFill>
                  <a:srgbClr val="1763A6"/>
                </a:solidFill>
                <a:latin typeface="Arial" pitchFamily="34" charset="0"/>
                <a:ea typeface="Arial" pitchFamily="34" charset="-122"/>
                <a:cs typeface="Arial" pitchFamily="34" charset="-120"/>
              </a:rPr>
              <a:t>setpoint </a:t>
            </a:r>
            <a:r>
              <a:rPr lang="en-US" sz="1950" dirty="0">
                <a:solidFill>
                  <a:srgbClr val="33495F"/>
                </a:solidFill>
                <a:latin typeface="Arial" pitchFamily="34" charset="0"/>
                <a:ea typeface="Arial" pitchFamily="34" charset="-122"/>
                <a:cs typeface="Arial" pitchFamily="34" charset="-120"/>
              </a:rPr>
              <a:t>meskipun jumlah keran terbuka berubah-ubah.</a:t>
            </a:r>
            <a:endParaRPr lang="en-US" sz="1950" dirty="0"/>
          </a:p>
        </p:txBody>
      </p:sp>
      <p:sp>
        <p:nvSpPr>
          <p:cNvPr id="20" name="Shape 15"/>
          <p:cNvSpPr/>
          <p:nvPr/>
        </p:nvSpPr>
        <p:spPr>
          <a:xfrm>
            <a:off x="0" y="9486900"/>
            <a:ext cx="18288000" cy="9525"/>
          </a:xfrm>
          <a:prstGeom prst="rect">
            <a:avLst/>
          </a:prstGeom>
          <a:solidFill>
            <a:srgbClr val="E1E9F2"/>
          </a:solidFill>
          <a:ln/>
        </p:spPr>
      </p:sp>
      <p:sp>
        <p:nvSpPr>
          <p:cNvPr id="21" name="Text 16"/>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22" name="Text 17"/>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23" name="Shape 18"/>
          <p:cNvSpPr/>
          <p:nvPr/>
        </p:nvSpPr>
        <p:spPr>
          <a:xfrm>
            <a:off x="4277678" y="10023158"/>
            <a:ext cx="886420" cy="22860"/>
          </a:xfrm>
          <a:prstGeom prst="rect">
            <a:avLst/>
          </a:prstGeom>
          <a:solidFill>
            <a:srgbClr val="2E86DE"/>
          </a:solidFill>
          <a:ln/>
        </p:spPr>
      </p:sp>
      <p:sp>
        <p:nvSpPr>
          <p:cNvPr id="24" name="Text 19"/>
          <p:cNvSpPr/>
          <p:nvPr/>
        </p:nvSpPr>
        <p:spPr>
          <a:xfrm>
            <a:off x="4277678" y="9758363"/>
            <a:ext cx="962620"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Metodologi</a:t>
            </a:r>
            <a:endParaRPr lang="en-US" sz="1350" dirty="0"/>
          </a:p>
        </p:txBody>
      </p:sp>
      <p:sp>
        <p:nvSpPr>
          <p:cNvPr id="25" name="Text 20"/>
          <p:cNvSpPr/>
          <p:nvPr/>
        </p:nvSpPr>
        <p:spPr>
          <a:xfrm>
            <a:off x="5449848"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26" name="Text 21"/>
          <p:cNvSpPr/>
          <p:nvPr/>
        </p:nvSpPr>
        <p:spPr>
          <a:xfrm>
            <a:off x="7672983"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27" name="Text 22"/>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12237327"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III · PERANCANGAN</a:t>
            </a:r>
            <a:endParaRPr lang="en-US" sz="1500" dirty="0"/>
          </a:p>
        </p:txBody>
      </p:sp>
      <p:sp>
        <p:nvSpPr>
          <p:cNvPr id="5" name="Text 3"/>
          <p:cNvSpPr/>
          <p:nvPr/>
        </p:nvSpPr>
        <p:spPr>
          <a:xfrm>
            <a:off x="1108710" y="830580"/>
            <a:ext cx="12237327"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Rangkaian Daya: PWM AC Chopper Full-Bridge</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1671042"/>
            <a:ext cx="8752761" cy="7211973"/>
          </a:xfrm>
          <a:prstGeom prst="roundRect">
            <a:avLst>
              <a:gd name="adj" fmla="val 1849"/>
            </a:avLst>
          </a:prstGeom>
          <a:solidFill>
            <a:srgbClr val="FFFFFF"/>
          </a:solidFill>
          <a:ln w="7620">
            <a:solidFill>
              <a:srgbClr val="E1E9F2"/>
            </a:solidFill>
            <a:prstDash val="solid"/>
          </a:ln>
        </p:spPr>
      </p:sp>
      <p:pic>
        <p:nvPicPr>
          <p:cNvPr id="9" name="Image 2" descr="preencoded.png"/>
          <p:cNvPicPr>
            <a:picLocks noChangeAspect="1"/>
          </p:cNvPicPr>
          <p:nvPr/>
        </p:nvPicPr>
        <p:blipFill>
          <a:blip r:embed="rId5"/>
          <a:srcRect l="-1" r="-1"/>
          <a:stretch/>
        </p:blipFill>
        <p:spPr>
          <a:xfrm>
            <a:off x="979170" y="3312795"/>
            <a:ext cx="8394621" cy="3928348"/>
          </a:xfrm>
          <a:prstGeom prst="rect">
            <a:avLst/>
          </a:prstGeom>
        </p:spPr>
      </p:pic>
      <p:sp>
        <p:nvSpPr>
          <p:cNvPr id="10" name="Text 5"/>
          <p:cNvSpPr/>
          <p:nvPr/>
        </p:nvSpPr>
        <p:spPr>
          <a:xfrm>
            <a:off x="800100" y="9140190"/>
            <a:ext cx="9628037" cy="251460"/>
          </a:xfrm>
          <a:prstGeom prst="rect">
            <a:avLst/>
          </a:prstGeom>
          <a:noFill/>
          <a:ln/>
        </p:spPr>
        <p:txBody>
          <a:bodyPr wrap="square" lIns="25400" tIns="25400" rIns="25400" bIns="25400" rtlCol="0" anchor="t">
            <a:normAutofit/>
          </a:bodyPr>
          <a:lstStyle/>
          <a:p>
            <a:pPr marL="0" indent="0" algn="l">
              <a:buNone/>
            </a:pPr>
            <a:r>
              <a:rPr lang="en-US" sz="1275" kern="0" spc="22" dirty="0">
                <a:solidFill>
                  <a:srgbClr val="7E92A8"/>
                </a:solidFill>
                <a:latin typeface="Arial" pitchFamily="34" charset="0"/>
                <a:ea typeface="Arial" pitchFamily="34" charset="-122"/>
                <a:cs typeface="Arial" pitchFamily="34" charset="-120"/>
              </a:rPr>
              <a:t>Gambar 3.2 — Skematik PWM AC chopper (topologi full-bridge 4 IGBT)</a:t>
            </a:r>
            <a:endParaRPr lang="en-US" sz="1275" dirty="0"/>
          </a:p>
        </p:txBody>
      </p:sp>
      <p:sp>
        <p:nvSpPr>
          <p:cNvPr id="11" name="Shape 6"/>
          <p:cNvSpPr/>
          <p:nvPr/>
        </p:nvSpPr>
        <p:spPr>
          <a:xfrm>
            <a:off x="9876711" y="1671042"/>
            <a:ext cx="7611070" cy="1409938"/>
          </a:xfrm>
          <a:prstGeom prst="roundRect">
            <a:avLst>
              <a:gd name="adj" fmla="val 9458"/>
            </a:avLst>
          </a:prstGeom>
          <a:solidFill>
            <a:srgbClr val="EEF4FB"/>
          </a:solidFill>
          <a:ln w="7620">
            <a:solidFill>
              <a:srgbClr val="E1E9F2"/>
            </a:solidFill>
            <a:prstDash val="solid"/>
          </a:ln>
        </p:spPr>
      </p:sp>
      <p:sp>
        <p:nvSpPr>
          <p:cNvPr id="12" name="Text 7"/>
          <p:cNvSpPr/>
          <p:nvPr/>
        </p:nvSpPr>
        <p:spPr>
          <a:xfrm>
            <a:off x="10131980" y="1907262"/>
            <a:ext cx="7810584" cy="312420"/>
          </a:xfrm>
          <a:prstGeom prst="rect">
            <a:avLst/>
          </a:prstGeom>
          <a:noFill/>
          <a:ln/>
        </p:spPr>
        <p:txBody>
          <a:bodyPr wrap="square" lIns="25400" tIns="25400" rIns="25400" bIns="25400" rtlCol="0" anchor="t">
            <a:normAutofit/>
          </a:bodyPr>
          <a:lstStyle/>
          <a:p>
            <a:pPr marL="0" indent="0" algn="l">
              <a:buNone/>
            </a:pPr>
            <a:r>
              <a:rPr lang="en-US" sz="1875" b="1" dirty="0">
                <a:solidFill>
                  <a:srgbClr val="1763A6"/>
                </a:solidFill>
                <a:latin typeface="Arial" pitchFamily="34" charset="0"/>
                <a:ea typeface="Arial" pitchFamily="34" charset="-122"/>
                <a:cs typeface="Arial" pitchFamily="34" charset="-120"/>
              </a:rPr>
              <a:t>IGBT FGH40N120AN</a:t>
            </a:r>
            <a:endParaRPr lang="en-US" sz="1875" dirty="0"/>
          </a:p>
        </p:txBody>
      </p:sp>
      <p:sp>
        <p:nvSpPr>
          <p:cNvPr id="13" name="Text 8"/>
          <p:cNvSpPr/>
          <p:nvPr/>
        </p:nvSpPr>
        <p:spPr>
          <a:xfrm>
            <a:off x="10131980" y="2257782"/>
            <a:ext cx="7313546" cy="625078"/>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3A506A"/>
                </a:solidFill>
                <a:latin typeface="Arial" pitchFamily="34" charset="0"/>
                <a:ea typeface="Arial" pitchFamily="34" charset="-122"/>
                <a:cs typeface="Arial" pitchFamily="34" charset="-120"/>
              </a:rPr>
              <a:t>1200 V / 40 A — margin tegangan &amp; arus jauh di atas kebutuhan pompa GP125.</a:t>
            </a:r>
            <a:endParaRPr lang="en-US" sz="1725" dirty="0"/>
          </a:p>
        </p:txBody>
      </p:sp>
      <p:sp>
        <p:nvSpPr>
          <p:cNvPr id="14" name="Shape 9"/>
          <p:cNvSpPr/>
          <p:nvPr/>
        </p:nvSpPr>
        <p:spPr>
          <a:xfrm>
            <a:off x="9876711" y="3233380"/>
            <a:ext cx="7611070" cy="1442918"/>
          </a:xfrm>
          <a:prstGeom prst="roundRect">
            <a:avLst>
              <a:gd name="adj" fmla="val 9242"/>
            </a:avLst>
          </a:prstGeom>
          <a:solidFill>
            <a:srgbClr val="EEF4FB"/>
          </a:solidFill>
          <a:ln w="7620">
            <a:solidFill>
              <a:srgbClr val="E1E9F2"/>
            </a:solidFill>
            <a:prstDash val="solid"/>
          </a:ln>
        </p:spPr>
      </p:sp>
      <p:sp>
        <p:nvSpPr>
          <p:cNvPr id="15" name="Text 10"/>
          <p:cNvSpPr/>
          <p:nvPr/>
        </p:nvSpPr>
        <p:spPr>
          <a:xfrm>
            <a:off x="10131980" y="3469600"/>
            <a:ext cx="7810584" cy="312420"/>
          </a:xfrm>
          <a:prstGeom prst="rect">
            <a:avLst/>
          </a:prstGeom>
          <a:noFill/>
          <a:ln/>
        </p:spPr>
        <p:txBody>
          <a:bodyPr wrap="square" lIns="25400" tIns="25400" rIns="25400" bIns="25400" rtlCol="0" anchor="t">
            <a:normAutofit/>
          </a:bodyPr>
          <a:lstStyle/>
          <a:p>
            <a:pPr marL="0" indent="0" algn="l">
              <a:buNone/>
            </a:pPr>
            <a:r>
              <a:rPr lang="en-US" sz="1875" b="1" dirty="0">
                <a:solidFill>
                  <a:srgbClr val="1763A6"/>
                </a:solidFill>
                <a:latin typeface="Arial" pitchFamily="34" charset="0"/>
                <a:ea typeface="Arial" pitchFamily="34" charset="-122"/>
                <a:cs typeface="Arial" pitchFamily="34" charset="-120"/>
              </a:rPr>
              <a:t>Snubber RC</a:t>
            </a:r>
            <a:endParaRPr lang="en-US" sz="1875" dirty="0"/>
          </a:p>
        </p:txBody>
      </p:sp>
      <p:sp>
        <p:nvSpPr>
          <p:cNvPr id="16" name="Text 11"/>
          <p:cNvSpPr/>
          <p:nvPr/>
        </p:nvSpPr>
        <p:spPr>
          <a:xfrm>
            <a:off x="10131980" y="3820120"/>
            <a:ext cx="7313546" cy="658058"/>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3A506A"/>
                </a:solidFill>
                <a:latin typeface="Arial" pitchFamily="34" charset="0"/>
                <a:ea typeface="Arial" pitchFamily="34" charset="-122"/>
                <a:cs typeface="Arial" pitchFamily="34" charset="-120"/>
              </a:rPr>
              <a:t>C</a:t>
            </a:r>
            <a:r>
              <a:rPr lang="en-US" sz="1438" baseline="-40000" dirty="0">
                <a:solidFill>
                  <a:srgbClr val="3A506A"/>
                </a:solidFill>
                <a:latin typeface="Arial" pitchFamily="34" charset="0"/>
                <a:ea typeface="Arial" pitchFamily="34" charset="-122"/>
                <a:cs typeface="Arial" pitchFamily="34" charset="-120"/>
              </a:rPr>
              <a:t>sn </a:t>
            </a:r>
            <a:r>
              <a:rPr lang="en-US" sz="1725" dirty="0">
                <a:solidFill>
                  <a:srgbClr val="3A506A"/>
                </a:solidFill>
                <a:latin typeface="Arial" pitchFamily="34" charset="0"/>
                <a:ea typeface="Arial" pitchFamily="34" charset="-122"/>
                <a:cs typeface="Arial" pitchFamily="34" charset="-120"/>
              </a:rPr>
              <a:t>= 100 nF (film), R</a:t>
            </a:r>
            <a:r>
              <a:rPr lang="en-US" sz="1438" baseline="-40000" dirty="0">
                <a:solidFill>
                  <a:srgbClr val="3A506A"/>
                </a:solidFill>
                <a:latin typeface="Arial" pitchFamily="34" charset="0"/>
                <a:ea typeface="Arial" pitchFamily="34" charset="-122"/>
                <a:cs typeface="Arial" pitchFamily="34" charset="-120"/>
              </a:rPr>
              <a:t>sn </a:t>
            </a:r>
            <a:r>
              <a:rPr lang="en-US" sz="1725" dirty="0">
                <a:solidFill>
                  <a:srgbClr val="3A506A"/>
                </a:solidFill>
                <a:latin typeface="Arial" pitchFamily="34" charset="0"/>
                <a:ea typeface="Arial" pitchFamily="34" charset="-122"/>
                <a:cs typeface="Arial" pitchFamily="34" charset="-120"/>
              </a:rPr>
              <a:t>= 66 Ω (5×330 Ω paralel) — meredam spike &amp; ringing.</a:t>
            </a:r>
            <a:endParaRPr lang="en-US" sz="1725" dirty="0"/>
          </a:p>
        </p:txBody>
      </p:sp>
      <p:sp>
        <p:nvSpPr>
          <p:cNvPr id="17" name="Shape 12"/>
          <p:cNvSpPr/>
          <p:nvPr/>
        </p:nvSpPr>
        <p:spPr>
          <a:xfrm>
            <a:off x="9876711" y="4828699"/>
            <a:ext cx="7611070" cy="1409938"/>
          </a:xfrm>
          <a:prstGeom prst="roundRect">
            <a:avLst>
              <a:gd name="adj" fmla="val 9458"/>
            </a:avLst>
          </a:prstGeom>
          <a:solidFill>
            <a:srgbClr val="EEF4FB"/>
          </a:solidFill>
          <a:ln w="7620">
            <a:solidFill>
              <a:srgbClr val="E1E9F2"/>
            </a:solidFill>
            <a:prstDash val="solid"/>
          </a:ln>
        </p:spPr>
      </p:sp>
      <p:sp>
        <p:nvSpPr>
          <p:cNvPr id="18" name="Text 13"/>
          <p:cNvSpPr/>
          <p:nvPr/>
        </p:nvSpPr>
        <p:spPr>
          <a:xfrm>
            <a:off x="10131980" y="5064919"/>
            <a:ext cx="7810584" cy="312420"/>
          </a:xfrm>
          <a:prstGeom prst="rect">
            <a:avLst/>
          </a:prstGeom>
          <a:noFill/>
          <a:ln/>
        </p:spPr>
        <p:txBody>
          <a:bodyPr wrap="square" lIns="25400" tIns="25400" rIns="25400" bIns="25400" rtlCol="0" anchor="t">
            <a:normAutofit/>
          </a:bodyPr>
          <a:lstStyle/>
          <a:p>
            <a:pPr marL="0" indent="0" algn="l">
              <a:buNone/>
            </a:pPr>
            <a:r>
              <a:rPr lang="en-US" sz="1875" b="1" dirty="0">
                <a:solidFill>
                  <a:srgbClr val="1763A6"/>
                </a:solidFill>
                <a:latin typeface="Arial" pitchFamily="34" charset="0"/>
                <a:ea typeface="Arial" pitchFamily="34" charset="-122"/>
                <a:cs typeface="Arial" pitchFamily="34" charset="-120"/>
              </a:rPr>
              <a:t>Dead time 1,5 µs</a:t>
            </a:r>
            <a:endParaRPr lang="en-US" sz="1875" dirty="0"/>
          </a:p>
        </p:txBody>
      </p:sp>
      <p:sp>
        <p:nvSpPr>
          <p:cNvPr id="19" name="Text 14"/>
          <p:cNvSpPr/>
          <p:nvPr/>
        </p:nvSpPr>
        <p:spPr>
          <a:xfrm>
            <a:off x="10131980" y="5415439"/>
            <a:ext cx="7313546" cy="625078"/>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3A506A"/>
                </a:solidFill>
                <a:latin typeface="Arial" pitchFamily="34" charset="0"/>
                <a:ea typeface="Arial" pitchFamily="34" charset="-122"/>
                <a:cs typeface="Arial" pitchFamily="34" charset="-120"/>
              </a:rPr>
              <a:t>Dihitung dari datasheet (≈0,97 µs) + margin — mencegah shoot-through pada satu leg.</a:t>
            </a:r>
            <a:endParaRPr lang="en-US" sz="1725" dirty="0"/>
          </a:p>
        </p:txBody>
      </p:sp>
      <p:sp>
        <p:nvSpPr>
          <p:cNvPr id="20" name="Shape 15"/>
          <p:cNvSpPr/>
          <p:nvPr/>
        </p:nvSpPr>
        <p:spPr>
          <a:xfrm>
            <a:off x="9876711" y="6391037"/>
            <a:ext cx="7611070" cy="1116449"/>
          </a:xfrm>
          <a:prstGeom prst="roundRect">
            <a:avLst>
              <a:gd name="adj" fmla="val 11944"/>
            </a:avLst>
          </a:prstGeom>
          <a:solidFill>
            <a:srgbClr val="EEF4FB"/>
          </a:solidFill>
          <a:ln w="7620">
            <a:solidFill>
              <a:srgbClr val="E1E9F2"/>
            </a:solidFill>
            <a:prstDash val="solid"/>
          </a:ln>
        </p:spPr>
      </p:sp>
      <p:sp>
        <p:nvSpPr>
          <p:cNvPr id="21" name="Text 16"/>
          <p:cNvSpPr/>
          <p:nvPr/>
        </p:nvSpPr>
        <p:spPr>
          <a:xfrm>
            <a:off x="10131980" y="6627257"/>
            <a:ext cx="7810584" cy="312420"/>
          </a:xfrm>
          <a:prstGeom prst="rect">
            <a:avLst/>
          </a:prstGeom>
          <a:noFill/>
          <a:ln/>
        </p:spPr>
        <p:txBody>
          <a:bodyPr wrap="square" lIns="25400" tIns="25400" rIns="25400" bIns="25400" rtlCol="0" anchor="t">
            <a:normAutofit/>
          </a:bodyPr>
          <a:lstStyle/>
          <a:p>
            <a:pPr marL="0" indent="0" algn="l">
              <a:buNone/>
            </a:pPr>
            <a:r>
              <a:rPr lang="en-US" sz="1875" b="1" dirty="0">
                <a:solidFill>
                  <a:srgbClr val="1763A6"/>
                </a:solidFill>
                <a:latin typeface="Arial" pitchFamily="34" charset="0"/>
                <a:ea typeface="Arial" pitchFamily="34" charset="-122"/>
                <a:cs typeface="Arial" pitchFamily="34" charset="-120"/>
              </a:rPr>
              <a:t>Frekuensi switching 5 kHz</a:t>
            </a:r>
            <a:endParaRPr lang="en-US" sz="1875" dirty="0"/>
          </a:p>
        </p:txBody>
      </p:sp>
      <p:sp>
        <p:nvSpPr>
          <p:cNvPr id="22" name="Text 17"/>
          <p:cNvSpPr/>
          <p:nvPr/>
        </p:nvSpPr>
        <p:spPr>
          <a:xfrm>
            <a:off x="10131980" y="6977777"/>
            <a:ext cx="7810584" cy="331589"/>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3A506A"/>
                </a:solidFill>
                <a:latin typeface="Arial" pitchFamily="34" charset="0"/>
                <a:ea typeface="Arial" pitchFamily="34" charset="-122"/>
                <a:cs typeface="Arial" pitchFamily="34" charset="-120"/>
              </a:rPr>
              <a:t>Pemicuan sepasang sinyal PWM komplementer dari STM32.</a:t>
            </a:r>
            <a:endParaRPr lang="en-US" sz="1725" dirty="0"/>
          </a:p>
        </p:txBody>
      </p:sp>
      <p:sp>
        <p:nvSpPr>
          <p:cNvPr id="23" name="Shape 18"/>
          <p:cNvSpPr/>
          <p:nvPr/>
        </p:nvSpPr>
        <p:spPr>
          <a:xfrm>
            <a:off x="0" y="9486900"/>
            <a:ext cx="18288000" cy="9525"/>
          </a:xfrm>
          <a:prstGeom prst="rect">
            <a:avLst/>
          </a:prstGeom>
          <a:solidFill>
            <a:srgbClr val="E1E9F2"/>
          </a:solidFill>
          <a:ln/>
        </p:spPr>
      </p:sp>
      <p:sp>
        <p:nvSpPr>
          <p:cNvPr id="24" name="Text 19"/>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25" name="Text 20"/>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26" name="Shape 21"/>
          <p:cNvSpPr/>
          <p:nvPr/>
        </p:nvSpPr>
        <p:spPr>
          <a:xfrm>
            <a:off x="4277678" y="10023158"/>
            <a:ext cx="886420" cy="22860"/>
          </a:xfrm>
          <a:prstGeom prst="rect">
            <a:avLst/>
          </a:prstGeom>
          <a:solidFill>
            <a:srgbClr val="2E86DE"/>
          </a:solidFill>
          <a:ln/>
        </p:spPr>
      </p:sp>
      <p:sp>
        <p:nvSpPr>
          <p:cNvPr id="27" name="Text 22"/>
          <p:cNvSpPr/>
          <p:nvPr/>
        </p:nvSpPr>
        <p:spPr>
          <a:xfrm>
            <a:off x="4277678" y="9758363"/>
            <a:ext cx="962620"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Metodologi</a:t>
            </a:r>
            <a:endParaRPr lang="en-US" sz="1350" dirty="0"/>
          </a:p>
        </p:txBody>
      </p:sp>
      <p:sp>
        <p:nvSpPr>
          <p:cNvPr id="28" name="Text 23"/>
          <p:cNvSpPr/>
          <p:nvPr/>
        </p:nvSpPr>
        <p:spPr>
          <a:xfrm>
            <a:off x="5449848"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29" name="Text 24"/>
          <p:cNvSpPr/>
          <p:nvPr/>
        </p:nvSpPr>
        <p:spPr>
          <a:xfrm>
            <a:off x="7672983"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30" name="Text 25"/>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10231148"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III · PERANCANGAN</a:t>
            </a:r>
            <a:endParaRPr lang="en-US" sz="1500" dirty="0"/>
          </a:p>
        </p:txBody>
      </p:sp>
      <p:sp>
        <p:nvSpPr>
          <p:cNvPr id="5" name="Text 3"/>
          <p:cNvSpPr/>
          <p:nvPr/>
        </p:nvSpPr>
        <p:spPr>
          <a:xfrm>
            <a:off x="1108710" y="830580"/>
            <a:ext cx="10231148"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Pengendali Neural Network (MLP 3-4-1)</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1671042"/>
            <a:ext cx="8181975" cy="7211973"/>
          </a:xfrm>
          <a:prstGeom prst="roundRect">
            <a:avLst>
              <a:gd name="adj" fmla="val 1849"/>
            </a:avLst>
          </a:prstGeom>
          <a:solidFill>
            <a:srgbClr val="FFFFFF"/>
          </a:solidFill>
          <a:ln w="7620">
            <a:solidFill>
              <a:srgbClr val="E1E9F2"/>
            </a:solidFill>
            <a:prstDash val="solid"/>
          </a:ln>
        </p:spPr>
      </p:sp>
      <p:pic>
        <p:nvPicPr>
          <p:cNvPr id="9" name="Image 2" descr="preencoded.png"/>
          <p:cNvPicPr>
            <a:picLocks noChangeAspect="1"/>
          </p:cNvPicPr>
          <p:nvPr/>
        </p:nvPicPr>
        <p:blipFill>
          <a:blip r:embed="rId5"/>
          <a:srcRect/>
          <a:stretch/>
        </p:blipFill>
        <p:spPr>
          <a:xfrm>
            <a:off x="2114550" y="3152894"/>
            <a:ext cx="5553075" cy="4248150"/>
          </a:xfrm>
          <a:prstGeom prst="rect">
            <a:avLst/>
          </a:prstGeom>
        </p:spPr>
      </p:pic>
      <p:sp>
        <p:nvSpPr>
          <p:cNvPr id="10" name="Text 5"/>
          <p:cNvSpPr/>
          <p:nvPr/>
        </p:nvSpPr>
        <p:spPr>
          <a:xfrm>
            <a:off x="800100" y="9140190"/>
            <a:ext cx="9000173" cy="251460"/>
          </a:xfrm>
          <a:prstGeom prst="rect">
            <a:avLst/>
          </a:prstGeom>
          <a:noFill/>
          <a:ln/>
        </p:spPr>
        <p:txBody>
          <a:bodyPr wrap="square" lIns="25400" tIns="25400" rIns="25400" bIns="25400" rtlCol="0" anchor="t">
            <a:normAutofit/>
          </a:bodyPr>
          <a:lstStyle/>
          <a:p>
            <a:pPr marL="0" indent="0" algn="l">
              <a:buNone/>
            </a:pPr>
            <a:r>
              <a:rPr lang="en-US" sz="1275" kern="0" spc="22" dirty="0">
                <a:solidFill>
                  <a:srgbClr val="7E92A8"/>
                </a:solidFill>
                <a:latin typeface="Arial" pitchFamily="34" charset="0"/>
                <a:ea typeface="Arial" pitchFamily="34" charset="-122"/>
                <a:cs typeface="Arial" pitchFamily="34" charset="-120"/>
              </a:rPr>
              <a:t>Gambar 3.7 — Arsitektur neural network pengendali duty cycle (MLP 3-4-1)</a:t>
            </a:r>
            <a:endParaRPr lang="en-US" sz="1275" dirty="0"/>
          </a:p>
        </p:txBody>
      </p:sp>
      <p:sp>
        <p:nvSpPr>
          <p:cNvPr id="11" name="Shape 6"/>
          <p:cNvSpPr/>
          <p:nvPr/>
        </p:nvSpPr>
        <p:spPr>
          <a:xfrm>
            <a:off x="9305925" y="1671042"/>
            <a:ext cx="8181975" cy="1116449"/>
          </a:xfrm>
          <a:prstGeom prst="roundRect">
            <a:avLst>
              <a:gd name="adj" fmla="val 11944"/>
            </a:avLst>
          </a:prstGeom>
          <a:solidFill>
            <a:srgbClr val="EEF4FB"/>
          </a:solidFill>
          <a:ln w="7620">
            <a:solidFill>
              <a:srgbClr val="E1E9F2"/>
            </a:solidFill>
            <a:prstDash val="solid"/>
          </a:ln>
        </p:spPr>
      </p:sp>
      <p:sp>
        <p:nvSpPr>
          <p:cNvPr id="12" name="Text 7"/>
          <p:cNvSpPr/>
          <p:nvPr/>
        </p:nvSpPr>
        <p:spPr>
          <a:xfrm>
            <a:off x="9561195" y="1907262"/>
            <a:ext cx="8438579" cy="312420"/>
          </a:xfrm>
          <a:prstGeom prst="rect">
            <a:avLst/>
          </a:prstGeom>
          <a:noFill/>
          <a:ln/>
        </p:spPr>
        <p:txBody>
          <a:bodyPr wrap="square" lIns="25400" tIns="25400" rIns="25400" bIns="25400" rtlCol="0" anchor="t">
            <a:normAutofit/>
          </a:bodyPr>
          <a:lstStyle/>
          <a:p>
            <a:pPr marL="0" indent="0" algn="l">
              <a:buNone/>
            </a:pPr>
            <a:r>
              <a:rPr lang="en-US" sz="1875" b="1" dirty="0">
                <a:solidFill>
                  <a:srgbClr val="1763A6"/>
                </a:solidFill>
                <a:latin typeface="Arial" pitchFamily="34" charset="0"/>
                <a:ea typeface="Arial" pitchFamily="34" charset="-122"/>
                <a:cs typeface="Arial" pitchFamily="34" charset="-120"/>
              </a:rPr>
              <a:t>Masukan (3)</a:t>
            </a:r>
            <a:endParaRPr lang="en-US" sz="1875" dirty="0"/>
          </a:p>
        </p:txBody>
      </p:sp>
      <p:sp>
        <p:nvSpPr>
          <p:cNvPr id="13" name="Text 8"/>
          <p:cNvSpPr/>
          <p:nvPr/>
        </p:nvSpPr>
        <p:spPr>
          <a:xfrm>
            <a:off x="9561195" y="2257782"/>
            <a:ext cx="8438579" cy="331589"/>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3A506A"/>
                </a:solidFill>
                <a:latin typeface="Arial" pitchFamily="34" charset="0"/>
                <a:ea typeface="Arial" pitchFamily="34" charset="-122"/>
                <a:cs typeface="Arial" pitchFamily="34" charset="-120"/>
              </a:rPr>
              <a:t>galat tekanan </a:t>
            </a:r>
            <a:r>
              <a:rPr lang="en-US" sz="1725" i="1" dirty="0">
                <a:solidFill>
                  <a:srgbClr val="3A506A"/>
                </a:solidFill>
                <a:latin typeface="Arial" pitchFamily="34" charset="0"/>
                <a:ea typeface="Arial" pitchFamily="34" charset="-122"/>
                <a:cs typeface="Arial" pitchFamily="34" charset="-120"/>
              </a:rPr>
              <a:t>error</a:t>
            </a:r>
            <a:r>
              <a:rPr lang="en-US" sz="1725" dirty="0">
                <a:solidFill>
                  <a:srgbClr val="3A506A"/>
                </a:solidFill>
                <a:latin typeface="Arial" pitchFamily="34" charset="0"/>
                <a:ea typeface="Arial" pitchFamily="34" charset="-122"/>
                <a:cs typeface="Arial" pitchFamily="34" charset="-120"/>
              </a:rPr>
              <a:t>, perubahan galat </a:t>
            </a:r>
            <a:r>
              <a:rPr lang="en-US" sz="1725" i="1" dirty="0">
                <a:solidFill>
                  <a:srgbClr val="3A506A"/>
                </a:solidFill>
                <a:latin typeface="Arial" pitchFamily="34" charset="0"/>
                <a:ea typeface="Arial" pitchFamily="34" charset="-122"/>
                <a:cs typeface="Arial" pitchFamily="34" charset="-120"/>
              </a:rPr>
              <a:t>Δerror</a:t>
            </a:r>
            <a:r>
              <a:rPr lang="en-US" sz="1725" dirty="0">
                <a:solidFill>
                  <a:srgbClr val="3A506A"/>
                </a:solidFill>
                <a:latin typeface="Arial" pitchFamily="34" charset="0"/>
                <a:ea typeface="Arial" pitchFamily="34" charset="-122"/>
                <a:cs typeface="Arial" pitchFamily="34" charset="-120"/>
              </a:rPr>
              <a:t>, dan </a:t>
            </a:r>
            <a:r>
              <a:rPr lang="en-US" sz="1725" i="1" dirty="0">
                <a:solidFill>
                  <a:srgbClr val="3A506A"/>
                </a:solidFill>
                <a:latin typeface="Arial" pitchFamily="34" charset="0"/>
                <a:ea typeface="Arial" pitchFamily="34" charset="-122"/>
                <a:cs typeface="Arial" pitchFamily="34" charset="-120"/>
              </a:rPr>
              <a:t>duty cycle </a:t>
            </a:r>
            <a:r>
              <a:rPr lang="en-US" sz="1725" dirty="0">
                <a:solidFill>
                  <a:srgbClr val="3A506A"/>
                </a:solidFill>
                <a:latin typeface="Arial" pitchFamily="34" charset="0"/>
                <a:ea typeface="Arial" pitchFamily="34" charset="-122"/>
                <a:cs typeface="Arial" pitchFamily="34" charset="-120"/>
              </a:rPr>
              <a:t>saat ini.</a:t>
            </a:r>
            <a:endParaRPr lang="en-US" sz="1725" dirty="0"/>
          </a:p>
        </p:txBody>
      </p:sp>
      <p:sp>
        <p:nvSpPr>
          <p:cNvPr id="14" name="Shape 9"/>
          <p:cNvSpPr/>
          <p:nvPr/>
        </p:nvSpPr>
        <p:spPr>
          <a:xfrm>
            <a:off x="9305925" y="2939891"/>
            <a:ext cx="8181975" cy="1116449"/>
          </a:xfrm>
          <a:prstGeom prst="roundRect">
            <a:avLst>
              <a:gd name="adj" fmla="val 11944"/>
            </a:avLst>
          </a:prstGeom>
          <a:solidFill>
            <a:srgbClr val="EEF4FB"/>
          </a:solidFill>
          <a:ln w="7620">
            <a:solidFill>
              <a:srgbClr val="E1E9F2"/>
            </a:solidFill>
            <a:prstDash val="solid"/>
          </a:ln>
        </p:spPr>
      </p:sp>
      <p:sp>
        <p:nvSpPr>
          <p:cNvPr id="15" name="Text 10"/>
          <p:cNvSpPr/>
          <p:nvPr/>
        </p:nvSpPr>
        <p:spPr>
          <a:xfrm>
            <a:off x="9561195" y="3176111"/>
            <a:ext cx="8438579" cy="312420"/>
          </a:xfrm>
          <a:prstGeom prst="rect">
            <a:avLst/>
          </a:prstGeom>
          <a:noFill/>
          <a:ln/>
        </p:spPr>
        <p:txBody>
          <a:bodyPr wrap="square" lIns="25400" tIns="25400" rIns="25400" bIns="25400" rtlCol="0" anchor="t">
            <a:normAutofit/>
          </a:bodyPr>
          <a:lstStyle/>
          <a:p>
            <a:pPr marL="0" indent="0" algn="l">
              <a:buNone/>
            </a:pPr>
            <a:r>
              <a:rPr lang="en-US" sz="1875" b="1" dirty="0">
                <a:solidFill>
                  <a:srgbClr val="1763A6"/>
                </a:solidFill>
                <a:latin typeface="Arial" pitchFamily="34" charset="0"/>
                <a:ea typeface="Arial" pitchFamily="34" charset="-122"/>
                <a:cs typeface="Arial" pitchFamily="34" charset="-120"/>
              </a:rPr>
              <a:t>Keluaran (1)</a:t>
            </a:r>
            <a:endParaRPr lang="en-US" sz="1875" dirty="0"/>
          </a:p>
        </p:txBody>
      </p:sp>
      <p:sp>
        <p:nvSpPr>
          <p:cNvPr id="16" name="Text 11"/>
          <p:cNvSpPr/>
          <p:nvPr/>
        </p:nvSpPr>
        <p:spPr>
          <a:xfrm>
            <a:off x="9561195" y="3526631"/>
            <a:ext cx="8438579" cy="331589"/>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3A506A"/>
                </a:solidFill>
                <a:latin typeface="Arial" pitchFamily="34" charset="0"/>
                <a:ea typeface="Arial" pitchFamily="34" charset="-122"/>
                <a:cs typeface="Arial" pitchFamily="34" charset="-120"/>
              </a:rPr>
              <a:t>perubahan duty cycle </a:t>
            </a:r>
            <a:r>
              <a:rPr lang="en-US" sz="1725" b="1" dirty="0">
                <a:solidFill>
                  <a:srgbClr val="3A506A"/>
                </a:solidFill>
                <a:latin typeface="Arial" pitchFamily="34" charset="0"/>
                <a:ea typeface="Arial" pitchFamily="34" charset="-122"/>
                <a:cs typeface="Arial" pitchFamily="34" charset="-120"/>
              </a:rPr>
              <a:t>Δduty </a:t>
            </a:r>
            <a:r>
              <a:rPr lang="en-US" sz="1725" dirty="0">
                <a:solidFill>
                  <a:srgbClr val="3A506A"/>
                </a:solidFill>
                <a:latin typeface="Arial" pitchFamily="34" charset="0"/>
                <a:ea typeface="Arial" pitchFamily="34" charset="-122"/>
                <a:cs typeface="Arial" pitchFamily="34" charset="-120"/>
              </a:rPr>
              <a:t>— inkremental, diakumulasi &amp; di-</a:t>
            </a:r>
            <a:r>
              <a:rPr lang="en-US" sz="1725" i="1" dirty="0">
                <a:solidFill>
                  <a:srgbClr val="3A506A"/>
                </a:solidFill>
                <a:latin typeface="Arial" pitchFamily="34" charset="0"/>
                <a:ea typeface="Arial" pitchFamily="34" charset="-122"/>
                <a:cs typeface="Arial" pitchFamily="34" charset="-120"/>
              </a:rPr>
              <a:t>clamp </a:t>
            </a:r>
            <a:r>
              <a:rPr lang="en-US" sz="1725" dirty="0">
                <a:solidFill>
                  <a:srgbClr val="3A506A"/>
                </a:solidFill>
                <a:latin typeface="Arial" pitchFamily="34" charset="0"/>
                <a:ea typeface="Arial" pitchFamily="34" charset="-122"/>
                <a:cs typeface="Arial" pitchFamily="34" charset="-120"/>
              </a:rPr>
              <a:t>70–95%.</a:t>
            </a:r>
            <a:endParaRPr lang="en-US" sz="1725" dirty="0"/>
          </a:p>
        </p:txBody>
      </p:sp>
      <p:sp>
        <p:nvSpPr>
          <p:cNvPr id="17" name="Shape 12"/>
          <p:cNvSpPr/>
          <p:nvPr/>
        </p:nvSpPr>
        <p:spPr>
          <a:xfrm>
            <a:off x="9305925" y="4208740"/>
            <a:ext cx="8181975" cy="1409938"/>
          </a:xfrm>
          <a:prstGeom prst="roundRect">
            <a:avLst>
              <a:gd name="adj" fmla="val 9458"/>
            </a:avLst>
          </a:prstGeom>
          <a:solidFill>
            <a:srgbClr val="EEF4FB"/>
          </a:solidFill>
          <a:ln w="7620">
            <a:solidFill>
              <a:srgbClr val="E1E9F2"/>
            </a:solidFill>
            <a:prstDash val="solid"/>
          </a:ln>
        </p:spPr>
      </p:sp>
      <p:sp>
        <p:nvSpPr>
          <p:cNvPr id="18" name="Text 13"/>
          <p:cNvSpPr/>
          <p:nvPr/>
        </p:nvSpPr>
        <p:spPr>
          <a:xfrm>
            <a:off x="9561195" y="4444960"/>
            <a:ext cx="8438579" cy="312420"/>
          </a:xfrm>
          <a:prstGeom prst="rect">
            <a:avLst/>
          </a:prstGeom>
          <a:noFill/>
          <a:ln/>
        </p:spPr>
        <p:txBody>
          <a:bodyPr wrap="square" lIns="25400" tIns="25400" rIns="25400" bIns="25400" rtlCol="0" anchor="t">
            <a:normAutofit/>
          </a:bodyPr>
          <a:lstStyle/>
          <a:p>
            <a:pPr marL="0" indent="0" algn="l">
              <a:buNone/>
            </a:pPr>
            <a:r>
              <a:rPr lang="en-US" sz="1875" b="1" dirty="0">
                <a:solidFill>
                  <a:srgbClr val="1763A6"/>
                </a:solidFill>
                <a:latin typeface="Arial" pitchFamily="34" charset="0"/>
                <a:ea typeface="Arial" pitchFamily="34" charset="-122"/>
                <a:cs typeface="Arial" pitchFamily="34" charset="-120"/>
              </a:rPr>
              <a:t>Arsitektur</a:t>
            </a:r>
            <a:endParaRPr lang="en-US" sz="1875" dirty="0"/>
          </a:p>
        </p:txBody>
      </p:sp>
      <p:sp>
        <p:nvSpPr>
          <p:cNvPr id="19" name="Text 14"/>
          <p:cNvSpPr/>
          <p:nvPr/>
        </p:nvSpPr>
        <p:spPr>
          <a:xfrm>
            <a:off x="9561195" y="4795480"/>
            <a:ext cx="7901578" cy="625078"/>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3A506A"/>
                </a:solidFill>
                <a:latin typeface="Arial" pitchFamily="34" charset="0"/>
                <a:ea typeface="Arial" pitchFamily="34" charset="-122"/>
                <a:cs typeface="Arial" pitchFamily="34" charset="-120"/>
              </a:rPr>
              <a:t>hidden 4 neuron </a:t>
            </a:r>
            <a:r>
              <a:rPr lang="en-US" sz="1725" i="1" dirty="0">
                <a:solidFill>
                  <a:srgbClr val="3A506A"/>
                </a:solidFill>
                <a:latin typeface="Arial" pitchFamily="34" charset="0"/>
                <a:ea typeface="Arial" pitchFamily="34" charset="-122"/>
                <a:cs typeface="Arial" pitchFamily="34" charset="-120"/>
              </a:rPr>
              <a:t>tanh</a:t>
            </a:r>
            <a:r>
              <a:rPr lang="en-US" sz="1725" dirty="0">
                <a:solidFill>
                  <a:srgbClr val="3A506A"/>
                </a:solidFill>
                <a:latin typeface="Arial" pitchFamily="34" charset="0"/>
                <a:ea typeface="Arial" pitchFamily="34" charset="-122"/>
                <a:cs typeface="Arial" pitchFamily="34" charset="-120"/>
              </a:rPr>
              <a:t>, output linear — hanya </a:t>
            </a:r>
            <a:r>
              <a:rPr lang="en-US" sz="1725" b="1" dirty="0">
                <a:solidFill>
                  <a:srgbClr val="3A506A"/>
                </a:solidFill>
                <a:latin typeface="Arial" pitchFamily="34" charset="0"/>
                <a:ea typeface="Arial" pitchFamily="34" charset="-122"/>
                <a:cs typeface="Arial" pitchFamily="34" charset="-120"/>
              </a:rPr>
              <a:t>21 parameter </a:t>
            </a:r>
            <a:r>
              <a:rPr lang="en-US" sz="1725" dirty="0">
                <a:solidFill>
                  <a:srgbClr val="3A506A"/>
                </a:solidFill>
                <a:latin typeface="Arial" pitchFamily="34" charset="0"/>
                <a:ea typeface="Arial" pitchFamily="34" charset="-122"/>
                <a:cs typeface="Arial" pitchFamily="34" charset="-120"/>
              </a:rPr>
              <a:t>, ringan untuk STM32.</a:t>
            </a:r>
            <a:endParaRPr lang="en-US" sz="1725" dirty="0"/>
          </a:p>
        </p:txBody>
      </p:sp>
      <p:sp>
        <p:nvSpPr>
          <p:cNvPr id="20" name="Shape 15"/>
          <p:cNvSpPr/>
          <p:nvPr/>
        </p:nvSpPr>
        <p:spPr>
          <a:xfrm>
            <a:off x="9305925" y="5771079"/>
            <a:ext cx="8181975" cy="1394698"/>
          </a:xfrm>
          <a:prstGeom prst="roundRect">
            <a:avLst>
              <a:gd name="adj" fmla="val 9561"/>
            </a:avLst>
          </a:prstGeom>
          <a:gradFill rotWithShape="1">
            <a:gsLst>
              <a:gs pos="0">
                <a:srgbClr val="103A63">
                  <a:alpha val="100000"/>
                </a:srgbClr>
              </a:gs>
              <a:gs pos="100000">
                <a:srgbClr val="1763A6">
                  <a:alpha val="100000"/>
                </a:srgbClr>
              </a:gs>
            </a:gsLst>
            <a:lin ang="2700000" scaled="0"/>
          </a:gradFill>
          <a:ln/>
        </p:spPr>
      </p:sp>
      <p:sp>
        <p:nvSpPr>
          <p:cNvPr id="21" name="Text 16"/>
          <p:cNvSpPr/>
          <p:nvPr/>
        </p:nvSpPr>
        <p:spPr>
          <a:xfrm>
            <a:off x="9553575" y="5999679"/>
            <a:ext cx="8455343" cy="312420"/>
          </a:xfrm>
          <a:prstGeom prst="rect">
            <a:avLst/>
          </a:prstGeom>
          <a:noFill/>
          <a:ln/>
        </p:spPr>
        <p:txBody>
          <a:bodyPr wrap="square" lIns="25400" tIns="25400" rIns="25400" bIns="25400" rtlCol="0" anchor="t">
            <a:normAutofit/>
          </a:bodyPr>
          <a:lstStyle/>
          <a:p>
            <a:pPr marL="0" indent="0" algn="l">
              <a:buNone/>
            </a:pPr>
            <a:r>
              <a:rPr lang="en-US" sz="1875" b="1" dirty="0">
                <a:solidFill>
                  <a:srgbClr val="FFFFFF"/>
                </a:solidFill>
                <a:latin typeface="Arial" pitchFamily="34" charset="0"/>
                <a:ea typeface="Arial" pitchFamily="34" charset="-122"/>
                <a:cs typeface="Arial" pitchFamily="34" charset="-120"/>
              </a:rPr>
              <a:t>Behavior cloning</a:t>
            </a:r>
            <a:endParaRPr lang="en-US" sz="1875" dirty="0"/>
          </a:p>
        </p:txBody>
      </p:sp>
      <p:sp>
        <p:nvSpPr>
          <p:cNvPr id="22" name="Text 17"/>
          <p:cNvSpPr/>
          <p:nvPr/>
        </p:nvSpPr>
        <p:spPr>
          <a:xfrm>
            <a:off x="9553575" y="6350198"/>
            <a:ext cx="7917275" cy="625078"/>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DCEBFA"/>
                </a:solidFill>
                <a:latin typeface="Arial" pitchFamily="34" charset="0"/>
                <a:ea typeface="Arial" pitchFamily="34" charset="-122"/>
                <a:cs typeface="Arial" pitchFamily="34" charset="-120"/>
              </a:rPr>
              <a:t>Dilatih meniru aksi kendali dari data operasi </a:t>
            </a:r>
            <a:r>
              <a:rPr lang="en-US" sz="1725" b="1" dirty="0">
                <a:solidFill>
                  <a:srgbClr val="FFFFFF"/>
                </a:solidFill>
                <a:latin typeface="Arial" pitchFamily="34" charset="0"/>
                <a:ea typeface="Arial" pitchFamily="34" charset="-122"/>
                <a:cs typeface="Arial" pitchFamily="34" charset="-120"/>
              </a:rPr>
              <a:t>closed-loop </a:t>
            </a:r>
            <a:r>
              <a:rPr lang="en-US" sz="1725" dirty="0">
                <a:solidFill>
                  <a:srgbClr val="DCEBFA"/>
                </a:solidFill>
                <a:latin typeface="Arial" pitchFamily="34" charset="0"/>
                <a:ea typeface="Arial" pitchFamily="34" charset="-122"/>
                <a:cs typeface="Arial" pitchFamily="34" charset="-120"/>
              </a:rPr>
              <a:t>nyata, tanpa model matematis plant.</a:t>
            </a:r>
            <a:endParaRPr lang="en-US" sz="1725" dirty="0"/>
          </a:p>
        </p:txBody>
      </p:sp>
      <p:sp>
        <p:nvSpPr>
          <p:cNvPr id="23" name="Shape 18"/>
          <p:cNvSpPr/>
          <p:nvPr/>
        </p:nvSpPr>
        <p:spPr>
          <a:xfrm>
            <a:off x="0" y="9486900"/>
            <a:ext cx="18288000" cy="9525"/>
          </a:xfrm>
          <a:prstGeom prst="rect">
            <a:avLst/>
          </a:prstGeom>
          <a:solidFill>
            <a:srgbClr val="E1E9F2"/>
          </a:solidFill>
          <a:ln/>
        </p:spPr>
      </p:sp>
      <p:sp>
        <p:nvSpPr>
          <p:cNvPr id="24" name="Text 19"/>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25" name="Text 20"/>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26" name="Shape 21"/>
          <p:cNvSpPr/>
          <p:nvPr/>
        </p:nvSpPr>
        <p:spPr>
          <a:xfrm>
            <a:off x="4277678" y="10023158"/>
            <a:ext cx="886420" cy="22860"/>
          </a:xfrm>
          <a:prstGeom prst="rect">
            <a:avLst/>
          </a:prstGeom>
          <a:solidFill>
            <a:srgbClr val="2E86DE"/>
          </a:solidFill>
          <a:ln/>
        </p:spPr>
      </p:sp>
      <p:sp>
        <p:nvSpPr>
          <p:cNvPr id="27" name="Text 22"/>
          <p:cNvSpPr/>
          <p:nvPr/>
        </p:nvSpPr>
        <p:spPr>
          <a:xfrm>
            <a:off x="4277678" y="9758363"/>
            <a:ext cx="962620"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Metodologi</a:t>
            </a:r>
            <a:endParaRPr lang="en-US" sz="1350" dirty="0"/>
          </a:p>
        </p:txBody>
      </p:sp>
      <p:sp>
        <p:nvSpPr>
          <p:cNvPr id="28" name="Text 23"/>
          <p:cNvSpPr/>
          <p:nvPr/>
        </p:nvSpPr>
        <p:spPr>
          <a:xfrm>
            <a:off x="5449848"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29" name="Text 24"/>
          <p:cNvSpPr/>
          <p:nvPr/>
        </p:nvSpPr>
        <p:spPr>
          <a:xfrm>
            <a:off x="7672983"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30" name="Text 25"/>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7191363"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III · PERANCANGAN</a:t>
            </a:r>
            <a:endParaRPr lang="en-US" sz="1500" dirty="0"/>
          </a:p>
        </p:txBody>
      </p:sp>
      <p:sp>
        <p:nvSpPr>
          <p:cNvPr id="5" name="Text 3"/>
          <p:cNvSpPr/>
          <p:nvPr/>
        </p:nvSpPr>
        <p:spPr>
          <a:xfrm>
            <a:off x="1108710" y="830580"/>
            <a:ext cx="7191363"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Akuisisi Dataset &amp; Pelatihan</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1671042"/>
            <a:ext cx="2713792" cy="461010"/>
          </a:xfrm>
          <a:prstGeom prst="roundRect">
            <a:avLst>
              <a:gd name="adj" fmla="val 18595"/>
            </a:avLst>
          </a:prstGeom>
          <a:gradFill rotWithShape="1">
            <a:gsLst>
              <a:gs pos="0">
                <a:srgbClr val="1B6FB3">
                  <a:alpha val="100000"/>
                </a:srgbClr>
              </a:gs>
              <a:gs pos="100000">
                <a:srgbClr val="2E86DE">
                  <a:alpha val="100000"/>
                </a:srgbClr>
              </a:gs>
            </a:gsLst>
            <a:lin ang="2700000" scaled="0"/>
          </a:gradFill>
          <a:ln/>
          <a:effectLst>
            <a:outerShdw blurRad="152400" dist="57150" dir="5400000" algn="bl" rotWithShape="0">
              <a:srgbClr val="1763A6">
                <a:alpha val="22000"/>
              </a:srgbClr>
            </a:outerShdw>
          </a:effectLst>
        </p:spPr>
      </p:sp>
      <p:sp>
        <p:nvSpPr>
          <p:cNvPr id="9" name="Text 5"/>
          <p:cNvSpPr/>
          <p:nvPr/>
        </p:nvSpPr>
        <p:spPr>
          <a:xfrm>
            <a:off x="1028700" y="1794867"/>
            <a:ext cx="196929" cy="251460"/>
          </a:xfrm>
          <a:prstGeom prst="rect">
            <a:avLst/>
          </a:prstGeom>
          <a:noFill/>
          <a:ln/>
        </p:spPr>
        <p:txBody>
          <a:bodyPr wrap="square" lIns="25400" tIns="25400" rIns="25400" bIns="25400" rtlCol="0" anchor="t">
            <a:normAutofit/>
          </a:bodyPr>
          <a:lstStyle/>
          <a:p>
            <a:pPr marL="0" indent="0" algn="l">
              <a:buNone/>
            </a:pPr>
            <a:r>
              <a:rPr lang="en-US" sz="1425" b="1" dirty="0">
                <a:solidFill>
                  <a:srgbClr val="FFFFFF">
                    <a:alpha val="70000"/>
                  </a:srgbClr>
                </a:solidFill>
                <a:latin typeface="Arial" pitchFamily="34" charset="0"/>
                <a:ea typeface="Arial" pitchFamily="34" charset="-122"/>
                <a:cs typeface="Arial" pitchFamily="34" charset="-120"/>
              </a:rPr>
              <a:t>A</a:t>
            </a:r>
            <a:endParaRPr lang="en-US" sz="1425" dirty="0"/>
          </a:p>
        </p:txBody>
      </p:sp>
      <p:sp>
        <p:nvSpPr>
          <p:cNvPr id="10" name="Text 6"/>
          <p:cNvSpPr/>
          <p:nvPr/>
        </p:nvSpPr>
        <p:spPr>
          <a:xfrm>
            <a:off x="1263729" y="1775817"/>
            <a:ext cx="2097762" cy="281940"/>
          </a:xfrm>
          <a:prstGeom prst="rect">
            <a:avLst/>
          </a:prstGeom>
          <a:noFill/>
          <a:ln/>
        </p:spPr>
        <p:txBody>
          <a:bodyPr wrap="square" lIns="0" tIns="0" rIns="0" bIns="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Aturan koreksi Δduty</a:t>
            </a:r>
            <a:endParaRPr lang="en-US" sz="1725" dirty="0"/>
          </a:p>
        </p:txBody>
      </p:sp>
      <p:sp>
        <p:nvSpPr>
          <p:cNvPr id="11" name="Shape 7"/>
          <p:cNvSpPr/>
          <p:nvPr/>
        </p:nvSpPr>
        <p:spPr>
          <a:xfrm>
            <a:off x="800100" y="2303502"/>
            <a:ext cx="5680710" cy="483870"/>
          </a:xfrm>
          <a:prstGeom prst="roundRect">
            <a:avLst>
              <a:gd name="adj" fmla="val 19685"/>
            </a:avLst>
          </a:prstGeom>
          <a:solidFill>
            <a:srgbClr val="1763A6"/>
          </a:solidFill>
          <a:ln/>
        </p:spPr>
      </p:sp>
      <p:sp>
        <p:nvSpPr>
          <p:cNvPr id="12" name="Text 8"/>
          <p:cNvSpPr/>
          <p:nvPr/>
        </p:nvSpPr>
        <p:spPr>
          <a:xfrm>
            <a:off x="971550" y="2427327"/>
            <a:ext cx="5508232" cy="274320"/>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Galat = setpoint − tekanan (bar)</a:t>
            </a:r>
            <a:endParaRPr lang="en-US" sz="1575" dirty="0"/>
          </a:p>
        </p:txBody>
      </p:sp>
      <p:sp>
        <p:nvSpPr>
          <p:cNvPr id="13" name="Shape 9"/>
          <p:cNvSpPr/>
          <p:nvPr/>
        </p:nvSpPr>
        <p:spPr>
          <a:xfrm>
            <a:off x="6480810" y="2303502"/>
            <a:ext cx="2501265" cy="483870"/>
          </a:xfrm>
          <a:prstGeom prst="rect">
            <a:avLst/>
          </a:prstGeom>
          <a:solidFill>
            <a:srgbClr val="1763A6"/>
          </a:solidFill>
          <a:ln/>
        </p:spPr>
      </p:sp>
      <p:sp>
        <p:nvSpPr>
          <p:cNvPr id="14" name="Text 10"/>
          <p:cNvSpPr/>
          <p:nvPr/>
        </p:nvSpPr>
        <p:spPr>
          <a:xfrm>
            <a:off x="6652260" y="2427327"/>
            <a:ext cx="2234565" cy="274320"/>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Δduty</a:t>
            </a:r>
            <a:endParaRPr lang="en-US" sz="1575" dirty="0"/>
          </a:p>
        </p:txBody>
      </p:sp>
      <p:sp>
        <p:nvSpPr>
          <p:cNvPr id="15" name="Shape 11"/>
          <p:cNvSpPr/>
          <p:nvPr/>
        </p:nvSpPr>
        <p:spPr>
          <a:xfrm>
            <a:off x="800100" y="3294102"/>
            <a:ext cx="5680710" cy="9525"/>
          </a:xfrm>
          <a:prstGeom prst="rect">
            <a:avLst/>
          </a:prstGeom>
          <a:solidFill>
            <a:srgbClr val="E1E9F2"/>
          </a:solidFill>
          <a:ln/>
        </p:spPr>
      </p:sp>
      <p:sp>
        <p:nvSpPr>
          <p:cNvPr id="16" name="Text 12"/>
          <p:cNvSpPr/>
          <p:nvPr/>
        </p:nvSpPr>
        <p:spPr>
          <a:xfrm>
            <a:off x="971550" y="2901672"/>
            <a:ext cx="5508232" cy="31623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error &gt; +0,08</a:t>
            </a:r>
            <a:endParaRPr lang="en-US" sz="1725" dirty="0"/>
          </a:p>
        </p:txBody>
      </p:sp>
      <p:sp>
        <p:nvSpPr>
          <p:cNvPr id="17" name="Shape 13"/>
          <p:cNvSpPr/>
          <p:nvPr/>
        </p:nvSpPr>
        <p:spPr>
          <a:xfrm>
            <a:off x="6480810" y="3294102"/>
            <a:ext cx="2501265" cy="9525"/>
          </a:xfrm>
          <a:prstGeom prst="rect">
            <a:avLst/>
          </a:prstGeom>
          <a:solidFill>
            <a:srgbClr val="E1E9F2"/>
          </a:solidFill>
          <a:ln/>
        </p:spPr>
      </p:sp>
      <p:sp>
        <p:nvSpPr>
          <p:cNvPr id="18" name="Text 14"/>
          <p:cNvSpPr/>
          <p:nvPr/>
        </p:nvSpPr>
        <p:spPr>
          <a:xfrm>
            <a:off x="6652260" y="2901672"/>
            <a:ext cx="2234565" cy="31623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+3%</a:t>
            </a:r>
            <a:endParaRPr lang="en-US" sz="1725" dirty="0"/>
          </a:p>
        </p:txBody>
      </p:sp>
      <p:sp>
        <p:nvSpPr>
          <p:cNvPr id="19" name="Shape 15"/>
          <p:cNvSpPr/>
          <p:nvPr/>
        </p:nvSpPr>
        <p:spPr>
          <a:xfrm>
            <a:off x="800100" y="3301722"/>
            <a:ext cx="5680710" cy="518160"/>
          </a:xfrm>
          <a:prstGeom prst="rect">
            <a:avLst/>
          </a:prstGeom>
          <a:solidFill>
            <a:srgbClr val="F6F9FD"/>
          </a:solidFill>
          <a:ln/>
        </p:spPr>
      </p:sp>
      <p:sp>
        <p:nvSpPr>
          <p:cNvPr id="20" name="Shape 16"/>
          <p:cNvSpPr/>
          <p:nvPr/>
        </p:nvSpPr>
        <p:spPr>
          <a:xfrm>
            <a:off x="800100" y="3812262"/>
            <a:ext cx="5680710" cy="9525"/>
          </a:xfrm>
          <a:prstGeom prst="rect">
            <a:avLst/>
          </a:prstGeom>
          <a:solidFill>
            <a:srgbClr val="E1E9F2"/>
          </a:solidFill>
          <a:ln/>
        </p:spPr>
      </p:sp>
      <p:sp>
        <p:nvSpPr>
          <p:cNvPr id="21" name="Text 17"/>
          <p:cNvSpPr/>
          <p:nvPr/>
        </p:nvSpPr>
        <p:spPr>
          <a:xfrm>
            <a:off x="971550" y="3416022"/>
            <a:ext cx="550823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+0,02 &lt; error ≤ +0,08</a:t>
            </a:r>
            <a:endParaRPr lang="en-US" sz="1725" dirty="0"/>
          </a:p>
        </p:txBody>
      </p:sp>
      <p:sp>
        <p:nvSpPr>
          <p:cNvPr id="22" name="Shape 18"/>
          <p:cNvSpPr/>
          <p:nvPr/>
        </p:nvSpPr>
        <p:spPr>
          <a:xfrm>
            <a:off x="6480810" y="3301722"/>
            <a:ext cx="2501265" cy="518160"/>
          </a:xfrm>
          <a:prstGeom prst="rect">
            <a:avLst/>
          </a:prstGeom>
          <a:solidFill>
            <a:srgbClr val="F6F9FD"/>
          </a:solidFill>
          <a:ln/>
        </p:spPr>
      </p:sp>
      <p:sp>
        <p:nvSpPr>
          <p:cNvPr id="23" name="Shape 19"/>
          <p:cNvSpPr/>
          <p:nvPr/>
        </p:nvSpPr>
        <p:spPr>
          <a:xfrm>
            <a:off x="6480810" y="3812262"/>
            <a:ext cx="2501265" cy="9525"/>
          </a:xfrm>
          <a:prstGeom prst="rect">
            <a:avLst/>
          </a:prstGeom>
          <a:solidFill>
            <a:srgbClr val="E1E9F2"/>
          </a:solidFill>
          <a:ln/>
        </p:spPr>
      </p:sp>
      <p:sp>
        <p:nvSpPr>
          <p:cNvPr id="24" name="Text 20"/>
          <p:cNvSpPr/>
          <p:nvPr/>
        </p:nvSpPr>
        <p:spPr>
          <a:xfrm>
            <a:off x="6652260" y="3416022"/>
            <a:ext cx="2234565"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 … +2%</a:t>
            </a:r>
            <a:endParaRPr lang="en-US" sz="1725" dirty="0"/>
          </a:p>
        </p:txBody>
      </p:sp>
      <p:sp>
        <p:nvSpPr>
          <p:cNvPr id="25" name="Shape 21"/>
          <p:cNvSpPr/>
          <p:nvPr/>
        </p:nvSpPr>
        <p:spPr>
          <a:xfrm>
            <a:off x="800100" y="4330422"/>
            <a:ext cx="5680710" cy="9525"/>
          </a:xfrm>
          <a:prstGeom prst="rect">
            <a:avLst/>
          </a:prstGeom>
          <a:solidFill>
            <a:srgbClr val="E1E9F2"/>
          </a:solidFill>
          <a:ln/>
        </p:spPr>
      </p:sp>
      <p:sp>
        <p:nvSpPr>
          <p:cNvPr id="26" name="Text 22"/>
          <p:cNvSpPr/>
          <p:nvPr/>
        </p:nvSpPr>
        <p:spPr>
          <a:xfrm>
            <a:off x="971550" y="3934182"/>
            <a:ext cx="550823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−0,02 ≤ error ≤ +0,02</a:t>
            </a:r>
            <a:endParaRPr lang="en-US" sz="1725" dirty="0"/>
          </a:p>
        </p:txBody>
      </p:sp>
      <p:sp>
        <p:nvSpPr>
          <p:cNvPr id="27" name="Shape 23"/>
          <p:cNvSpPr/>
          <p:nvPr/>
        </p:nvSpPr>
        <p:spPr>
          <a:xfrm>
            <a:off x="6480810" y="4330422"/>
            <a:ext cx="2501265" cy="9525"/>
          </a:xfrm>
          <a:prstGeom prst="rect">
            <a:avLst/>
          </a:prstGeom>
          <a:solidFill>
            <a:srgbClr val="E1E9F2"/>
          </a:solidFill>
          <a:ln/>
        </p:spPr>
      </p:sp>
      <p:sp>
        <p:nvSpPr>
          <p:cNvPr id="28" name="Text 24"/>
          <p:cNvSpPr/>
          <p:nvPr/>
        </p:nvSpPr>
        <p:spPr>
          <a:xfrm>
            <a:off x="6652260" y="3934182"/>
            <a:ext cx="2234565"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0%</a:t>
            </a:r>
            <a:endParaRPr lang="en-US" sz="1725" dirty="0"/>
          </a:p>
        </p:txBody>
      </p:sp>
      <p:sp>
        <p:nvSpPr>
          <p:cNvPr id="29" name="Shape 25"/>
          <p:cNvSpPr/>
          <p:nvPr/>
        </p:nvSpPr>
        <p:spPr>
          <a:xfrm>
            <a:off x="800100" y="4338042"/>
            <a:ext cx="5680710" cy="518160"/>
          </a:xfrm>
          <a:prstGeom prst="rect">
            <a:avLst/>
          </a:prstGeom>
          <a:solidFill>
            <a:srgbClr val="F6F9FD"/>
          </a:solidFill>
          <a:ln/>
        </p:spPr>
      </p:sp>
      <p:sp>
        <p:nvSpPr>
          <p:cNvPr id="30" name="Shape 26"/>
          <p:cNvSpPr/>
          <p:nvPr/>
        </p:nvSpPr>
        <p:spPr>
          <a:xfrm>
            <a:off x="800100" y="4848582"/>
            <a:ext cx="5680710" cy="9525"/>
          </a:xfrm>
          <a:prstGeom prst="rect">
            <a:avLst/>
          </a:prstGeom>
          <a:solidFill>
            <a:srgbClr val="E1E9F2"/>
          </a:solidFill>
          <a:ln/>
        </p:spPr>
      </p:sp>
      <p:sp>
        <p:nvSpPr>
          <p:cNvPr id="31" name="Text 27"/>
          <p:cNvSpPr/>
          <p:nvPr/>
        </p:nvSpPr>
        <p:spPr>
          <a:xfrm>
            <a:off x="971550" y="4452342"/>
            <a:ext cx="550823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−0,08 ≤ error &lt; −0,02</a:t>
            </a:r>
            <a:endParaRPr lang="en-US" sz="1725" dirty="0"/>
          </a:p>
        </p:txBody>
      </p:sp>
      <p:sp>
        <p:nvSpPr>
          <p:cNvPr id="32" name="Shape 28"/>
          <p:cNvSpPr/>
          <p:nvPr/>
        </p:nvSpPr>
        <p:spPr>
          <a:xfrm>
            <a:off x="6480810" y="4338042"/>
            <a:ext cx="2501265" cy="518160"/>
          </a:xfrm>
          <a:prstGeom prst="rect">
            <a:avLst/>
          </a:prstGeom>
          <a:solidFill>
            <a:srgbClr val="F6F9FD"/>
          </a:solidFill>
          <a:ln/>
        </p:spPr>
      </p:sp>
      <p:sp>
        <p:nvSpPr>
          <p:cNvPr id="33" name="Shape 29"/>
          <p:cNvSpPr/>
          <p:nvPr/>
        </p:nvSpPr>
        <p:spPr>
          <a:xfrm>
            <a:off x="6480810" y="4848582"/>
            <a:ext cx="2501265" cy="9525"/>
          </a:xfrm>
          <a:prstGeom prst="rect">
            <a:avLst/>
          </a:prstGeom>
          <a:solidFill>
            <a:srgbClr val="E1E9F2"/>
          </a:solidFill>
          <a:ln/>
        </p:spPr>
      </p:sp>
      <p:sp>
        <p:nvSpPr>
          <p:cNvPr id="34" name="Text 30"/>
          <p:cNvSpPr/>
          <p:nvPr/>
        </p:nvSpPr>
        <p:spPr>
          <a:xfrm>
            <a:off x="6652260" y="4452342"/>
            <a:ext cx="2234565"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 … −2%</a:t>
            </a:r>
            <a:endParaRPr lang="en-US" sz="1725" dirty="0"/>
          </a:p>
        </p:txBody>
      </p:sp>
      <p:sp>
        <p:nvSpPr>
          <p:cNvPr id="35" name="Shape 31"/>
          <p:cNvSpPr/>
          <p:nvPr/>
        </p:nvSpPr>
        <p:spPr>
          <a:xfrm>
            <a:off x="800100" y="5366742"/>
            <a:ext cx="5680710" cy="9525"/>
          </a:xfrm>
          <a:prstGeom prst="rect">
            <a:avLst/>
          </a:prstGeom>
          <a:solidFill>
            <a:srgbClr val="E1E9F2"/>
          </a:solidFill>
          <a:ln/>
        </p:spPr>
      </p:sp>
      <p:sp>
        <p:nvSpPr>
          <p:cNvPr id="36" name="Text 32"/>
          <p:cNvSpPr/>
          <p:nvPr/>
        </p:nvSpPr>
        <p:spPr>
          <a:xfrm>
            <a:off x="971550" y="4970502"/>
            <a:ext cx="550823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error &lt; −0,08</a:t>
            </a:r>
            <a:endParaRPr lang="en-US" sz="1725" dirty="0"/>
          </a:p>
        </p:txBody>
      </p:sp>
      <p:sp>
        <p:nvSpPr>
          <p:cNvPr id="37" name="Shape 33"/>
          <p:cNvSpPr/>
          <p:nvPr/>
        </p:nvSpPr>
        <p:spPr>
          <a:xfrm>
            <a:off x="6480810" y="5366742"/>
            <a:ext cx="2501265" cy="9525"/>
          </a:xfrm>
          <a:prstGeom prst="rect">
            <a:avLst/>
          </a:prstGeom>
          <a:solidFill>
            <a:srgbClr val="E1E9F2"/>
          </a:solidFill>
          <a:ln/>
        </p:spPr>
      </p:sp>
      <p:sp>
        <p:nvSpPr>
          <p:cNvPr id="38" name="Text 34"/>
          <p:cNvSpPr/>
          <p:nvPr/>
        </p:nvSpPr>
        <p:spPr>
          <a:xfrm>
            <a:off x="6652260" y="4970502"/>
            <a:ext cx="2234565"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−3%</a:t>
            </a:r>
            <a:endParaRPr lang="en-US" sz="1725" dirty="0"/>
          </a:p>
        </p:txBody>
      </p:sp>
      <p:sp>
        <p:nvSpPr>
          <p:cNvPr id="39" name="Shape 35"/>
          <p:cNvSpPr/>
          <p:nvPr/>
        </p:nvSpPr>
        <p:spPr>
          <a:xfrm>
            <a:off x="9305925" y="1671042"/>
            <a:ext cx="2859881" cy="461010"/>
          </a:xfrm>
          <a:prstGeom prst="roundRect">
            <a:avLst>
              <a:gd name="adj" fmla="val 18595"/>
            </a:avLst>
          </a:prstGeom>
          <a:gradFill rotWithShape="1">
            <a:gsLst>
              <a:gs pos="0">
                <a:srgbClr val="1B6FB3">
                  <a:alpha val="100000"/>
                </a:srgbClr>
              </a:gs>
              <a:gs pos="100000">
                <a:srgbClr val="2E86DE">
                  <a:alpha val="100000"/>
                </a:srgbClr>
              </a:gs>
            </a:gsLst>
            <a:lin ang="2700000" scaled="0"/>
          </a:gradFill>
          <a:ln/>
          <a:effectLst>
            <a:outerShdw blurRad="152400" dist="57150" dir="5400000" algn="bl" rotWithShape="0">
              <a:srgbClr val="1763A6">
                <a:alpha val="22000"/>
              </a:srgbClr>
            </a:outerShdw>
          </a:effectLst>
        </p:spPr>
      </p:sp>
      <p:sp>
        <p:nvSpPr>
          <p:cNvPr id="40" name="Text 36"/>
          <p:cNvSpPr/>
          <p:nvPr/>
        </p:nvSpPr>
        <p:spPr>
          <a:xfrm>
            <a:off x="9534525" y="1794867"/>
            <a:ext cx="196929" cy="251460"/>
          </a:xfrm>
          <a:prstGeom prst="rect">
            <a:avLst/>
          </a:prstGeom>
          <a:noFill/>
          <a:ln/>
        </p:spPr>
        <p:txBody>
          <a:bodyPr wrap="square" lIns="25400" tIns="25400" rIns="25400" bIns="25400" rtlCol="0" anchor="t">
            <a:normAutofit/>
          </a:bodyPr>
          <a:lstStyle/>
          <a:p>
            <a:pPr marL="0" indent="0" algn="l">
              <a:buNone/>
            </a:pPr>
            <a:r>
              <a:rPr lang="en-US" sz="1425" b="1" dirty="0">
                <a:solidFill>
                  <a:srgbClr val="FFFFFF">
                    <a:alpha val="70000"/>
                  </a:srgbClr>
                </a:solidFill>
                <a:latin typeface="Arial" pitchFamily="34" charset="0"/>
                <a:ea typeface="Arial" pitchFamily="34" charset="-122"/>
                <a:cs typeface="Arial" pitchFamily="34" charset="-120"/>
              </a:rPr>
              <a:t>B</a:t>
            </a:r>
            <a:endParaRPr lang="en-US" sz="1425" dirty="0"/>
          </a:p>
        </p:txBody>
      </p:sp>
      <p:sp>
        <p:nvSpPr>
          <p:cNvPr id="41" name="Text 37"/>
          <p:cNvSpPr/>
          <p:nvPr/>
        </p:nvSpPr>
        <p:spPr>
          <a:xfrm>
            <a:off x="9769555" y="1775817"/>
            <a:ext cx="2243851" cy="281940"/>
          </a:xfrm>
          <a:prstGeom prst="rect">
            <a:avLst/>
          </a:prstGeom>
          <a:noFill/>
          <a:ln/>
        </p:spPr>
        <p:txBody>
          <a:bodyPr wrap="square" lIns="0" tIns="0" rIns="0" bIns="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Komposisi &amp; pelatihan</a:t>
            </a:r>
            <a:endParaRPr lang="en-US" sz="1725" dirty="0"/>
          </a:p>
        </p:txBody>
      </p:sp>
      <p:sp>
        <p:nvSpPr>
          <p:cNvPr id="42" name="Text 38"/>
          <p:cNvSpPr/>
          <p:nvPr/>
        </p:nvSpPr>
        <p:spPr>
          <a:xfrm>
            <a:off x="9305925" y="2303502"/>
            <a:ext cx="1577388"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b="1" kern="0" spc="-75" dirty="0">
                <a:solidFill>
                  <a:srgbClr val="1763A6"/>
                </a:solidFill>
                <a:latin typeface="Arial" pitchFamily="34" charset="0"/>
                <a:ea typeface="Arial" pitchFamily="34" charset="-122"/>
                <a:cs typeface="Arial" pitchFamily="34" charset="-120"/>
              </a:rPr>
              <a:t>453</a:t>
            </a:r>
            <a:endParaRPr lang="en-US" sz="4500" dirty="0"/>
          </a:p>
        </p:txBody>
      </p:sp>
      <p:sp>
        <p:nvSpPr>
          <p:cNvPr id="43" name="Text 39"/>
          <p:cNvSpPr/>
          <p:nvPr/>
        </p:nvSpPr>
        <p:spPr>
          <a:xfrm>
            <a:off x="9305925" y="2894052"/>
            <a:ext cx="1510189" cy="538163"/>
          </a:xfrm>
          <a:prstGeom prst="rect">
            <a:avLst/>
          </a:prstGeom>
          <a:noFill/>
          <a:ln/>
        </p:spPr>
        <p:txBody>
          <a:bodyPr wrap="square" lIns="25400" tIns="25400" rIns="25400" bIns="25400" rtlCol="0" anchor="t">
            <a:normAutofit/>
          </a:bodyPr>
          <a:lstStyle/>
          <a:p>
            <a:pPr marL="0" indent="0" algn="l">
              <a:lnSpc>
                <a:spcPct val="125000"/>
              </a:lnSpc>
              <a:buNone/>
            </a:pPr>
            <a:r>
              <a:rPr lang="en-US" sz="1575" dirty="0">
                <a:solidFill>
                  <a:srgbClr val="48607A"/>
                </a:solidFill>
                <a:latin typeface="Arial" pitchFamily="34" charset="0"/>
                <a:ea typeface="Arial" pitchFamily="34" charset="-122"/>
                <a:cs typeface="Arial" pitchFamily="34" charset="-120"/>
              </a:rPr>
              <a:t>baris keputusan siap latih</a:t>
            </a:r>
            <a:endParaRPr lang="en-US" sz="1575" dirty="0"/>
          </a:p>
        </p:txBody>
      </p:sp>
      <p:sp>
        <p:nvSpPr>
          <p:cNvPr id="44" name="Text 40"/>
          <p:cNvSpPr/>
          <p:nvPr/>
        </p:nvSpPr>
        <p:spPr>
          <a:xfrm>
            <a:off x="11178064" y="2303502"/>
            <a:ext cx="1586948"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b="1" kern="0" spc="-75" dirty="0">
                <a:solidFill>
                  <a:srgbClr val="1763A6"/>
                </a:solidFill>
                <a:latin typeface="Arial" pitchFamily="34" charset="0"/>
                <a:ea typeface="Arial" pitchFamily="34" charset="-122"/>
                <a:cs typeface="Arial" pitchFamily="34" charset="-120"/>
              </a:rPr>
              <a:t>16</a:t>
            </a:r>
            <a:endParaRPr lang="en-US" sz="4500" dirty="0"/>
          </a:p>
        </p:txBody>
      </p:sp>
      <p:sp>
        <p:nvSpPr>
          <p:cNvPr id="45" name="Text 41"/>
          <p:cNvSpPr/>
          <p:nvPr/>
        </p:nvSpPr>
        <p:spPr>
          <a:xfrm>
            <a:off x="11178064" y="2894052"/>
            <a:ext cx="1518880" cy="538163"/>
          </a:xfrm>
          <a:prstGeom prst="rect">
            <a:avLst/>
          </a:prstGeom>
          <a:noFill/>
          <a:ln/>
        </p:spPr>
        <p:txBody>
          <a:bodyPr wrap="square" lIns="25400" tIns="25400" rIns="25400" bIns="25400" rtlCol="0" anchor="t">
            <a:normAutofit/>
          </a:bodyPr>
          <a:lstStyle/>
          <a:p>
            <a:pPr marL="0" indent="0" algn="l">
              <a:lnSpc>
                <a:spcPct val="125000"/>
              </a:lnSpc>
              <a:buNone/>
            </a:pPr>
            <a:r>
              <a:rPr lang="en-US" sz="1575" dirty="0">
                <a:solidFill>
                  <a:srgbClr val="48607A"/>
                </a:solidFill>
                <a:latin typeface="Arial" pitchFamily="34" charset="0"/>
                <a:ea typeface="Arial" pitchFamily="34" charset="-122"/>
                <a:cs typeface="Arial" pitchFamily="34" charset="-120"/>
              </a:rPr>
              <a:t>episode (12 berkas CSV)</a:t>
            </a:r>
            <a:endParaRPr lang="en-US" sz="1575" dirty="0"/>
          </a:p>
        </p:txBody>
      </p:sp>
      <p:sp>
        <p:nvSpPr>
          <p:cNvPr id="46" name="Text 42"/>
          <p:cNvSpPr/>
          <p:nvPr/>
        </p:nvSpPr>
        <p:spPr>
          <a:xfrm>
            <a:off x="13058895" y="2303502"/>
            <a:ext cx="1489508"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b="1" kern="0" spc="-75" dirty="0">
                <a:solidFill>
                  <a:srgbClr val="1763A6"/>
                </a:solidFill>
                <a:latin typeface="Arial" pitchFamily="34" charset="0"/>
                <a:ea typeface="Arial" pitchFamily="34" charset="-122"/>
                <a:cs typeface="Arial" pitchFamily="34" charset="-120"/>
              </a:rPr>
              <a:t>70</a:t>
            </a:r>
            <a:r>
              <a:rPr lang="en-US" sz="2250" b="1" kern="0" spc="-75" dirty="0">
                <a:solidFill>
                  <a:srgbClr val="1763A6"/>
                </a:solidFill>
                <a:latin typeface="Arial" pitchFamily="34" charset="0"/>
                <a:ea typeface="Arial" pitchFamily="34" charset="-122"/>
                <a:cs typeface="Arial" pitchFamily="34" charset="-120"/>
              </a:rPr>
              <a:t>/10/20</a:t>
            </a:r>
            <a:endParaRPr lang="en-US" sz="4500" dirty="0"/>
          </a:p>
        </p:txBody>
      </p:sp>
      <p:sp>
        <p:nvSpPr>
          <p:cNvPr id="47" name="Text 43"/>
          <p:cNvSpPr/>
          <p:nvPr/>
        </p:nvSpPr>
        <p:spPr>
          <a:xfrm>
            <a:off x="13058895" y="2894052"/>
            <a:ext cx="1430298" cy="538163"/>
          </a:xfrm>
          <a:prstGeom prst="rect">
            <a:avLst/>
          </a:prstGeom>
          <a:noFill/>
          <a:ln/>
        </p:spPr>
        <p:txBody>
          <a:bodyPr wrap="square" lIns="25400" tIns="25400" rIns="25400" bIns="25400" rtlCol="0" anchor="t">
            <a:normAutofit/>
          </a:bodyPr>
          <a:lstStyle/>
          <a:p>
            <a:pPr marL="0" indent="0" algn="l">
              <a:lnSpc>
                <a:spcPct val="125000"/>
              </a:lnSpc>
              <a:buNone/>
            </a:pPr>
            <a:r>
              <a:rPr lang="en-US" sz="1575" dirty="0">
                <a:solidFill>
                  <a:srgbClr val="48607A"/>
                </a:solidFill>
                <a:latin typeface="Arial" pitchFamily="34" charset="0"/>
                <a:ea typeface="Arial" pitchFamily="34" charset="-122"/>
                <a:cs typeface="Arial" pitchFamily="34" charset="-120"/>
              </a:rPr>
              <a:t>split latih / validasi / uji</a:t>
            </a:r>
            <a:endParaRPr lang="en-US" sz="1575" dirty="0"/>
          </a:p>
        </p:txBody>
      </p:sp>
      <p:sp>
        <p:nvSpPr>
          <p:cNvPr id="48" name="Text 44"/>
          <p:cNvSpPr/>
          <p:nvPr/>
        </p:nvSpPr>
        <p:spPr>
          <a:xfrm>
            <a:off x="9629775" y="3622715"/>
            <a:ext cx="8676323"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Variasi </a:t>
            </a:r>
            <a:r>
              <a:rPr lang="en-US" sz="2175" b="1" dirty="0">
                <a:solidFill>
                  <a:srgbClr val="1763A6"/>
                </a:solidFill>
                <a:latin typeface="Arial" pitchFamily="34" charset="0"/>
                <a:ea typeface="Arial" pitchFamily="34" charset="-122"/>
                <a:cs typeface="Arial" pitchFamily="34" charset="-120"/>
              </a:rPr>
              <a:t>0–4 keran </a:t>
            </a:r>
            <a:r>
              <a:rPr lang="en-US" sz="2175" dirty="0">
                <a:solidFill>
                  <a:srgbClr val="2C4259"/>
                </a:solidFill>
                <a:latin typeface="Arial" pitchFamily="34" charset="0"/>
                <a:ea typeface="Arial" pitchFamily="34" charset="-122"/>
                <a:cs typeface="Arial" pitchFamily="34" charset="-120"/>
              </a:rPr>
              <a:t>&amp; dua setpoint (0,30 &amp; 0,25 bar).</a:t>
            </a:r>
            <a:endParaRPr lang="en-US" sz="2175" dirty="0"/>
          </a:p>
        </p:txBody>
      </p:sp>
      <p:sp>
        <p:nvSpPr>
          <p:cNvPr id="49" name="Text 45"/>
          <p:cNvSpPr/>
          <p:nvPr/>
        </p:nvSpPr>
        <p:spPr>
          <a:xfrm>
            <a:off x="9629775" y="4158377"/>
            <a:ext cx="8676323"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Pra-proses </a:t>
            </a:r>
            <a:r>
              <a:rPr lang="en-US" sz="2175" b="1" dirty="0">
                <a:solidFill>
                  <a:srgbClr val="1763A6"/>
                </a:solidFill>
                <a:latin typeface="Arial" pitchFamily="34" charset="0"/>
                <a:ea typeface="Arial" pitchFamily="34" charset="-122"/>
                <a:cs typeface="Arial" pitchFamily="34" charset="-120"/>
              </a:rPr>
              <a:t>StandardScaler </a:t>
            </a:r>
            <a:r>
              <a:rPr lang="en-US" sz="2175" dirty="0">
                <a:solidFill>
                  <a:srgbClr val="2C4259"/>
                </a:solidFill>
                <a:latin typeface="Arial" pitchFamily="34" charset="0"/>
                <a:ea typeface="Arial" pitchFamily="34" charset="-122"/>
                <a:cs typeface="Arial" pitchFamily="34" charset="-120"/>
              </a:rPr>
              <a:t>(z-score) dari data latih saja.</a:t>
            </a:r>
            <a:endParaRPr lang="en-US" sz="2175" dirty="0"/>
          </a:p>
        </p:txBody>
      </p:sp>
      <p:sp>
        <p:nvSpPr>
          <p:cNvPr id="50" name="Text 46"/>
          <p:cNvSpPr/>
          <p:nvPr/>
        </p:nvSpPr>
        <p:spPr>
          <a:xfrm>
            <a:off x="9629775" y="4694039"/>
            <a:ext cx="8676323"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Solver </a:t>
            </a:r>
            <a:r>
              <a:rPr lang="en-US" sz="2175" b="1" dirty="0">
                <a:solidFill>
                  <a:srgbClr val="1763A6"/>
                </a:solidFill>
                <a:latin typeface="Arial" pitchFamily="34" charset="0"/>
                <a:ea typeface="Arial" pitchFamily="34" charset="-122"/>
                <a:cs typeface="Arial" pitchFamily="34" charset="-120"/>
              </a:rPr>
              <a:t>L-BFGS</a:t>
            </a:r>
            <a:r>
              <a:rPr lang="en-US" sz="2175" dirty="0">
                <a:solidFill>
                  <a:srgbClr val="2C4259"/>
                </a:solidFill>
                <a:latin typeface="Arial" pitchFamily="34" charset="0"/>
                <a:ea typeface="Arial" pitchFamily="34" charset="-122"/>
                <a:cs typeface="Arial" pitchFamily="34" charset="-120"/>
              </a:rPr>
              <a:t>, loss </a:t>
            </a:r>
            <a:r>
              <a:rPr lang="en-US" sz="2175" b="1" dirty="0">
                <a:solidFill>
                  <a:srgbClr val="1763A6"/>
                </a:solidFill>
                <a:latin typeface="Arial" pitchFamily="34" charset="0"/>
                <a:ea typeface="Arial" pitchFamily="34" charset="-122"/>
                <a:cs typeface="Arial" pitchFamily="34" charset="-120"/>
              </a:rPr>
              <a:t>MSE</a:t>
            </a:r>
            <a:r>
              <a:rPr lang="en-US" sz="2175" dirty="0">
                <a:solidFill>
                  <a:srgbClr val="2C4259"/>
                </a:solidFill>
                <a:latin typeface="Arial" pitchFamily="34" charset="0"/>
                <a:ea typeface="Arial" pitchFamily="34" charset="-122"/>
                <a:cs typeface="Arial" pitchFamily="34" charset="-120"/>
              </a:rPr>
              <a:t>, ≤ 5000 iterasi (scikit-learn).</a:t>
            </a:r>
            <a:endParaRPr lang="en-US" sz="2175" dirty="0"/>
          </a:p>
        </p:txBody>
      </p:sp>
      <p:sp>
        <p:nvSpPr>
          <p:cNvPr id="51" name="Text 47"/>
          <p:cNvSpPr/>
          <p:nvPr/>
        </p:nvSpPr>
        <p:spPr>
          <a:xfrm>
            <a:off x="9629775" y="5229701"/>
            <a:ext cx="8676323"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21 parameter diekspor ke firmware STM32 (</a:t>
            </a:r>
            <a:r>
              <a:rPr lang="en-US" sz="2175" i="1" dirty="0">
                <a:solidFill>
                  <a:srgbClr val="2C4259"/>
                </a:solidFill>
                <a:latin typeface="Arial" pitchFamily="34" charset="0"/>
                <a:ea typeface="Arial" pitchFamily="34" charset="-122"/>
                <a:cs typeface="Arial" pitchFamily="34" charset="-120"/>
              </a:rPr>
              <a:t>const float</a:t>
            </a:r>
            <a:r>
              <a:rPr lang="en-US" sz="2175" dirty="0">
                <a:solidFill>
                  <a:srgbClr val="2C4259"/>
                </a:solidFill>
                <a:latin typeface="Arial" pitchFamily="34" charset="0"/>
                <a:ea typeface="Arial" pitchFamily="34" charset="-122"/>
                <a:cs typeface="Arial" pitchFamily="34" charset="-120"/>
              </a:rPr>
              <a:t>).</a:t>
            </a:r>
            <a:endParaRPr lang="en-US" sz="2175" dirty="0"/>
          </a:p>
        </p:txBody>
      </p:sp>
      <p:sp>
        <p:nvSpPr>
          <p:cNvPr id="52" name="Shape 48"/>
          <p:cNvSpPr/>
          <p:nvPr/>
        </p:nvSpPr>
        <p:spPr>
          <a:xfrm>
            <a:off x="0" y="9486900"/>
            <a:ext cx="18288000" cy="9525"/>
          </a:xfrm>
          <a:prstGeom prst="rect">
            <a:avLst/>
          </a:prstGeom>
          <a:solidFill>
            <a:srgbClr val="E1E9F2"/>
          </a:solidFill>
          <a:ln/>
        </p:spPr>
      </p:sp>
      <p:sp>
        <p:nvSpPr>
          <p:cNvPr id="53" name="Text 49"/>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54" name="Text 50"/>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55" name="Shape 51"/>
          <p:cNvSpPr/>
          <p:nvPr/>
        </p:nvSpPr>
        <p:spPr>
          <a:xfrm>
            <a:off x="4277678" y="10023158"/>
            <a:ext cx="886420" cy="22860"/>
          </a:xfrm>
          <a:prstGeom prst="rect">
            <a:avLst/>
          </a:prstGeom>
          <a:solidFill>
            <a:srgbClr val="2E86DE"/>
          </a:solidFill>
          <a:ln/>
        </p:spPr>
      </p:sp>
      <p:sp>
        <p:nvSpPr>
          <p:cNvPr id="56" name="Text 52"/>
          <p:cNvSpPr/>
          <p:nvPr/>
        </p:nvSpPr>
        <p:spPr>
          <a:xfrm>
            <a:off x="4277678" y="9758363"/>
            <a:ext cx="962620"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Metodologi</a:t>
            </a:r>
            <a:endParaRPr lang="en-US" sz="1350" dirty="0"/>
          </a:p>
        </p:txBody>
      </p:sp>
      <p:sp>
        <p:nvSpPr>
          <p:cNvPr id="57" name="Text 53"/>
          <p:cNvSpPr/>
          <p:nvPr/>
        </p:nvSpPr>
        <p:spPr>
          <a:xfrm>
            <a:off x="5449848"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58" name="Text 54"/>
          <p:cNvSpPr/>
          <p:nvPr/>
        </p:nvSpPr>
        <p:spPr>
          <a:xfrm>
            <a:off x="7672983"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59" name="Text 55"/>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9179993"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III · PELAKSANAAN</a:t>
            </a:r>
            <a:endParaRPr lang="en-US" sz="1500" dirty="0"/>
          </a:p>
        </p:txBody>
      </p:sp>
      <p:sp>
        <p:nvSpPr>
          <p:cNvPr id="5" name="Text 3"/>
          <p:cNvSpPr/>
          <p:nvPr/>
        </p:nvSpPr>
        <p:spPr>
          <a:xfrm>
            <a:off x="1108710" y="830580"/>
            <a:ext cx="9179993"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Diagram Alir &amp; Implementasi Sistem</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1671042"/>
            <a:ext cx="6954679" cy="7211973"/>
          </a:xfrm>
          <a:prstGeom prst="roundRect">
            <a:avLst>
              <a:gd name="adj" fmla="val 1917"/>
            </a:avLst>
          </a:prstGeom>
          <a:solidFill>
            <a:srgbClr val="FFFFFF"/>
          </a:solidFill>
          <a:ln w="7620">
            <a:solidFill>
              <a:srgbClr val="E1E9F2"/>
            </a:solidFill>
            <a:prstDash val="solid"/>
          </a:ln>
        </p:spPr>
      </p:sp>
      <p:pic>
        <p:nvPicPr>
          <p:cNvPr id="9" name="Image 2" descr="preencoded.png"/>
          <p:cNvPicPr>
            <a:picLocks noChangeAspect="1"/>
          </p:cNvPicPr>
          <p:nvPr/>
        </p:nvPicPr>
        <p:blipFill>
          <a:blip r:embed="rId5"/>
          <a:srcRect/>
          <a:stretch/>
        </p:blipFill>
        <p:spPr>
          <a:xfrm>
            <a:off x="1172289" y="1967032"/>
            <a:ext cx="6210300" cy="6619875"/>
          </a:xfrm>
          <a:prstGeom prst="rect">
            <a:avLst/>
          </a:prstGeom>
        </p:spPr>
      </p:pic>
      <p:sp>
        <p:nvSpPr>
          <p:cNvPr id="10" name="Text 5"/>
          <p:cNvSpPr/>
          <p:nvPr/>
        </p:nvSpPr>
        <p:spPr>
          <a:xfrm>
            <a:off x="800100" y="9140190"/>
            <a:ext cx="7650147" cy="251460"/>
          </a:xfrm>
          <a:prstGeom prst="rect">
            <a:avLst/>
          </a:prstGeom>
          <a:noFill/>
          <a:ln/>
        </p:spPr>
        <p:txBody>
          <a:bodyPr wrap="square" lIns="25400" tIns="25400" rIns="25400" bIns="25400" rtlCol="0" anchor="t">
            <a:normAutofit/>
          </a:bodyPr>
          <a:lstStyle/>
          <a:p>
            <a:pPr marL="0" indent="0" algn="l">
              <a:buNone/>
            </a:pPr>
            <a:r>
              <a:rPr lang="en-US" sz="1275" kern="0" spc="22" dirty="0">
                <a:solidFill>
                  <a:srgbClr val="7E92A8"/>
                </a:solidFill>
                <a:latin typeface="Arial" pitchFamily="34" charset="0"/>
                <a:ea typeface="Arial" pitchFamily="34" charset="-122"/>
                <a:cs typeface="Arial" pitchFamily="34" charset="-120"/>
              </a:rPr>
              <a:t>Gambar 3.8 — Diagram alir pelaksanaan tugas akhir</a:t>
            </a:r>
            <a:endParaRPr lang="en-US" sz="1275" dirty="0"/>
          </a:p>
        </p:txBody>
      </p:sp>
      <p:sp>
        <p:nvSpPr>
          <p:cNvPr id="11" name="Shape 6"/>
          <p:cNvSpPr/>
          <p:nvPr/>
        </p:nvSpPr>
        <p:spPr>
          <a:xfrm>
            <a:off x="8078629" y="1671042"/>
            <a:ext cx="2162056" cy="461010"/>
          </a:xfrm>
          <a:prstGeom prst="roundRect">
            <a:avLst>
              <a:gd name="adj" fmla="val 18595"/>
            </a:avLst>
          </a:prstGeom>
          <a:gradFill rotWithShape="1">
            <a:gsLst>
              <a:gs pos="0">
                <a:srgbClr val="1B6FB3">
                  <a:alpha val="100000"/>
                </a:srgbClr>
              </a:gs>
              <a:gs pos="100000">
                <a:srgbClr val="2E86DE">
                  <a:alpha val="100000"/>
                </a:srgbClr>
              </a:gs>
            </a:gsLst>
            <a:lin ang="2700000" scaled="0"/>
          </a:gradFill>
          <a:ln/>
          <a:effectLst>
            <a:outerShdw blurRad="152400" dist="57150" dir="5400000" algn="bl" rotWithShape="0">
              <a:srgbClr val="1763A6">
                <a:alpha val="22000"/>
              </a:srgbClr>
            </a:outerShdw>
          </a:effectLst>
        </p:spPr>
      </p:sp>
      <p:sp>
        <p:nvSpPr>
          <p:cNvPr id="12" name="Text 7"/>
          <p:cNvSpPr/>
          <p:nvPr/>
        </p:nvSpPr>
        <p:spPr>
          <a:xfrm>
            <a:off x="8307229" y="1775817"/>
            <a:ext cx="1781056" cy="289560"/>
          </a:xfrm>
          <a:prstGeom prst="rect">
            <a:avLst/>
          </a:prstGeom>
          <a:noFill/>
          <a:ln/>
        </p:spPr>
        <p:txBody>
          <a:bodyPr wrap="square" lIns="25400" tIns="25400" rIns="25400" bIns="25400" rtlCol="0" anchor="ctr">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Perangkat Utama</a:t>
            </a:r>
            <a:endParaRPr lang="en-US" sz="1725" dirty="0"/>
          </a:p>
        </p:txBody>
      </p:sp>
      <p:sp>
        <p:nvSpPr>
          <p:cNvPr id="13" name="Text 8"/>
          <p:cNvSpPr/>
          <p:nvPr/>
        </p:nvSpPr>
        <p:spPr>
          <a:xfrm>
            <a:off x="8402479" y="2284452"/>
            <a:ext cx="10026349"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Mikrokontroler </a:t>
            </a:r>
            <a:r>
              <a:rPr lang="en-US" sz="2175" b="1" dirty="0">
                <a:solidFill>
                  <a:srgbClr val="1763A6"/>
                </a:solidFill>
                <a:latin typeface="Arial" pitchFamily="34" charset="0"/>
                <a:ea typeface="Arial" pitchFamily="34" charset="-122"/>
                <a:cs typeface="Arial" pitchFamily="34" charset="-120"/>
              </a:rPr>
              <a:t>STM32U545RE </a:t>
            </a:r>
            <a:r>
              <a:rPr lang="en-US" sz="2175" dirty="0">
                <a:solidFill>
                  <a:srgbClr val="2C4259"/>
                </a:solidFill>
                <a:latin typeface="Arial" pitchFamily="34" charset="0"/>
                <a:ea typeface="Arial" pitchFamily="34" charset="-122"/>
                <a:cs typeface="Arial" pitchFamily="34" charset="-120"/>
              </a:rPr>
              <a:t>— PWM, ADC, host NN</a:t>
            </a:r>
            <a:endParaRPr lang="en-US" sz="2175" dirty="0"/>
          </a:p>
        </p:txBody>
      </p:sp>
      <p:sp>
        <p:nvSpPr>
          <p:cNvPr id="14" name="Text 9"/>
          <p:cNvSpPr/>
          <p:nvPr/>
        </p:nvSpPr>
        <p:spPr>
          <a:xfrm>
            <a:off x="8402479" y="2791539"/>
            <a:ext cx="10026349"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b="1" dirty="0">
                <a:solidFill>
                  <a:srgbClr val="1763A6"/>
                </a:solidFill>
                <a:latin typeface="Arial" pitchFamily="34" charset="0"/>
                <a:ea typeface="Arial" pitchFamily="34" charset="-122"/>
                <a:cs typeface="Arial" pitchFamily="34" charset="-120"/>
              </a:rPr>
              <a:t>IGBT FGH40N120AN </a:t>
            </a:r>
            <a:r>
              <a:rPr lang="en-US" sz="2175" dirty="0">
                <a:solidFill>
                  <a:srgbClr val="2C4259"/>
                </a:solidFill>
                <a:latin typeface="Arial" pitchFamily="34" charset="0"/>
                <a:ea typeface="Arial" pitchFamily="34" charset="-122"/>
                <a:cs typeface="Arial" pitchFamily="34" charset="-120"/>
              </a:rPr>
              <a:t>— saklar daya full-bridge</a:t>
            </a:r>
            <a:endParaRPr lang="en-US" sz="2175" dirty="0"/>
          </a:p>
        </p:txBody>
      </p:sp>
      <p:sp>
        <p:nvSpPr>
          <p:cNvPr id="15" name="Text 10"/>
          <p:cNvSpPr/>
          <p:nvPr/>
        </p:nvSpPr>
        <p:spPr>
          <a:xfrm>
            <a:off x="8402479" y="3298627"/>
            <a:ext cx="10026349"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Gate driver </a:t>
            </a:r>
            <a:r>
              <a:rPr lang="en-US" sz="2175" b="1" dirty="0">
                <a:solidFill>
                  <a:srgbClr val="1763A6"/>
                </a:solidFill>
                <a:latin typeface="Arial" pitchFamily="34" charset="0"/>
                <a:ea typeface="Arial" pitchFamily="34" charset="-122"/>
                <a:cs typeface="Arial" pitchFamily="34" charset="-120"/>
              </a:rPr>
              <a:t>HCPL-3120 </a:t>
            </a:r>
            <a:r>
              <a:rPr lang="en-US" sz="2175" dirty="0">
                <a:solidFill>
                  <a:srgbClr val="2C4259"/>
                </a:solidFill>
                <a:latin typeface="Arial" pitchFamily="34" charset="0"/>
                <a:ea typeface="Arial" pitchFamily="34" charset="-122"/>
                <a:cs typeface="Arial" pitchFamily="34" charset="-120"/>
              </a:rPr>
              <a:t>(≈15,6 V gate)</a:t>
            </a:r>
            <a:endParaRPr lang="en-US" sz="2175" dirty="0"/>
          </a:p>
        </p:txBody>
      </p:sp>
      <p:sp>
        <p:nvSpPr>
          <p:cNvPr id="16" name="Text 11"/>
          <p:cNvSpPr/>
          <p:nvPr/>
        </p:nvSpPr>
        <p:spPr>
          <a:xfrm>
            <a:off x="8402479" y="3805714"/>
            <a:ext cx="10026349"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Sensor tekanan </a:t>
            </a:r>
            <a:r>
              <a:rPr lang="en-US" sz="2175" b="1" dirty="0">
                <a:solidFill>
                  <a:srgbClr val="1763A6"/>
                </a:solidFill>
                <a:latin typeface="Arial" pitchFamily="34" charset="0"/>
                <a:ea typeface="Arial" pitchFamily="34" charset="-122"/>
                <a:cs typeface="Arial" pitchFamily="34" charset="-120"/>
              </a:rPr>
              <a:t>DFRobot </a:t>
            </a:r>
            <a:r>
              <a:rPr lang="en-US" sz="2175" dirty="0">
                <a:solidFill>
                  <a:srgbClr val="2C4259"/>
                </a:solidFill>
                <a:latin typeface="Arial" pitchFamily="34" charset="0"/>
                <a:ea typeface="Arial" pitchFamily="34" charset="-122"/>
                <a:cs typeface="Arial" pitchFamily="34" charset="-120"/>
              </a:rPr>
              <a:t>0–1,6 MPa</a:t>
            </a:r>
            <a:endParaRPr lang="en-US" sz="2175" dirty="0"/>
          </a:p>
        </p:txBody>
      </p:sp>
      <p:sp>
        <p:nvSpPr>
          <p:cNvPr id="17" name="Text 12"/>
          <p:cNvSpPr/>
          <p:nvPr/>
        </p:nvSpPr>
        <p:spPr>
          <a:xfrm>
            <a:off x="8402479" y="4312801"/>
            <a:ext cx="10026349" cy="421362"/>
          </a:xfrm>
          <a:prstGeom prst="rect">
            <a:avLst/>
          </a:prstGeom>
          <a:noFill/>
          <a:ln/>
        </p:spPr>
        <p:txBody>
          <a:bodyPr wrap="square" lIns="25400" tIns="25400" rIns="25400" bIns="25400" rtlCol="0" anchor="t">
            <a:normAutofit/>
          </a:bodyPr>
          <a:lstStyle/>
          <a:p>
            <a:pPr marL="0" indent="0" algn="l">
              <a:lnSpc>
                <a:spcPct val="136000"/>
              </a:lnSpc>
              <a:buNone/>
            </a:pPr>
            <a:r>
              <a:rPr lang="en-US" sz="2175" dirty="0">
                <a:solidFill>
                  <a:srgbClr val="2C4259"/>
                </a:solidFill>
                <a:latin typeface="Arial" pitchFamily="34" charset="0"/>
                <a:ea typeface="Arial" pitchFamily="34" charset="-122"/>
                <a:cs typeface="Arial" pitchFamily="34" charset="-120"/>
              </a:rPr>
              <a:t>Pompa air </a:t>
            </a:r>
            <a:r>
              <a:rPr lang="en-US" sz="2175" b="1" dirty="0">
                <a:solidFill>
                  <a:srgbClr val="1763A6"/>
                </a:solidFill>
                <a:latin typeface="Arial" pitchFamily="34" charset="0"/>
                <a:ea typeface="Arial" pitchFamily="34" charset="-122"/>
                <a:cs typeface="Arial" pitchFamily="34" charset="-120"/>
              </a:rPr>
              <a:t>GP125 </a:t>
            </a:r>
            <a:r>
              <a:rPr lang="en-US" sz="2175" dirty="0">
                <a:solidFill>
                  <a:srgbClr val="2C4259"/>
                </a:solidFill>
                <a:latin typeface="Arial" pitchFamily="34" charset="0"/>
                <a:ea typeface="Arial" pitchFamily="34" charset="-122"/>
                <a:cs typeface="Arial" pitchFamily="34" charset="-120"/>
              </a:rPr>
              <a:t>125 W 1 fasa + 5 keran</a:t>
            </a:r>
            <a:endParaRPr lang="en-US" sz="2175" dirty="0"/>
          </a:p>
        </p:txBody>
      </p:sp>
      <p:sp>
        <p:nvSpPr>
          <p:cNvPr id="18" name="Shape 13"/>
          <p:cNvSpPr/>
          <p:nvPr/>
        </p:nvSpPr>
        <p:spPr>
          <a:xfrm>
            <a:off x="8078629" y="4886563"/>
            <a:ext cx="693420" cy="369570"/>
          </a:xfrm>
          <a:prstGeom prst="roundRect">
            <a:avLst>
              <a:gd name="adj" fmla="val 20619"/>
            </a:avLst>
          </a:prstGeom>
          <a:solidFill>
            <a:srgbClr val="E6F0FB"/>
          </a:solidFill>
          <a:ln w="7620">
            <a:solidFill>
              <a:srgbClr val="CFE2F6"/>
            </a:solidFill>
            <a:prstDash val="solid"/>
          </a:ln>
        </p:spPr>
      </p:sp>
      <p:sp>
        <p:nvSpPr>
          <p:cNvPr id="19" name="Text 14"/>
          <p:cNvSpPr/>
          <p:nvPr/>
        </p:nvSpPr>
        <p:spPr>
          <a:xfrm>
            <a:off x="8219599" y="4960858"/>
            <a:ext cx="487680" cy="259080"/>
          </a:xfrm>
          <a:prstGeom prst="rect">
            <a:avLst/>
          </a:prstGeom>
          <a:noFill/>
          <a:ln/>
        </p:spPr>
        <p:txBody>
          <a:bodyPr wrap="square" lIns="25400" tIns="25400" rIns="25400" bIns="25400" rtlCol="0" anchor="t">
            <a:normAutofit/>
          </a:bodyPr>
          <a:lstStyle/>
          <a:p>
            <a:pPr marL="0" indent="0" algn="l">
              <a:buNone/>
            </a:pPr>
            <a:r>
              <a:rPr lang="en-US" sz="1350" dirty="0">
                <a:solidFill>
                  <a:srgbClr val="1763A6"/>
                </a:solidFill>
                <a:latin typeface="Arial" pitchFamily="34" charset="0"/>
                <a:ea typeface="Arial" pitchFamily="34" charset="-122"/>
                <a:cs typeface="Arial" pitchFamily="34" charset="-120"/>
              </a:rPr>
              <a:t>PSIM</a:t>
            </a:r>
            <a:endParaRPr lang="en-US" sz="1350" dirty="0"/>
          </a:p>
        </p:txBody>
      </p:sp>
      <p:sp>
        <p:nvSpPr>
          <p:cNvPr id="20" name="Shape 15"/>
          <p:cNvSpPr/>
          <p:nvPr/>
        </p:nvSpPr>
        <p:spPr>
          <a:xfrm>
            <a:off x="8886349" y="4886563"/>
            <a:ext cx="1002030" cy="369570"/>
          </a:xfrm>
          <a:prstGeom prst="roundRect">
            <a:avLst>
              <a:gd name="adj" fmla="val 20619"/>
            </a:avLst>
          </a:prstGeom>
          <a:solidFill>
            <a:srgbClr val="E6F0FB"/>
          </a:solidFill>
          <a:ln w="7620">
            <a:solidFill>
              <a:srgbClr val="CFE2F6"/>
            </a:solidFill>
            <a:prstDash val="solid"/>
          </a:ln>
        </p:spPr>
      </p:sp>
      <p:sp>
        <p:nvSpPr>
          <p:cNvPr id="21" name="Text 16"/>
          <p:cNvSpPr/>
          <p:nvPr/>
        </p:nvSpPr>
        <p:spPr>
          <a:xfrm>
            <a:off x="9027319" y="4960858"/>
            <a:ext cx="796290" cy="259080"/>
          </a:xfrm>
          <a:prstGeom prst="rect">
            <a:avLst/>
          </a:prstGeom>
          <a:noFill/>
          <a:ln/>
        </p:spPr>
        <p:txBody>
          <a:bodyPr wrap="square" lIns="25400" tIns="25400" rIns="25400" bIns="25400" rtlCol="0" anchor="t">
            <a:normAutofit/>
          </a:bodyPr>
          <a:lstStyle/>
          <a:p>
            <a:pPr marL="0" indent="0" algn="l">
              <a:buNone/>
            </a:pPr>
            <a:r>
              <a:rPr lang="en-US" sz="1350" dirty="0">
                <a:solidFill>
                  <a:srgbClr val="1763A6"/>
                </a:solidFill>
                <a:latin typeface="Arial" pitchFamily="34" charset="0"/>
                <a:ea typeface="Arial" pitchFamily="34" charset="-122"/>
                <a:cs typeface="Arial" pitchFamily="34" charset="-120"/>
              </a:rPr>
              <a:t>EasyEDA</a:t>
            </a:r>
            <a:endParaRPr lang="en-US" sz="1350" dirty="0"/>
          </a:p>
        </p:txBody>
      </p:sp>
      <p:sp>
        <p:nvSpPr>
          <p:cNvPr id="22" name="Shape 17"/>
          <p:cNvSpPr/>
          <p:nvPr/>
        </p:nvSpPr>
        <p:spPr>
          <a:xfrm>
            <a:off x="10002679" y="4886563"/>
            <a:ext cx="1516380" cy="369570"/>
          </a:xfrm>
          <a:prstGeom prst="roundRect">
            <a:avLst>
              <a:gd name="adj" fmla="val 20619"/>
            </a:avLst>
          </a:prstGeom>
          <a:solidFill>
            <a:srgbClr val="E6F0FB"/>
          </a:solidFill>
          <a:ln w="7620">
            <a:solidFill>
              <a:srgbClr val="CFE2F6"/>
            </a:solidFill>
            <a:prstDash val="solid"/>
          </a:ln>
        </p:spPr>
      </p:sp>
      <p:sp>
        <p:nvSpPr>
          <p:cNvPr id="23" name="Text 18"/>
          <p:cNvSpPr/>
          <p:nvPr/>
        </p:nvSpPr>
        <p:spPr>
          <a:xfrm>
            <a:off x="10143649" y="4960858"/>
            <a:ext cx="1310640" cy="259080"/>
          </a:xfrm>
          <a:prstGeom prst="rect">
            <a:avLst/>
          </a:prstGeom>
          <a:noFill/>
          <a:ln/>
        </p:spPr>
        <p:txBody>
          <a:bodyPr wrap="square" lIns="25400" tIns="25400" rIns="25400" bIns="25400" rtlCol="0" anchor="t">
            <a:normAutofit/>
          </a:bodyPr>
          <a:lstStyle/>
          <a:p>
            <a:pPr marL="0" indent="0" algn="l">
              <a:buNone/>
            </a:pPr>
            <a:r>
              <a:rPr lang="en-US" sz="1350" dirty="0">
                <a:solidFill>
                  <a:srgbClr val="1763A6"/>
                </a:solidFill>
                <a:latin typeface="Arial" pitchFamily="34" charset="0"/>
                <a:ea typeface="Arial" pitchFamily="34" charset="-122"/>
                <a:cs typeface="Arial" pitchFamily="34" charset="-120"/>
              </a:rPr>
              <a:t>STM32CubeIDE</a:t>
            </a:r>
            <a:endParaRPr lang="en-US" sz="1350" dirty="0"/>
          </a:p>
        </p:txBody>
      </p:sp>
      <p:sp>
        <p:nvSpPr>
          <p:cNvPr id="24" name="Shape 19"/>
          <p:cNvSpPr/>
          <p:nvPr/>
        </p:nvSpPr>
        <p:spPr>
          <a:xfrm>
            <a:off x="11633359" y="4886563"/>
            <a:ext cx="2442210" cy="369570"/>
          </a:xfrm>
          <a:prstGeom prst="roundRect">
            <a:avLst>
              <a:gd name="adj" fmla="val 20619"/>
            </a:avLst>
          </a:prstGeom>
          <a:solidFill>
            <a:srgbClr val="E6F0FB"/>
          </a:solidFill>
          <a:ln w="7620">
            <a:solidFill>
              <a:srgbClr val="CFE2F6"/>
            </a:solidFill>
            <a:prstDash val="solid"/>
          </a:ln>
        </p:spPr>
      </p:sp>
      <p:sp>
        <p:nvSpPr>
          <p:cNvPr id="25" name="Text 20"/>
          <p:cNvSpPr/>
          <p:nvPr/>
        </p:nvSpPr>
        <p:spPr>
          <a:xfrm>
            <a:off x="11774329" y="4960858"/>
            <a:ext cx="2236470" cy="259080"/>
          </a:xfrm>
          <a:prstGeom prst="rect">
            <a:avLst/>
          </a:prstGeom>
          <a:noFill/>
          <a:ln/>
        </p:spPr>
        <p:txBody>
          <a:bodyPr wrap="square" lIns="25400" tIns="25400" rIns="25400" bIns="25400" rtlCol="0" anchor="t">
            <a:normAutofit/>
          </a:bodyPr>
          <a:lstStyle/>
          <a:p>
            <a:pPr marL="0" indent="0" algn="l">
              <a:buNone/>
            </a:pPr>
            <a:r>
              <a:rPr lang="en-US" sz="1350" dirty="0">
                <a:solidFill>
                  <a:srgbClr val="1763A6"/>
                </a:solidFill>
                <a:latin typeface="Arial" pitchFamily="34" charset="0"/>
                <a:ea typeface="Arial" pitchFamily="34" charset="-122"/>
                <a:cs typeface="Arial" pitchFamily="34" charset="-120"/>
              </a:rPr>
              <a:t>Python · scikit-learn</a:t>
            </a:r>
            <a:endParaRPr lang="en-US" sz="1350" dirty="0"/>
          </a:p>
        </p:txBody>
      </p:sp>
      <p:sp>
        <p:nvSpPr>
          <p:cNvPr id="26" name="Shape 21"/>
          <p:cNvSpPr/>
          <p:nvPr/>
        </p:nvSpPr>
        <p:spPr>
          <a:xfrm>
            <a:off x="0" y="9486900"/>
            <a:ext cx="18288000" cy="9525"/>
          </a:xfrm>
          <a:prstGeom prst="rect">
            <a:avLst/>
          </a:prstGeom>
          <a:solidFill>
            <a:srgbClr val="E1E9F2"/>
          </a:solidFill>
          <a:ln/>
        </p:spPr>
      </p:sp>
      <p:sp>
        <p:nvSpPr>
          <p:cNvPr id="27" name="Text 22"/>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28" name="Text 23"/>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29" name="Shape 24"/>
          <p:cNvSpPr/>
          <p:nvPr/>
        </p:nvSpPr>
        <p:spPr>
          <a:xfrm>
            <a:off x="4277678" y="10023158"/>
            <a:ext cx="886420" cy="22860"/>
          </a:xfrm>
          <a:prstGeom prst="rect">
            <a:avLst/>
          </a:prstGeom>
          <a:solidFill>
            <a:srgbClr val="2E86DE"/>
          </a:solidFill>
          <a:ln/>
        </p:spPr>
      </p:sp>
      <p:sp>
        <p:nvSpPr>
          <p:cNvPr id="30" name="Text 25"/>
          <p:cNvSpPr/>
          <p:nvPr/>
        </p:nvSpPr>
        <p:spPr>
          <a:xfrm>
            <a:off x="4277678" y="9758363"/>
            <a:ext cx="962620"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Metodologi</a:t>
            </a:r>
            <a:endParaRPr lang="en-US" sz="1350" dirty="0"/>
          </a:p>
        </p:txBody>
      </p:sp>
      <p:sp>
        <p:nvSpPr>
          <p:cNvPr id="31" name="Text 26"/>
          <p:cNvSpPr/>
          <p:nvPr/>
        </p:nvSpPr>
        <p:spPr>
          <a:xfrm>
            <a:off x="5449848"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32" name="Text 27"/>
          <p:cNvSpPr/>
          <p:nvPr/>
        </p:nvSpPr>
        <p:spPr>
          <a:xfrm>
            <a:off x="7672983"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33" name="Text 28"/>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5426E">
                  <a:alpha val="100000"/>
                </a:srgbClr>
              </a:gs>
              <a:gs pos="55000">
                <a:srgbClr val="0A2A4A">
                  <a:alpha val="100000"/>
                </a:srgbClr>
              </a:gs>
              <a:gs pos="100000">
                <a:srgbClr val="071F38">
                  <a:alpha val="100000"/>
                </a:srgbClr>
              </a:gs>
            </a:gsLst>
            <a:path path="circle">
              <a:fillToRect l="78000" t="8000" r="22000" b="92000"/>
            </a:path>
          </a:gradFill>
          <a:ln/>
        </p:spPr>
      </p:sp>
      <p:sp>
        <p:nvSpPr>
          <p:cNvPr id="3" name="Text 1"/>
          <p:cNvSpPr/>
          <p:nvPr/>
        </p:nvSpPr>
        <p:spPr>
          <a:xfrm>
            <a:off x="800100" y="3343275"/>
            <a:ext cx="18356580" cy="403860"/>
          </a:xfrm>
          <a:prstGeom prst="rect">
            <a:avLst/>
          </a:prstGeom>
          <a:noFill/>
          <a:ln/>
        </p:spPr>
        <p:txBody>
          <a:bodyPr wrap="square" lIns="25400" tIns="25400" rIns="25400" bIns="25400" rtlCol="0" anchor="t">
            <a:normAutofit/>
          </a:bodyPr>
          <a:lstStyle/>
          <a:p>
            <a:pPr marL="0" indent="0" algn="l">
              <a:buNone/>
            </a:pPr>
            <a:r>
              <a:rPr lang="en-US" sz="2250" kern="0" spc="450" dirty="0">
                <a:solidFill>
                  <a:srgbClr val="7FC0FF"/>
                </a:solidFill>
                <a:latin typeface="Arial" pitchFamily="34" charset="0"/>
                <a:ea typeface="Arial" pitchFamily="34" charset="-122"/>
                <a:cs typeface="Arial" pitchFamily="34" charset="-120"/>
              </a:rPr>
              <a:t>BAB IV</a:t>
            </a:r>
            <a:endParaRPr lang="en-US" sz="2250" dirty="0"/>
          </a:p>
        </p:txBody>
      </p:sp>
      <p:sp>
        <p:nvSpPr>
          <p:cNvPr id="4" name="Text 2"/>
          <p:cNvSpPr/>
          <p:nvPr/>
        </p:nvSpPr>
        <p:spPr>
          <a:xfrm>
            <a:off x="800100" y="3842385"/>
            <a:ext cx="18356580" cy="952500"/>
          </a:xfrm>
          <a:prstGeom prst="rect">
            <a:avLst/>
          </a:prstGeom>
          <a:noFill/>
          <a:ln/>
        </p:spPr>
        <p:txBody>
          <a:bodyPr wrap="square" lIns="25400" tIns="25400" rIns="25400" bIns="25400" rtlCol="0" anchor="t">
            <a:normAutofit/>
          </a:bodyPr>
          <a:lstStyle/>
          <a:p>
            <a:pPr marL="0" indent="0" algn="l">
              <a:lnSpc>
                <a:spcPct val="100000"/>
              </a:lnSpc>
              <a:buNone/>
            </a:pPr>
            <a:r>
              <a:rPr lang="en-US" sz="7200" b="1" kern="0" spc="-112" dirty="0">
                <a:solidFill>
                  <a:srgbClr val="FFFFFF"/>
                </a:solidFill>
                <a:latin typeface="Arial" pitchFamily="34" charset="0"/>
                <a:ea typeface="Arial" pitchFamily="34" charset="-122"/>
                <a:cs typeface="Arial" pitchFamily="34" charset="-120"/>
              </a:rPr>
              <a:t>Hasil &amp; Pembahasan</a:t>
            </a:r>
            <a:endParaRPr lang="en-US" sz="7200" dirty="0"/>
          </a:p>
        </p:txBody>
      </p:sp>
      <p:sp>
        <p:nvSpPr>
          <p:cNvPr id="5" name="Shape 3"/>
          <p:cNvSpPr/>
          <p:nvPr/>
        </p:nvSpPr>
        <p:spPr>
          <a:xfrm>
            <a:off x="800100" y="5080635"/>
            <a:ext cx="1143000" cy="57150"/>
          </a:xfrm>
          <a:prstGeom prst="roundRect">
            <a:avLst>
              <a:gd name="adj" fmla="val 50000"/>
            </a:avLst>
          </a:prstGeom>
          <a:solidFill>
            <a:srgbClr val="2E86DE"/>
          </a:solidFill>
          <a:ln/>
        </p:spPr>
      </p:sp>
      <p:sp>
        <p:nvSpPr>
          <p:cNvPr id="6" name="Text 4"/>
          <p:cNvSpPr/>
          <p:nvPr/>
        </p:nvSpPr>
        <p:spPr>
          <a:xfrm>
            <a:off x="800100" y="5423535"/>
            <a:ext cx="11772900" cy="758190"/>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AFC6DE"/>
                </a:solidFill>
                <a:latin typeface="Arial" pitchFamily="34" charset="0"/>
                <a:ea typeface="Arial" pitchFamily="34" charset="-122"/>
                <a:cs typeface="Arial" pitchFamily="34" charset="-120"/>
              </a:rPr>
              <a:t>Pengujian bertahap dari sinyal PWM &amp; rangkaian daya, model neural network, hingga sistem kendali tekanan penuh.</a:t>
            </a:r>
            <a:endParaRPr lang="en-US" sz="2025" dirty="0"/>
          </a:p>
        </p:txBody>
      </p:sp>
      <p:sp>
        <p:nvSpPr>
          <p:cNvPr id="7" name="Shape 5"/>
          <p:cNvSpPr/>
          <p:nvPr/>
        </p:nvSpPr>
        <p:spPr>
          <a:xfrm>
            <a:off x="0" y="9486900"/>
            <a:ext cx="18288000" cy="9525"/>
          </a:xfrm>
          <a:prstGeom prst="rect">
            <a:avLst/>
          </a:prstGeom>
          <a:solidFill>
            <a:srgbClr val="E1E9F2"/>
          </a:solidFill>
          <a:ln/>
        </p:spPr>
      </p:sp>
      <p:sp>
        <p:nvSpPr>
          <p:cNvPr id="8" name="Text 6"/>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9" name="Text 7"/>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10" name="Text 8"/>
          <p:cNvSpPr/>
          <p:nvPr/>
        </p:nvSpPr>
        <p:spPr>
          <a:xfrm>
            <a:off x="4277678"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11" name="Shape 9"/>
          <p:cNvSpPr/>
          <p:nvPr/>
        </p:nvSpPr>
        <p:spPr>
          <a:xfrm>
            <a:off x="5639753" y="10023158"/>
            <a:ext cx="1686878" cy="22860"/>
          </a:xfrm>
          <a:prstGeom prst="rect">
            <a:avLst/>
          </a:prstGeom>
          <a:solidFill>
            <a:srgbClr val="2E86DE"/>
          </a:solidFill>
          <a:ln/>
        </p:spPr>
      </p:sp>
      <p:sp>
        <p:nvSpPr>
          <p:cNvPr id="12" name="Text 10"/>
          <p:cNvSpPr/>
          <p:nvPr/>
        </p:nvSpPr>
        <p:spPr>
          <a:xfrm>
            <a:off x="5639753" y="9758363"/>
            <a:ext cx="176307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Hasil &amp; Pembahasan</a:t>
            </a:r>
            <a:endParaRPr lang="en-US" sz="1350" dirty="0"/>
          </a:p>
        </p:txBody>
      </p:sp>
      <p:sp>
        <p:nvSpPr>
          <p:cNvPr id="13" name="Text 11"/>
          <p:cNvSpPr/>
          <p:nvPr/>
        </p:nvSpPr>
        <p:spPr>
          <a:xfrm>
            <a:off x="7612380"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14" name="Text 12"/>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9354967"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IV · HASIL</a:t>
            </a:r>
            <a:endParaRPr lang="en-US" sz="1500" dirty="0"/>
          </a:p>
        </p:txBody>
      </p:sp>
      <p:sp>
        <p:nvSpPr>
          <p:cNvPr id="5" name="Text 3"/>
          <p:cNvSpPr/>
          <p:nvPr/>
        </p:nvSpPr>
        <p:spPr>
          <a:xfrm>
            <a:off x="1108710" y="830580"/>
            <a:ext cx="9354967"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Pengujian Sinyal PWM &amp; Dead Time</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1671042"/>
            <a:ext cx="2511862" cy="483870"/>
          </a:xfrm>
          <a:prstGeom prst="roundRect">
            <a:avLst>
              <a:gd name="adj" fmla="val 19685"/>
            </a:avLst>
          </a:prstGeom>
          <a:solidFill>
            <a:srgbClr val="1763A6"/>
          </a:solidFill>
          <a:ln/>
        </p:spPr>
      </p:sp>
      <p:sp>
        <p:nvSpPr>
          <p:cNvPr id="9" name="Text 5"/>
          <p:cNvSpPr/>
          <p:nvPr/>
        </p:nvSpPr>
        <p:spPr>
          <a:xfrm>
            <a:off x="971550" y="1794867"/>
            <a:ext cx="2245162" cy="274320"/>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Duty diatur</a:t>
            </a:r>
            <a:endParaRPr lang="en-US" sz="1575" dirty="0"/>
          </a:p>
        </p:txBody>
      </p:sp>
      <p:sp>
        <p:nvSpPr>
          <p:cNvPr id="10" name="Shape 6"/>
          <p:cNvSpPr/>
          <p:nvPr/>
        </p:nvSpPr>
        <p:spPr>
          <a:xfrm>
            <a:off x="3311962" y="1671042"/>
            <a:ext cx="2169438" cy="483870"/>
          </a:xfrm>
          <a:prstGeom prst="rect">
            <a:avLst/>
          </a:prstGeom>
          <a:solidFill>
            <a:srgbClr val="1763A6"/>
          </a:solidFill>
          <a:ln/>
        </p:spPr>
      </p:sp>
      <p:sp>
        <p:nvSpPr>
          <p:cNvPr id="11" name="Text 7"/>
          <p:cNvSpPr/>
          <p:nvPr/>
        </p:nvSpPr>
        <p:spPr>
          <a:xfrm>
            <a:off x="3483412" y="1794867"/>
            <a:ext cx="1902738" cy="274320"/>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PA8 aktif</a:t>
            </a:r>
            <a:endParaRPr lang="en-US" sz="1575" dirty="0"/>
          </a:p>
        </p:txBody>
      </p:sp>
      <p:sp>
        <p:nvSpPr>
          <p:cNvPr id="12" name="Shape 8"/>
          <p:cNvSpPr/>
          <p:nvPr/>
        </p:nvSpPr>
        <p:spPr>
          <a:xfrm>
            <a:off x="5481400" y="1671042"/>
            <a:ext cx="3890248" cy="483870"/>
          </a:xfrm>
          <a:prstGeom prst="rect">
            <a:avLst/>
          </a:prstGeom>
          <a:solidFill>
            <a:srgbClr val="1763A6"/>
          </a:solidFill>
          <a:ln/>
        </p:spPr>
      </p:sp>
      <p:sp>
        <p:nvSpPr>
          <p:cNvPr id="13" name="Text 9"/>
          <p:cNvSpPr/>
          <p:nvPr/>
        </p:nvSpPr>
        <p:spPr>
          <a:xfrm>
            <a:off x="5652850" y="1794867"/>
            <a:ext cx="3664056" cy="274320"/>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PA7 komplementer</a:t>
            </a:r>
            <a:endParaRPr lang="en-US" sz="1575" dirty="0"/>
          </a:p>
        </p:txBody>
      </p:sp>
      <p:sp>
        <p:nvSpPr>
          <p:cNvPr id="14" name="Shape 10"/>
          <p:cNvSpPr/>
          <p:nvPr/>
        </p:nvSpPr>
        <p:spPr>
          <a:xfrm>
            <a:off x="800100" y="2661642"/>
            <a:ext cx="2511862" cy="9525"/>
          </a:xfrm>
          <a:prstGeom prst="rect">
            <a:avLst/>
          </a:prstGeom>
          <a:solidFill>
            <a:srgbClr val="E1E9F2"/>
          </a:solidFill>
          <a:ln/>
        </p:spPr>
      </p:sp>
      <p:sp>
        <p:nvSpPr>
          <p:cNvPr id="15" name="Text 11"/>
          <p:cNvSpPr/>
          <p:nvPr/>
        </p:nvSpPr>
        <p:spPr>
          <a:xfrm>
            <a:off x="971550" y="2269212"/>
            <a:ext cx="2245162" cy="31623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30%</a:t>
            </a:r>
            <a:endParaRPr lang="en-US" sz="1725" dirty="0"/>
          </a:p>
        </p:txBody>
      </p:sp>
      <p:sp>
        <p:nvSpPr>
          <p:cNvPr id="16" name="Shape 12"/>
          <p:cNvSpPr/>
          <p:nvPr/>
        </p:nvSpPr>
        <p:spPr>
          <a:xfrm>
            <a:off x="3311962" y="2661642"/>
            <a:ext cx="2169438" cy="9525"/>
          </a:xfrm>
          <a:prstGeom prst="rect">
            <a:avLst/>
          </a:prstGeom>
          <a:solidFill>
            <a:srgbClr val="E1E9F2"/>
          </a:solidFill>
          <a:ln/>
        </p:spPr>
      </p:sp>
      <p:sp>
        <p:nvSpPr>
          <p:cNvPr id="17" name="Text 13"/>
          <p:cNvSpPr/>
          <p:nvPr/>
        </p:nvSpPr>
        <p:spPr>
          <a:xfrm>
            <a:off x="3483412" y="2269212"/>
            <a:ext cx="1902738" cy="31623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29,14%</a:t>
            </a:r>
            <a:endParaRPr lang="en-US" sz="1725" dirty="0"/>
          </a:p>
        </p:txBody>
      </p:sp>
      <p:sp>
        <p:nvSpPr>
          <p:cNvPr id="18" name="Shape 14"/>
          <p:cNvSpPr/>
          <p:nvPr/>
        </p:nvSpPr>
        <p:spPr>
          <a:xfrm>
            <a:off x="5481400" y="2661642"/>
            <a:ext cx="3890248" cy="9525"/>
          </a:xfrm>
          <a:prstGeom prst="rect">
            <a:avLst/>
          </a:prstGeom>
          <a:solidFill>
            <a:srgbClr val="E1E9F2"/>
          </a:solidFill>
          <a:ln/>
        </p:spPr>
      </p:sp>
      <p:sp>
        <p:nvSpPr>
          <p:cNvPr id="19" name="Text 15"/>
          <p:cNvSpPr/>
          <p:nvPr/>
        </p:nvSpPr>
        <p:spPr>
          <a:xfrm>
            <a:off x="5652850" y="2269212"/>
            <a:ext cx="3664056" cy="31623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69,70%</a:t>
            </a:r>
            <a:endParaRPr lang="en-US" sz="1725" dirty="0"/>
          </a:p>
        </p:txBody>
      </p:sp>
      <p:sp>
        <p:nvSpPr>
          <p:cNvPr id="20" name="Shape 16"/>
          <p:cNvSpPr/>
          <p:nvPr/>
        </p:nvSpPr>
        <p:spPr>
          <a:xfrm>
            <a:off x="800100" y="2669262"/>
            <a:ext cx="2511862" cy="518160"/>
          </a:xfrm>
          <a:prstGeom prst="rect">
            <a:avLst/>
          </a:prstGeom>
          <a:solidFill>
            <a:srgbClr val="F6F9FD"/>
          </a:solidFill>
          <a:ln/>
        </p:spPr>
      </p:sp>
      <p:sp>
        <p:nvSpPr>
          <p:cNvPr id="21" name="Shape 17"/>
          <p:cNvSpPr/>
          <p:nvPr/>
        </p:nvSpPr>
        <p:spPr>
          <a:xfrm>
            <a:off x="800100" y="3179802"/>
            <a:ext cx="2511862" cy="9525"/>
          </a:xfrm>
          <a:prstGeom prst="rect">
            <a:avLst/>
          </a:prstGeom>
          <a:solidFill>
            <a:srgbClr val="E1E9F2"/>
          </a:solidFill>
          <a:ln/>
        </p:spPr>
      </p:sp>
      <p:sp>
        <p:nvSpPr>
          <p:cNvPr id="22" name="Text 18"/>
          <p:cNvSpPr/>
          <p:nvPr/>
        </p:nvSpPr>
        <p:spPr>
          <a:xfrm>
            <a:off x="971550" y="2783562"/>
            <a:ext cx="224516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50%</a:t>
            </a:r>
            <a:endParaRPr lang="en-US" sz="1725" dirty="0"/>
          </a:p>
        </p:txBody>
      </p:sp>
      <p:sp>
        <p:nvSpPr>
          <p:cNvPr id="23" name="Shape 19"/>
          <p:cNvSpPr/>
          <p:nvPr/>
        </p:nvSpPr>
        <p:spPr>
          <a:xfrm>
            <a:off x="3311962" y="2669262"/>
            <a:ext cx="2169438" cy="518160"/>
          </a:xfrm>
          <a:prstGeom prst="rect">
            <a:avLst/>
          </a:prstGeom>
          <a:solidFill>
            <a:srgbClr val="F6F9FD"/>
          </a:solidFill>
          <a:ln/>
        </p:spPr>
      </p:sp>
      <p:sp>
        <p:nvSpPr>
          <p:cNvPr id="24" name="Shape 20"/>
          <p:cNvSpPr/>
          <p:nvPr/>
        </p:nvSpPr>
        <p:spPr>
          <a:xfrm>
            <a:off x="3311962" y="3179802"/>
            <a:ext cx="2169438" cy="9525"/>
          </a:xfrm>
          <a:prstGeom prst="rect">
            <a:avLst/>
          </a:prstGeom>
          <a:solidFill>
            <a:srgbClr val="E1E9F2"/>
          </a:solidFill>
          <a:ln/>
        </p:spPr>
      </p:sp>
      <p:sp>
        <p:nvSpPr>
          <p:cNvPr id="25" name="Text 21"/>
          <p:cNvSpPr/>
          <p:nvPr/>
        </p:nvSpPr>
        <p:spPr>
          <a:xfrm>
            <a:off x="3483412" y="2783562"/>
            <a:ext cx="1902738"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49,25%</a:t>
            </a:r>
            <a:endParaRPr lang="en-US" sz="1725" dirty="0"/>
          </a:p>
        </p:txBody>
      </p:sp>
      <p:sp>
        <p:nvSpPr>
          <p:cNvPr id="26" name="Shape 22"/>
          <p:cNvSpPr/>
          <p:nvPr/>
        </p:nvSpPr>
        <p:spPr>
          <a:xfrm>
            <a:off x="5481400" y="2669262"/>
            <a:ext cx="3890248" cy="518160"/>
          </a:xfrm>
          <a:prstGeom prst="rect">
            <a:avLst/>
          </a:prstGeom>
          <a:solidFill>
            <a:srgbClr val="F6F9FD"/>
          </a:solidFill>
          <a:ln/>
        </p:spPr>
      </p:sp>
      <p:sp>
        <p:nvSpPr>
          <p:cNvPr id="27" name="Shape 23"/>
          <p:cNvSpPr/>
          <p:nvPr/>
        </p:nvSpPr>
        <p:spPr>
          <a:xfrm>
            <a:off x="5481400" y="3179802"/>
            <a:ext cx="3890248" cy="9525"/>
          </a:xfrm>
          <a:prstGeom prst="rect">
            <a:avLst/>
          </a:prstGeom>
          <a:solidFill>
            <a:srgbClr val="E1E9F2"/>
          </a:solidFill>
          <a:ln/>
        </p:spPr>
      </p:sp>
      <p:sp>
        <p:nvSpPr>
          <p:cNvPr id="28" name="Text 24"/>
          <p:cNvSpPr/>
          <p:nvPr/>
        </p:nvSpPr>
        <p:spPr>
          <a:xfrm>
            <a:off x="5652850" y="2783562"/>
            <a:ext cx="3664056"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49,49%</a:t>
            </a:r>
            <a:endParaRPr lang="en-US" sz="1725" dirty="0"/>
          </a:p>
        </p:txBody>
      </p:sp>
      <p:sp>
        <p:nvSpPr>
          <p:cNvPr id="29" name="Shape 25"/>
          <p:cNvSpPr/>
          <p:nvPr/>
        </p:nvSpPr>
        <p:spPr>
          <a:xfrm>
            <a:off x="800100" y="3697962"/>
            <a:ext cx="2511862" cy="9525"/>
          </a:xfrm>
          <a:prstGeom prst="rect">
            <a:avLst/>
          </a:prstGeom>
          <a:solidFill>
            <a:srgbClr val="E1E9F2"/>
          </a:solidFill>
          <a:ln/>
        </p:spPr>
      </p:sp>
      <p:sp>
        <p:nvSpPr>
          <p:cNvPr id="30" name="Text 26"/>
          <p:cNvSpPr/>
          <p:nvPr/>
        </p:nvSpPr>
        <p:spPr>
          <a:xfrm>
            <a:off x="971550" y="3301722"/>
            <a:ext cx="224516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70%</a:t>
            </a:r>
            <a:endParaRPr lang="en-US" sz="1725" dirty="0"/>
          </a:p>
        </p:txBody>
      </p:sp>
      <p:sp>
        <p:nvSpPr>
          <p:cNvPr id="31" name="Shape 27"/>
          <p:cNvSpPr/>
          <p:nvPr/>
        </p:nvSpPr>
        <p:spPr>
          <a:xfrm>
            <a:off x="3311962" y="3697962"/>
            <a:ext cx="2169438" cy="9525"/>
          </a:xfrm>
          <a:prstGeom prst="rect">
            <a:avLst/>
          </a:prstGeom>
          <a:solidFill>
            <a:srgbClr val="E1E9F2"/>
          </a:solidFill>
          <a:ln/>
        </p:spPr>
      </p:sp>
      <p:sp>
        <p:nvSpPr>
          <p:cNvPr id="32" name="Text 28"/>
          <p:cNvSpPr/>
          <p:nvPr/>
        </p:nvSpPr>
        <p:spPr>
          <a:xfrm>
            <a:off x="3483412" y="3301722"/>
            <a:ext cx="1902738"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69,00%</a:t>
            </a:r>
            <a:endParaRPr lang="en-US" sz="1725" dirty="0"/>
          </a:p>
        </p:txBody>
      </p:sp>
      <p:sp>
        <p:nvSpPr>
          <p:cNvPr id="33" name="Shape 29"/>
          <p:cNvSpPr/>
          <p:nvPr/>
        </p:nvSpPr>
        <p:spPr>
          <a:xfrm>
            <a:off x="5481400" y="3697962"/>
            <a:ext cx="3890248" cy="9525"/>
          </a:xfrm>
          <a:prstGeom prst="rect">
            <a:avLst/>
          </a:prstGeom>
          <a:solidFill>
            <a:srgbClr val="E1E9F2"/>
          </a:solidFill>
          <a:ln/>
        </p:spPr>
      </p:sp>
      <p:sp>
        <p:nvSpPr>
          <p:cNvPr id="34" name="Text 30"/>
          <p:cNvSpPr/>
          <p:nvPr/>
        </p:nvSpPr>
        <p:spPr>
          <a:xfrm>
            <a:off x="5652850" y="3301722"/>
            <a:ext cx="3664056"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29,29%</a:t>
            </a:r>
            <a:endParaRPr lang="en-US" sz="1725" dirty="0"/>
          </a:p>
        </p:txBody>
      </p:sp>
      <p:sp>
        <p:nvSpPr>
          <p:cNvPr id="35" name="Shape 31"/>
          <p:cNvSpPr/>
          <p:nvPr/>
        </p:nvSpPr>
        <p:spPr>
          <a:xfrm>
            <a:off x="800100" y="3705582"/>
            <a:ext cx="2511862" cy="518160"/>
          </a:xfrm>
          <a:prstGeom prst="rect">
            <a:avLst/>
          </a:prstGeom>
          <a:solidFill>
            <a:srgbClr val="F6F9FD"/>
          </a:solidFill>
          <a:ln/>
        </p:spPr>
      </p:sp>
      <p:sp>
        <p:nvSpPr>
          <p:cNvPr id="36" name="Shape 32"/>
          <p:cNvSpPr/>
          <p:nvPr/>
        </p:nvSpPr>
        <p:spPr>
          <a:xfrm>
            <a:off x="800100" y="4216122"/>
            <a:ext cx="2511862" cy="9525"/>
          </a:xfrm>
          <a:prstGeom prst="rect">
            <a:avLst/>
          </a:prstGeom>
          <a:solidFill>
            <a:srgbClr val="E1E9F2"/>
          </a:solidFill>
          <a:ln/>
        </p:spPr>
      </p:sp>
      <p:sp>
        <p:nvSpPr>
          <p:cNvPr id="37" name="Text 33"/>
          <p:cNvSpPr/>
          <p:nvPr/>
        </p:nvSpPr>
        <p:spPr>
          <a:xfrm>
            <a:off x="971550" y="3819882"/>
            <a:ext cx="224516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90%</a:t>
            </a:r>
            <a:endParaRPr lang="en-US" sz="1725" dirty="0"/>
          </a:p>
        </p:txBody>
      </p:sp>
      <p:sp>
        <p:nvSpPr>
          <p:cNvPr id="38" name="Shape 34"/>
          <p:cNvSpPr/>
          <p:nvPr/>
        </p:nvSpPr>
        <p:spPr>
          <a:xfrm>
            <a:off x="3311962" y="3705582"/>
            <a:ext cx="2169438" cy="518160"/>
          </a:xfrm>
          <a:prstGeom prst="rect">
            <a:avLst/>
          </a:prstGeom>
          <a:solidFill>
            <a:srgbClr val="F6F9FD"/>
          </a:solidFill>
          <a:ln/>
        </p:spPr>
      </p:sp>
      <p:sp>
        <p:nvSpPr>
          <p:cNvPr id="39" name="Shape 35"/>
          <p:cNvSpPr/>
          <p:nvPr/>
        </p:nvSpPr>
        <p:spPr>
          <a:xfrm>
            <a:off x="3311962" y="4216122"/>
            <a:ext cx="2169438" cy="9525"/>
          </a:xfrm>
          <a:prstGeom prst="rect">
            <a:avLst/>
          </a:prstGeom>
          <a:solidFill>
            <a:srgbClr val="E1E9F2"/>
          </a:solidFill>
          <a:ln/>
        </p:spPr>
      </p:sp>
      <p:sp>
        <p:nvSpPr>
          <p:cNvPr id="40" name="Text 36"/>
          <p:cNvSpPr/>
          <p:nvPr/>
        </p:nvSpPr>
        <p:spPr>
          <a:xfrm>
            <a:off x="3483412" y="3819882"/>
            <a:ext cx="1902738"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89,94%</a:t>
            </a:r>
            <a:endParaRPr lang="en-US" sz="1725" dirty="0"/>
          </a:p>
        </p:txBody>
      </p:sp>
      <p:sp>
        <p:nvSpPr>
          <p:cNvPr id="41" name="Shape 37"/>
          <p:cNvSpPr/>
          <p:nvPr/>
        </p:nvSpPr>
        <p:spPr>
          <a:xfrm>
            <a:off x="5481400" y="3705582"/>
            <a:ext cx="3890248" cy="518160"/>
          </a:xfrm>
          <a:prstGeom prst="rect">
            <a:avLst/>
          </a:prstGeom>
          <a:solidFill>
            <a:srgbClr val="F6F9FD"/>
          </a:solidFill>
          <a:ln/>
        </p:spPr>
      </p:sp>
      <p:sp>
        <p:nvSpPr>
          <p:cNvPr id="42" name="Shape 38"/>
          <p:cNvSpPr/>
          <p:nvPr/>
        </p:nvSpPr>
        <p:spPr>
          <a:xfrm>
            <a:off x="5481400" y="4216122"/>
            <a:ext cx="3890248" cy="9525"/>
          </a:xfrm>
          <a:prstGeom prst="rect">
            <a:avLst/>
          </a:prstGeom>
          <a:solidFill>
            <a:srgbClr val="E1E9F2"/>
          </a:solidFill>
          <a:ln/>
        </p:spPr>
      </p:sp>
      <p:sp>
        <p:nvSpPr>
          <p:cNvPr id="43" name="Text 39"/>
          <p:cNvSpPr/>
          <p:nvPr/>
        </p:nvSpPr>
        <p:spPr>
          <a:xfrm>
            <a:off x="5652850" y="3819882"/>
            <a:ext cx="3664056"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9,09%</a:t>
            </a:r>
            <a:endParaRPr lang="en-US" sz="1725" dirty="0"/>
          </a:p>
        </p:txBody>
      </p:sp>
      <p:sp>
        <p:nvSpPr>
          <p:cNvPr id="44" name="Shape 40"/>
          <p:cNvSpPr/>
          <p:nvPr/>
        </p:nvSpPr>
        <p:spPr>
          <a:xfrm>
            <a:off x="800100" y="4734282"/>
            <a:ext cx="2511862" cy="9525"/>
          </a:xfrm>
          <a:prstGeom prst="rect">
            <a:avLst/>
          </a:prstGeom>
          <a:solidFill>
            <a:srgbClr val="E1E9F2"/>
          </a:solidFill>
          <a:ln/>
        </p:spPr>
      </p:sp>
      <p:sp>
        <p:nvSpPr>
          <p:cNvPr id="45" name="Text 41"/>
          <p:cNvSpPr/>
          <p:nvPr/>
        </p:nvSpPr>
        <p:spPr>
          <a:xfrm>
            <a:off x="971550" y="4338042"/>
            <a:ext cx="224516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95%</a:t>
            </a:r>
            <a:endParaRPr lang="en-US" sz="1725" dirty="0"/>
          </a:p>
        </p:txBody>
      </p:sp>
      <p:sp>
        <p:nvSpPr>
          <p:cNvPr id="46" name="Shape 42"/>
          <p:cNvSpPr/>
          <p:nvPr/>
        </p:nvSpPr>
        <p:spPr>
          <a:xfrm>
            <a:off x="3311962" y="4734282"/>
            <a:ext cx="2169438" cy="9525"/>
          </a:xfrm>
          <a:prstGeom prst="rect">
            <a:avLst/>
          </a:prstGeom>
          <a:solidFill>
            <a:srgbClr val="E1E9F2"/>
          </a:solidFill>
          <a:ln/>
        </p:spPr>
      </p:sp>
      <p:sp>
        <p:nvSpPr>
          <p:cNvPr id="47" name="Text 43"/>
          <p:cNvSpPr/>
          <p:nvPr/>
        </p:nvSpPr>
        <p:spPr>
          <a:xfrm>
            <a:off x="3483412" y="4338042"/>
            <a:ext cx="1902738"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93,97%</a:t>
            </a:r>
            <a:endParaRPr lang="en-US" sz="1725" dirty="0"/>
          </a:p>
        </p:txBody>
      </p:sp>
      <p:sp>
        <p:nvSpPr>
          <p:cNvPr id="48" name="Shape 44"/>
          <p:cNvSpPr/>
          <p:nvPr/>
        </p:nvSpPr>
        <p:spPr>
          <a:xfrm>
            <a:off x="5481400" y="4734282"/>
            <a:ext cx="3890248" cy="9525"/>
          </a:xfrm>
          <a:prstGeom prst="rect">
            <a:avLst/>
          </a:prstGeom>
          <a:solidFill>
            <a:srgbClr val="E1E9F2"/>
          </a:solidFill>
          <a:ln/>
        </p:spPr>
      </p:sp>
      <p:sp>
        <p:nvSpPr>
          <p:cNvPr id="49" name="Text 45"/>
          <p:cNvSpPr/>
          <p:nvPr/>
        </p:nvSpPr>
        <p:spPr>
          <a:xfrm>
            <a:off x="5652850" y="4338042"/>
            <a:ext cx="3664056"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4,04%</a:t>
            </a:r>
            <a:endParaRPr lang="en-US" sz="1725" dirty="0"/>
          </a:p>
        </p:txBody>
      </p:sp>
      <p:sp>
        <p:nvSpPr>
          <p:cNvPr id="50" name="Text 46"/>
          <p:cNvSpPr/>
          <p:nvPr/>
        </p:nvSpPr>
        <p:spPr>
          <a:xfrm>
            <a:off x="800100" y="5050512"/>
            <a:ext cx="8828694" cy="578168"/>
          </a:xfrm>
          <a:prstGeom prst="rect">
            <a:avLst/>
          </a:prstGeom>
          <a:noFill/>
          <a:ln/>
        </p:spPr>
        <p:txBody>
          <a:bodyPr wrap="square" lIns="25400" tIns="25400" rIns="25400" bIns="25400" rtlCol="0" anchor="t">
            <a:normAutofit/>
          </a:bodyPr>
          <a:lstStyle/>
          <a:p>
            <a:pPr marL="0" indent="0" algn="l">
              <a:lnSpc>
                <a:spcPct val="135000"/>
              </a:lnSpc>
              <a:buNone/>
            </a:pPr>
            <a:r>
              <a:rPr lang="en-US" sz="1575" dirty="0">
                <a:solidFill>
                  <a:srgbClr val="7E92A8"/>
                </a:solidFill>
                <a:latin typeface="Arial" pitchFamily="34" charset="0"/>
                <a:ea typeface="Arial" pitchFamily="34" charset="-122"/>
                <a:cs typeface="Arial" pitchFamily="34" charset="-120"/>
              </a:rPr>
              <a:t>Frekuensi PWM 5,05 kHz (target 5 kHz). Gate driver HCPL-3120 menjaga bentuk &amp; duty sinyal, amplitudo gate ≈ 15,6 V.</a:t>
            </a:r>
            <a:endParaRPr lang="en-US" sz="1575" dirty="0"/>
          </a:p>
        </p:txBody>
      </p:sp>
      <p:sp>
        <p:nvSpPr>
          <p:cNvPr id="51" name="Text 47"/>
          <p:cNvSpPr/>
          <p:nvPr/>
        </p:nvSpPr>
        <p:spPr>
          <a:xfrm>
            <a:off x="9695498" y="3863816"/>
            <a:ext cx="8571643"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b="1" kern="0" spc="-75" dirty="0">
                <a:solidFill>
                  <a:srgbClr val="1763A6"/>
                </a:solidFill>
                <a:latin typeface="Arial" pitchFamily="34" charset="0"/>
                <a:ea typeface="Arial" pitchFamily="34" charset="-122"/>
                <a:cs typeface="Arial" pitchFamily="34" charset="-120"/>
              </a:rPr>
              <a:t>1,48–1,49</a:t>
            </a:r>
            <a:r>
              <a:rPr lang="en-US" sz="2250" b="1" kern="0" spc="-75" dirty="0">
                <a:solidFill>
                  <a:srgbClr val="1763A6"/>
                </a:solidFill>
                <a:latin typeface="Arial" pitchFamily="34" charset="0"/>
                <a:ea typeface="Arial" pitchFamily="34" charset="-122"/>
                <a:cs typeface="Arial" pitchFamily="34" charset="-120"/>
              </a:rPr>
              <a:t>µs</a:t>
            </a:r>
            <a:endParaRPr lang="en-US" sz="4500" dirty="0"/>
          </a:p>
        </p:txBody>
      </p:sp>
      <p:sp>
        <p:nvSpPr>
          <p:cNvPr id="52" name="Text 48"/>
          <p:cNvSpPr/>
          <p:nvPr/>
        </p:nvSpPr>
        <p:spPr>
          <a:xfrm>
            <a:off x="9695498" y="4454366"/>
            <a:ext cx="8571643" cy="288131"/>
          </a:xfrm>
          <a:prstGeom prst="rect">
            <a:avLst/>
          </a:prstGeom>
          <a:noFill/>
          <a:ln/>
        </p:spPr>
        <p:txBody>
          <a:bodyPr wrap="square" lIns="25400" tIns="25400" rIns="25400" bIns="25400" rtlCol="0" anchor="t">
            <a:normAutofit/>
          </a:bodyPr>
          <a:lstStyle/>
          <a:p>
            <a:pPr marL="0" indent="0" algn="l">
              <a:lnSpc>
                <a:spcPct val="125000"/>
              </a:lnSpc>
              <a:buNone/>
            </a:pPr>
            <a:r>
              <a:rPr lang="en-US" sz="1575" dirty="0">
                <a:solidFill>
                  <a:srgbClr val="48607A"/>
                </a:solidFill>
                <a:latin typeface="Arial" pitchFamily="34" charset="0"/>
                <a:ea typeface="Arial" pitchFamily="34" charset="-122"/>
                <a:cs typeface="Arial" pitchFamily="34" charset="-120"/>
              </a:rPr>
              <a:t>dead time terukur — sesuai rancangan 1,5 µs</a:t>
            </a:r>
            <a:endParaRPr lang="en-US" sz="1575" dirty="0"/>
          </a:p>
        </p:txBody>
      </p:sp>
      <p:sp>
        <p:nvSpPr>
          <p:cNvPr id="53" name="Text 49"/>
          <p:cNvSpPr/>
          <p:nvPr/>
        </p:nvSpPr>
        <p:spPr>
          <a:xfrm>
            <a:off x="9695498" y="4990148"/>
            <a:ext cx="8571643"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b="1" kern="0" spc="-75" dirty="0">
                <a:solidFill>
                  <a:srgbClr val="1763A6"/>
                </a:solidFill>
                <a:latin typeface="Arial" pitchFamily="34" charset="0"/>
                <a:ea typeface="Arial" pitchFamily="34" charset="-122"/>
                <a:cs typeface="Arial" pitchFamily="34" charset="-120"/>
              </a:rPr>
              <a:t>&lt;1</a:t>
            </a:r>
            <a:r>
              <a:rPr lang="en-US" sz="2250" b="1" kern="0" spc="-75" dirty="0">
                <a:solidFill>
                  <a:srgbClr val="1763A6"/>
                </a:solidFill>
                <a:latin typeface="Arial" pitchFamily="34" charset="0"/>
                <a:ea typeface="Arial" pitchFamily="34" charset="-122"/>
                <a:cs typeface="Arial" pitchFamily="34" charset="-120"/>
              </a:rPr>
              <a:t>%</a:t>
            </a:r>
            <a:endParaRPr lang="en-US" sz="4500" dirty="0"/>
          </a:p>
        </p:txBody>
      </p:sp>
      <p:sp>
        <p:nvSpPr>
          <p:cNvPr id="54" name="Text 50"/>
          <p:cNvSpPr/>
          <p:nvPr/>
        </p:nvSpPr>
        <p:spPr>
          <a:xfrm>
            <a:off x="9695498" y="5580698"/>
            <a:ext cx="8571643" cy="288131"/>
          </a:xfrm>
          <a:prstGeom prst="rect">
            <a:avLst/>
          </a:prstGeom>
          <a:noFill/>
          <a:ln/>
        </p:spPr>
        <p:txBody>
          <a:bodyPr wrap="square" lIns="25400" tIns="25400" rIns="25400" bIns="25400" rtlCol="0" anchor="t">
            <a:normAutofit/>
          </a:bodyPr>
          <a:lstStyle/>
          <a:p>
            <a:pPr marL="0" indent="0" algn="l">
              <a:lnSpc>
                <a:spcPct val="125000"/>
              </a:lnSpc>
              <a:buNone/>
            </a:pPr>
            <a:r>
              <a:rPr lang="en-US" sz="1575" dirty="0">
                <a:solidFill>
                  <a:srgbClr val="48607A"/>
                </a:solidFill>
                <a:latin typeface="Arial" pitchFamily="34" charset="0"/>
                <a:ea typeface="Arial" pitchFamily="34" charset="-122"/>
                <a:cs typeface="Arial" pitchFamily="34" charset="-120"/>
              </a:rPr>
              <a:t>selisih duty cycle terukur vs. yang diatur (10–95%)</a:t>
            </a:r>
            <a:endParaRPr lang="en-US" sz="1575" dirty="0"/>
          </a:p>
        </p:txBody>
      </p:sp>
      <p:sp>
        <p:nvSpPr>
          <p:cNvPr id="55" name="Shape 51"/>
          <p:cNvSpPr/>
          <p:nvPr/>
        </p:nvSpPr>
        <p:spPr>
          <a:xfrm>
            <a:off x="9695498" y="6116479"/>
            <a:ext cx="7792403" cy="1044178"/>
          </a:xfrm>
          <a:prstGeom prst="roundRect">
            <a:avLst>
              <a:gd name="adj" fmla="val 12771"/>
            </a:avLst>
          </a:prstGeom>
          <a:gradFill rotWithShape="1">
            <a:gsLst>
              <a:gs pos="0">
                <a:srgbClr val="103A63">
                  <a:alpha val="100000"/>
                </a:srgbClr>
              </a:gs>
              <a:gs pos="100000">
                <a:srgbClr val="1763A6">
                  <a:alpha val="100000"/>
                </a:srgbClr>
              </a:gs>
            </a:gsLst>
            <a:lin ang="2700000" scaled="0"/>
          </a:gradFill>
          <a:ln/>
        </p:spPr>
      </p:sp>
      <p:sp>
        <p:nvSpPr>
          <p:cNvPr id="56" name="Text 52"/>
          <p:cNvSpPr/>
          <p:nvPr/>
        </p:nvSpPr>
        <p:spPr>
          <a:xfrm>
            <a:off x="9943148" y="6345079"/>
            <a:ext cx="7516016" cy="625078"/>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DCEBFA"/>
                </a:solidFill>
                <a:latin typeface="Arial" pitchFamily="34" charset="0"/>
                <a:ea typeface="Arial" pitchFamily="34" charset="-122"/>
                <a:cs typeface="Arial" pitchFamily="34" charset="-120"/>
              </a:rPr>
              <a:t>Tidak terjadi kondisi dua IGBT satu leg menghantar bersamaan ( </a:t>
            </a:r>
            <a:r>
              <a:rPr lang="en-US" sz="1725" b="1" dirty="0">
                <a:solidFill>
                  <a:srgbClr val="FFFFFF"/>
                </a:solidFill>
                <a:latin typeface="Arial" pitchFamily="34" charset="0"/>
                <a:ea typeface="Arial" pitchFamily="34" charset="-122"/>
                <a:cs typeface="Arial" pitchFamily="34" charset="-120"/>
              </a:rPr>
              <a:t>tanpa shoot-through </a:t>
            </a:r>
            <a:r>
              <a:rPr lang="en-US" sz="1725" dirty="0">
                <a:solidFill>
                  <a:srgbClr val="DCEBFA"/>
                </a:solidFill>
                <a:latin typeface="Arial" pitchFamily="34" charset="0"/>
                <a:ea typeface="Arial" pitchFamily="34" charset="-122"/>
                <a:cs typeface="Arial" pitchFamily="34" charset="-120"/>
              </a:rPr>
              <a:t>).</a:t>
            </a:r>
            <a:endParaRPr lang="en-US" sz="1725" dirty="0"/>
          </a:p>
        </p:txBody>
      </p:sp>
      <p:sp>
        <p:nvSpPr>
          <p:cNvPr id="57" name="Shape 53"/>
          <p:cNvSpPr/>
          <p:nvPr/>
        </p:nvSpPr>
        <p:spPr>
          <a:xfrm>
            <a:off x="0" y="9486900"/>
            <a:ext cx="18288000" cy="9525"/>
          </a:xfrm>
          <a:prstGeom prst="rect">
            <a:avLst/>
          </a:prstGeom>
          <a:solidFill>
            <a:srgbClr val="E1E9F2"/>
          </a:solidFill>
          <a:ln/>
        </p:spPr>
      </p:sp>
      <p:sp>
        <p:nvSpPr>
          <p:cNvPr id="58" name="Text 54"/>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59" name="Text 55"/>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60" name="Text 56"/>
          <p:cNvSpPr/>
          <p:nvPr/>
        </p:nvSpPr>
        <p:spPr>
          <a:xfrm>
            <a:off x="4277678"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61" name="Shape 57"/>
          <p:cNvSpPr/>
          <p:nvPr/>
        </p:nvSpPr>
        <p:spPr>
          <a:xfrm>
            <a:off x="5639753" y="10023158"/>
            <a:ext cx="1686878" cy="22860"/>
          </a:xfrm>
          <a:prstGeom prst="rect">
            <a:avLst/>
          </a:prstGeom>
          <a:solidFill>
            <a:srgbClr val="2E86DE"/>
          </a:solidFill>
          <a:ln/>
        </p:spPr>
      </p:sp>
      <p:sp>
        <p:nvSpPr>
          <p:cNvPr id="62" name="Text 58"/>
          <p:cNvSpPr/>
          <p:nvPr/>
        </p:nvSpPr>
        <p:spPr>
          <a:xfrm>
            <a:off x="5639753" y="9758363"/>
            <a:ext cx="176307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Hasil &amp; Pembahasan</a:t>
            </a:r>
            <a:endParaRPr lang="en-US" sz="1350" dirty="0"/>
          </a:p>
        </p:txBody>
      </p:sp>
      <p:sp>
        <p:nvSpPr>
          <p:cNvPr id="63" name="Text 59"/>
          <p:cNvSpPr/>
          <p:nvPr/>
        </p:nvSpPr>
        <p:spPr>
          <a:xfrm>
            <a:off x="7612380"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64" name="Text 60"/>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10356616"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IV · HASIL</a:t>
            </a:r>
            <a:endParaRPr lang="en-US" sz="1500" dirty="0"/>
          </a:p>
        </p:txBody>
      </p:sp>
      <p:sp>
        <p:nvSpPr>
          <p:cNvPr id="5" name="Text 3"/>
          <p:cNvSpPr/>
          <p:nvPr/>
        </p:nvSpPr>
        <p:spPr>
          <a:xfrm>
            <a:off x="1108710" y="830580"/>
            <a:ext cx="10356616"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Pengujian Rangkaian PWM AC Chopper</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1671042"/>
            <a:ext cx="1691283" cy="523875"/>
          </a:xfrm>
          <a:prstGeom prst="roundRect">
            <a:avLst>
              <a:gd name="adj" fmla="val 18182"/>
            </a:avLst>
          </a:prstGeom>
          <a:solidFill>
            <a:srgbClr val="1763A6"/>
          </a:solidFill>
          <a:ln/>
        </p:spPr>
      </p:sp>
      <p:sp>
        <p:nvSpPr>
          <p:cNvPr id="9" name="Text 5"/>
          <p:cNvSpPr/>
          <p:nvPr/>
        </p:nvSpPr>
        <p:spPr>
          <a:xfrm>
            <a:off x="971550" y="1794867"/>
            <a:ext cx="1424583" cy="314325"/>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Duty</a:t>
            </a:r>
            <a:endParaRPr lang="en-US" sz="1575" dirty="0"/>
          </a:p>
        </p:txBody>
      </p:sp>
      <p:sp>
        <p:nvSpPr>
          <p:cNvPr id="10" name="Shape 6"/>
          <p:cNvSpPr/>
          <p:nvPr/>
        </p:nvSpPr>
        <p:spPr>
          <a:xfrm>
            <a:off x="2491383" y="1671042"/>
            <a:ext cx="2410182" cy="523875"/>
          </a:xfrm>
          <a:prstGeom prst="rect">
            <a:avLst/>
          </a:prstGeom>
          <a:solidFill>
            <a:srgbClr val="1763A6"/>
          </a:solidFill>
          <a:ln/>
        </p:spPr>
      </p:sp>
      <p:sp>
        <p:nvSpPr>
          <p:cNvPr id="11" name="Text 7"/>
          <p:cNvSpPr/>
          <p:nvPr/>
        </p:nvSpPr>
        <p:spPr>
          <a:xfrm>
            <a:off x="2662833" y="1794867"/>
            <a:ext cx="2143482" cy="314325"/>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highlight>
                  <a:srgbClr val="1763A6"/>
                </a:highlight>
                <a:latin typeface="Arial" pitchFamily="34" charset="0"/>
                <a:ea typeface="Arial" pitchFamily="34" charset="-122"/>
                <a:cs typeface="Arial" pitchFamily="34" charset="-120"/>
              </a:rPr>
              <a:t>V</a:t>
            </a:r>
            <a:r>
              <a:rPr lang="en-US" sz="1313" b="1" baseline="-40000" dirty="0">
                <a:solidFill>
                  <a:srgbClr val="FFFFFF"/>
                </a:solidFill>
                <a:latin typeface="Arial" pitchFamily="34" charset="0"/>
                <a:ea typeface="Arial" pitchFamily="34" charset="-122"/>
                <a:cs typeface="Arial" pitchFamily="34" charset="-120"/>
              </a:rPr>
              <a:t>out </a:t>
            </a:r>
            <a:r>
              <a:rPr lang="en-US" sz="1575" b="1" dirty="0">
                <a:solidFill>
                  <a:srgbClr val="FFFFFF"/>
                </a:solidFill>
                <a:highlight>
                  <a:srgbClr val="1763A6"/>
                </a:highlight>
                <a:latin typeface="Arial" pitchFamily="34" charset="0"/>
                <a:ea typeface="Arial" pitchFamily="34" charset="-122"/>
                <a:cs typeface="Arial" pitchFamily="34" charset="-120"/>
              </a:rPr>
              <a:t>teori</a:t>
            </a:r>
            <a:endParaRPr lang="en-US" sz="1575" dirty="0"/>
          </a:p>
        </p:txBody>
      </p:sp>
      <p:sp>
        <p:nvSpPr>
          <p:cNvPr id="12" name="Shape 8"/>
          <p:cNvSpPr/>
          <p:nvPr/>
        </p:nvSpPr>
        <p:spPr>
          <a:xfrm>
            <a:off x="4901565" y="1671042"/>
            <a:ext cx="2898338" cy="523875"/>
          </a:xfrm>
          <a:prstGeom prst="rect">
            <a:avLst/>
          </a:prstGeom>
          <a:solidFill>
            <a:srgbClr val="1763A6"/>
          </a:solidFill>
          <a:ln/>
        </p:spPr>
      </p:sp>
      <p:sp>
        <p:nvSpPr>
          <p:cNvPr id="13" name="Text 9"/>
          <p:cNvSpPr/>
          <p:nvPr/>
        </p:nvSpPr>
        <p:spPr>
          <a:xfrm>
            <a:off x="5073015" y="1794867"/>
            <a:ext cx="2642389" cy="314325"/>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highlight>
                  <a:srgbClr val="1763A6"/>
                </a:highlight>
                <a:latin typeface="Arial" pitchFamily="34" charset="0"/>
                <a:ea typeface="Arial" pitchFamily="34" charset="-122"/>
                <a:cs typeface="Arial" pitchFamily="34" charset="-120"/>
              </a:rPr>
              <a:t>V</a:t>
            </a:r>
            <a:r>
              <a:rPr lang="en-US" sz="1313" b="1" baseline="-40000" dirty="0">
                <a:solidFill>
                  <a:srgbClr val="FFFFFF"/>
                </a:solidFill>
                <a:latin typeface="Arial" pitchFamily="34" charset="0"/>
                <a:ea typeface="Arial" pitchFamily="34" charset="-122"/>
                <a:cs typeface="Arial" pitchFamily="34" charset="-120"/>
              </a:rPr>
              <a:t>out </a:t>
            </a:r>
            <a:r>
              <a:rPr lang="en-US" sz="1575" b="1" dirty="0">
                <a:solidFill>
                  <a:srgbClr val="FFFFFF"/>
                </a:solidFill>
                <a:highlight>
                  <a:srgbClr val="1763A6"/>
                </a:highlight>
                <a:latin typeface="Arial" pitchFamily="34" charset="0"/>
                <a:ea typeface="Arial" pitchFamily="34" charset="-122"/>
                <a:cs typeface="Arial" pitchFamily="34" charset="-120"/>
              </a:rPr>
              <a:t>terukur</a:t>
            </a:r>
            <a:endParaRPr lang="en-US" sz="1575" dirty="0"/>
          </a:p>
        </p:txBody>
      </p:sp>
      <p:sp>
        <p:nvSpPr>
          <p:cNvPr id="14" name="Shape 10"/>
          <p:cNvSpPr/>
          <p:nvPr/>
        </p:nvSpPr>
        <p:spPr>
          <a:xfrm>
            <a:off x="7799904" y="1671042"/>
            <a:ext cx="2091214" cy="523875"/>
          </a:xfrm>
          <a:prstGeom prst="rect">
            <a:avLst/>
          </a:prstGeom>
          <a:solidFill>
            <a:srgbClr val="1763A6"/>
          </a:solidFill>
          <a:ln/>
        </p:spPr>
      </p:sp>
      <p:sp>
        <p:nvSpPr>
          <p:cNvPr id="15" name="Text 11"/>
          <p:cNvSpPr/>
          <p:nvPr/>
        </p:nvSpPr>
        <p:spPr>
          <a:xfrm>
            <a:off x="7971354" y="1794867"/>
            <a:ext cx="1824514" cy="314325"/>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Error</a:t>
            </a:r>
            <a:endParaRPr lang="en-US" sz="1575" dirty="0"/>
          </a:p>
        </p:txBody>
      </p:sp>
      <p:sp>
        <p:nvSpPr>
          <p:cNvPr id="16" name="Shape 12"/>
          <p:cNvSpPr/>
          <p:nvPr/>
        </p:nvSpPr>
        <p:spPr>
          <a:xfrm>
            <a:off x="800100" y="2701647"/>
            <a:ext cx="1691283" cy="9525"/>
          </a:xfrm>
          <a:prstGeom prst="rect">
            <a:avLst/>
          </a:prstGeom>
          <a:solidFill>
            <a:srgbClr val="E1E9F2"/>
          </a:solidFill>
          <a:ln/>
        </p:spPr>
      </p:sp>
      <p:sp>
        <p:nvSpPr>
          <p:cNvPr id="17" name="Text 13"/>
          <p:cNvSpPr/>
          <p:nvPr/>
        </p:nvSpPr>
        <p:spPr>
          <a:xfrm>
            <a:off x="971550" y="2309217"/>
            <a:ext cx="1424583" cy="31623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70%</a:t>
            </a:r>
            <a:endParaRPr lang="en-US" sz="1725" dirty="0"/>
          </a:p>
        </p:txBody>
      </p:sp>
      <p:sp>
        <p:nvSpPr>
          <p:cNvPr id="18" name="Shape 14"/>
          <p:cNvSpPr/>
          <p:nvPr/>
        </p:nvSpPr>
        <p:spPr>
          <a:xfrm>
            <a:off x="2491383" y="2701647"/>
            <a:ext cx="2410182" cy="9525"/>
          </a:xfrm>
          <a:prstGeom prst="rect">
            <a:avLst/>
          </a:prstGeom>
          <a:solidFill>
            <a:srgbClr val="E1E9F2"/>
          </a:solidFill>
          <a:ln/>
        </p:spPr>
      </p:sp>
      <p:sp>
        <p:nvSpPr>
          <p:cNvPr id="19" name="Text 15"/>
          <p:cNvSpPr/>
          <p:nvPr/>
        </p:nvSpPr>
        <p:spPr>
          <a:xfrm>
            <a:off x="2662833" y="2309217"/>
            <a:ext cx="2143482" cy="31623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154 V</a:t>
            </a:r>
            <a:endParaRPr lang="en-US" sz="1725" dirty="0"/>
          </a:p>
        </p:txBody>
      </p:sp>
      <p:sp>
        <p:nvSpPr>
          <p:cNvPr id="20" name="Shape 16"/>
          <p:cNvSpPr/>
          <p:nvPr/>
        </p:nvSpPr>
        <p:spPr>
          <a:xfrm>
            <a:off x="4901565" y="2701647"/>
            <a:ext cx="2898338" cy="9525"/>
          </a:xfrm>
          <a:prstGeom prst="rect">
            <a:avLst/>
          </a:prstGeom>
          <a:solidFill>
            <a:srgbClr val="E1E9F2"/>
          </a:solidFill>
          <a:ln/>
        </p:spPr>
      </p:sp>
      <p:sp>
        <p:nvSpPr>
          <p:cNvPr id="21" name="Text 17"/>
          <p:cNvSpPr/>
          <p:nvPr/>
        </p:nvSpPr>
        <p:spPr>
          <a:xfrm>
            <a:off x="5073015" y="2309217"/>
            <a:ext cx="2642389" cy="31623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155,5 V</a:t>
            </a:r>
            <a:endParaRPr lang="en-US" sz="1725" dirty="0"/>
          </a:p>
        </p:txBody>
      </p:sp>
      <p:sp>
        <p:nvSpPr>
          <p:cNvPr id="22" name="Shape 18"/>
          <p:cNvSpPr/>
          <p:nvPr/>
        </p:nvSpPr>
        <p:spPr>
          <a:xfrm>
            <a:off x="7799904" y="2701647"/>
            <a:ext cx="2091214" cy="9525"/>
          </a:xfrm>
          <a:prstGeom prst="rect">
            <a:avLst/>
          </a:prstGeom>
          <a:solidFill>
            <a:srgbClr val="E1E9F2"/>
          </a:solidFill>
          <a:ln/>
        </p:spPr>
      </p:sp>
      <p:sp>
        <p:nvSpPr>
          <p:cNvPr id="23" name="Text 19"/>
          <p:cNvSpPr/>
          <p:nvPr/>
        </p:nvSpPr>
        <p:spPr>
          <a:xfrm>
            <a:off x="7971354" y="2309217"/>
            <a:ext cx="1824514" cy="31623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0,97%</a:t>
            </a:r>
            <a:endParaRPr lang="en-US" sz="1725" dirty="0"/>
          </a:p>
        </p:txBody>
      </p:sp>
      <p:sp>
        <p:nvSpPr>
          <p:cNvPr id="24" name="Shape 20"/>
          <p:cNvSpPr/>
          <p:nvPr/>
        </p:nvSpPr>
        <p:spPr>
          <a:xfrm>
            <a:off x="800100" y="2709267"/>
            <a:ext cx="1691283" cy="518160"/>
          </a:xfrm>
          <a:prstGeom prst="rect">
            <a:avLst/>
          </a:prstGeom>
          <a:solidFill>
            <a:srgbClr val="F6F9FD"/>
          </a:solidFill>
          <a:ln/>
        </p:spPr>
      </p:sp>
      <p:sp>
        <p:nvSpPr>
          <p:cNvPr id="25" name="Shape 21"/>
          <p:cNvSpPr/>
          <p:nvPr/>
        </p:nvSpPr>
        <p:spPr>
          <a:xfrm>
            <a:off x="800100" y="3219807"/>
            <a:ext cx="1691283" cy="9525"/>
          </a:xfrm>
          <a:prstGeom prst="rect">
            <a:avLst/>
          </a:prstGeom>
          <a:solidFill>
            <a:srgbClr val="E1E9F2"/>
          </a:solidFill>
          <a:ln/>
        </p:spPr>
      </p:sp>
      <p:sp>
        <p:nvSpPr>
          <p:cNvPr id="26" name="Text 22"/>
          <p:cNvSpPr/>
          <p:nvPr/>
        </p:nvSpPr>
        <p:spPr>
          <a:xfrm>
            <a:off x="971550" y="2823567"/>
            <a:ext cx="1424583"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75%</a:t>
            </a:r>
            <a:endParaRPr lang="en-US" sz="1725" dirty="0"/>
          </a:p>
        </p:txBody>
      </p:sp>
      <p:sp>
        <p:nvSpPr>
          <p:cNvPr id="27" name="Shape 23"/>
          <p:cNvSpPr/>
          <p:nvPr/>
        </p:nvSpPr>
        <p:spPr>
          <a:xfrm>
            <a:off x="2491383" y="2709267"/>
            <a:ext cx="2410182" cy="518160"/>
          </a:xfrm>
          <a:prstGeom prst="rect">
            <a:avLst/>
          </a:prstGeom>
          <a:solidFill>
            <a:srgbClr val="F6F9FD"/>
          </a:solidFill>
          <a:ln/>
        </p:spPr>
      </p:sp>
      <p:sp>
        <p:nvSpPr>
          <p:cNvPr id="28" name="Shape 24"/>
          <p:cNvSpPr/>
          <p:nvPr/>
        </p:nvSpPr>
        <p:spPr>
          <a:xfrm>
            <a:off x="2491383" y="3219807"/>
            <a:ext cx="2410182" cy="9525"/>
          </a:xfrm>
          <a:prstGeom prst="rect">
            <a:avLst/>
          </a:prstGeom>
          <a:solidFill>
            <a:srgbClr val="E1E9F2"/>
          </a:solidFill>
          <a:ln/>
        </p:spPr>
      </p:sp>
      <p:sp>
        <p:nvSpPr>
          <p:cNvPr id="29" name="Text 25"/>
          <p:cNvSpPr/>
          <p:nvPr/>
        </p:nvSpPr>
        <p:spPr>
          <a:xfrm>
            <a:off x="2662833" y="2823567"/>
            <a:ext cx="214348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165 V</a:t>
            </a:r>
            <a:endParaRPr lang="en-US" sz="1725" dirty="0"/>
          </a:p>
        </p:txBody>
      </p:sp>
      <p:sp>
        <p:nvSpPr>
          <p:cNvPr id="30" name="Shape 26"/>
          <p:cNvSpPr/>
          <p:nvPr/>
        </p:nvSpPr>
        <p:spPr>
          <a:xfrm>
            <a:off x="4901565" y="2709267"/>
            <a:ext cx="2898338" cy="518160"/>
          </a:xfrm>
          <a:prstGeom prst="rect">
            <a:avLst/>
          </a:prstGeom>
          <a:solidFill>
            <a:srgbClr val="F6F9FD"/>
          </a:solidFill>
          <a:ln/>
        </p:spPr>
      </p:sp>
      <p:sp>
        <p:nvSpPr>
          <p:cNvPr id="31" name="Shape 27"/>
          <p:cNvSpPr/>
          <p:nvPr/>
        </p:nvSpPr>
        <p:spPr>
          <a:xfrm>
            <a:off x="4901565" y="3219807"/>
            <a:ext cx="2898338" cy="9525"/>
          </a:xfrm>
          <a:prstGeom prst="rect">
            <a:avLst/>
          </a:prstGeom>
          <a:solidFill>
            <a:srgbClr val="E1E9F2"/>
          </a:solidFill>
          <a:ln/>
        </p:spPr>
      </p:sp>
      <p:sp>
        <p:nvSpPr>
          <p:cNvPr id="32" name="Text 28"/>
          <p:cNvSpPr/>
          <p:nvPr/>
        </p:nvSpPr>
        <p:spPr>
          <a:xfrm>
            <a:off x="5073015" y="2823567"/>
            <a:ext cx="2642389"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164,5 V</a:t>
            </a:r>
            <a:endParaRPr lang="en-US" sz="1725" dirty="0"/>
          </a:p>
        </p:txBody>
      </p:sp>
      <p:sp>
        <p:nvSpPr>
          <p:cNvPr id="33" name="Shape 29"/>
          <p:cNvSpPr/>
          <p:nvPr/>
        </p:nvSpPr>
        <p:spPr>
          <a:xfrm>
            <a:off x="7799904" y="2709267"/>
            <a:ext cx="2091214" cy="518160"/>
          </a:xfrm>
          <a:prstGeom prst="rect">
            <a:avLst/>
          </a:prstGeom>
          <a:solidFill>
            <a:srgbClr val="F6F9FD"/>
          </a:solidFill>
          <a:ln/>
        </p:spPr>
      </p:sp>
      <p:sp>
        <p:nvSpPr>
          <p:cNvPr id="34" name="Shape 30"/>
          <p:cNvSpPr/>
          <p:nvPr/>
        </p:nvSpPr>
        <p:spPr>
          <a:xfrm>
            <a:off x="7799904" y="3219807"/>
            <a:ext cx="2091214" cy="9525"/>
          </a:xfrm>
          <a:prstGeom prst="rect">
            <a:avLst/>
          </a:prstGeom>
          <a:solidFill>
            <a:srgbClr val="E1E9F2"/>
          </a:solidFill>
          <a:ln/>
        </p:spPr>
      </p:sp>
      <p:sp>
        <p:nvSpPr>
          <p:cNvPr id="35" name="Text 31"/>
          <p:cNvSpPr/>
          <p:nvPr/>
        </p:nvSpPr>
        <p:spPr>
          <a:xfrm>
            <a:off x="7971354" y="2823567"/>
            <a:ext cx="1824514"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0,30%</a:t>
            </a:r>
            <a:endParaRPr lang="en-US" sz="1725" dirty="0"/>
          </a:p>
        </p:txBody>
      </p:sp>
      <p:sp>
        <p:nvSpPr>
          <p:cNvPr id="36" name="Shape 32"/>
          <p:cNvSpPr/>
          <p:nvPr/>
        </p:nvSpPr>
        <p:spPr>
          <a:xfrm>
            <a:off x="800100" y="3737967"/>
            <a:ext cx="1691283" cy="9525"/>
          </a:xfrm>
          <a:prstGeom prst="rect">
            <a:avLst/>
          </a:prstGeom>
          <a:solidFill>
            <a:srgbClr val="E1E9F2"/>
          </a:solidFill>
          <a:ln/>
        </p:spPr>
      </p:sp>
      <p:sp>
        <p:nvSpPr>
          <p:cNvPr id="37" name="Text 33"/>
          <p:cNvSpPr/>
          <p:nvPr/>
        </p:nvSpPr>
        <p:spPr>
          <a:xfrm>
            <a:off x="971550" y="3341727"/>
            <a:ext cx="1424583"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80%</a:t>
            </a:r>
            <a:endParaRPr lang="en-US" sz="1725" dirty="0"/>
          </a:p>
        </p:txBody>
      </p:sp>
      <p:sp>
        <p:nvSpPr>
          <p:cNvPr id="38" name="Shape 34"/>
          <p:cNvSpPr/>
          <p:nvPr/>
        </p:nvSpPr>
        <p:spPr>
          <a:xfrm>
            <a:off x="2491383" y="3737967"/>
            <a:ext cx="2410182" cy="9525"/>
          </a:xfrm>
          <a:prstGeom prst="rect">
            <a:avLst/>
          </a:prstGeom>
          <a:solidFill>
            <a:srgbClr val="E1E9F2"/>
          </a:solidFill>
          <a:ln/>
        </p:spPr>
      </p:sp>
      <p:sp>
        <p:nvSpPr>
          <p:cNvPr id="39" name="Text 35"/>
          <p:cNvSpPr/>
          <p:nvPr/>
        </p:nvSpPr>
        <p:spPr>
          <a:xfrm>
            <a:off x="2662833" y="3341727"/>
            <a:ext cx="214348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176 V</a:t>
            </a:r>
            <a:endParaRPr lang="en-US" sz="1725" dirty="0"/>
          </a:p>
        </p:txBody>
      </p:sp>
      <p:sp>
        <p:nvSpPr>
          <p:cNvPr id="40" name="Shape 36"/>
          <p:cNvSpPr/>
          <p:nvPr/>
        </p:nvSpPr>
        <p:spPr>
          <a:xfrm>
            <a:off x="4901565" y="3737967"/>
            <a:ext cx="2898338" cy="9525"/>
          </a:xfrm>
          <a:prstGeom prst="rect">
            <a:avLst/>
          </a:prstGeom>
          <a:solidFill>
            <a:srgbClr val="E1E9F2"/>
          </a:solidFill>
          <a:ln/>
        </p:spPr>
      </p:sp>
      <p:sp>
        <p:nvSpPr>
          <p:cNvPr id="41" name="Text 37"/>
          <p:cNvSpPr/>
          <p:nvPr/>
        </p:nvSpPr>
        <p:spPr>
          <a:xfrm>
            <a:off x="5073015" y="3341727"/>
            <a:ext cx="2642389"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174,9 V</a:t>
            </a:r>
            <a:endParaRPr lang="en-US" sz="1725" dirty="0"/>
          </a:p>
        </p:txBody>
      </p:sp>
      <p:sp>
        <p:nvSpPr>
          <p:cNvPr id="42" name="Shape 38"/>
          <p:cNvSpPr/>
          <p:nvPr/>
        </p:nvSpPr>
        <p:spPr>
          <a:xfrm>
            <a:off x="7799904" y="3737967"/>
            <a:ext cx="2091214" cy="9525"/>
          </a:xfrm>
          <a:prstGeom prst="rect">
            <a:avLst/>
          </a:prstGeom>
          <a:solidFill>
            <a:srgbClr val="E1E9F2"/>
          </a:solidFill>
          <a:ln/>
        </p:spPr>
      </p:sp>
      <p:sp>
        <p:nvSpPr>
          <p:cNvPr id="43" name="Text 39"/>
          <p:cNvSpPr/>
          <p:nvPr/>
        </p:nvSpPr>
        <p:spPr>
          <a:xfrm>
            <a:off x="7971354" y="3341727"/>
            <a:ext cx="1824514"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0,63%</a:t>
            </a:r>
            <a:endParaRPr lang="en-US" sz="1725" dirty="0"/>
          </a:p>
        </p:txBody>
      </p:sp>
      <p:sp>
        <p:nvSpPr>
          <p:cNvPr id="44" name="Shape 40"/>
          <p:cNvSpPr/>
          <p:nvPr/>
        </p:nvSpPr>
        <p:spPr>
          <a:xfrm>
            <a:off x="800100" y="3745587"/>
            <a:ext cx="1691283" cy="518160"/>
          </a:xfrm>
          <a:prstGeom prst="rect">
            <a:avLst/>
          </a:prstGeom>
          <a:solidFill>
            <a:srgbClr val="F6F9FD"/>
          </a:solidFill>
          <a:ln/>
        </p:spPr>
      </p:sp>
      <p:sp>
        <p:nvSpPr>
          <p:cNvPr id="45" name="Shape 41"/>
          <p:cNvSpPr/>
          <p:nvPr/>
        </p:nvSpPr>
        <p:spPr>
          <a:xfrm>
            <a:off x="800100" y="4256127"/>
            <a:ext cx="1691283" cy="9525"/>
          </a:xfrm>
          <a:prstGeom prst="rect">
            <a:avLst/>
          </a:prstGeom>
          <a:solidFill>
            <a:srgbClr val="E1E9F2"/>
          </a:solidFill>
          <a:ln/>
        </p:spPr>
      </p:sp>
      <p:sp>
        <p:nvSpPr>
          <p:cNvPr id="46" name="Text 42"/>
          <p:cNvSpPr/>
          <p:nvPr/>
        </p:nvSpPr>
        <p:spPr>
          <a:xfrm>
            <a:off x="971550" y="3859887"/>
            <a:ext cx="1424583"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85%</a:t>
            </a:r>
            <a:endParaRPr lang="en-US" sz="1725" dirty="0"/>
          </a:p>
        </p:txBody>
      </p:sp>
      <p:sp>
        <p:nvSpPr>
          <p:cNvPr id="47" name="Shape 43"/>
          <p:cNvSpPr/>
          <p:nvPr/>
        </p:nvSpPr>
        <p:spPr>
          <a:xfrm>
            <a:off x="2491383" y="3745587"/>
            <a:ext cx="2410182" cy="518160"/>
          </a:xfrm>
          <a:prstGeom prst="rect">
            <a:avLst/>
          </a:prstGeom>
          <a:solidFill>
            <a:srgbClr val="F6F9FD"/>
          </a:solidFill>
          <a:ln/>
        </p:spPr>
      </p:sp>
      <p:sp>
        <p:nvSpPr>
          <p:cNvPr id="48" name="Shape 44"/>
          <p:cNvSpPr/>
          <p:nvPr/>
        </p:nvSpPr>
        <p:spPr>
          <a:xfrm>
            <a:off x="2491383" y="4256127"/>
            <a:ext cx="2410182" cy="9525"/>
          </a:xfrm>
          <a:prstGeom prst="rect">
            <a:avLst/>
          </a:prstGeom>
          <a:solidFill>
            <a:srgbClr val="E1E9F2"/>
          </a:solidFill>
          <a:ln/>
        </p:spPr>
      </p:sp>
      <p:sp>
        <p:nvSpPr>
          <p:cNvPr id="49" name="Text 45"/>
          <p:cNvSpPr/>
          <p:nvPr/>
        </p:nvSpPr>
        <p:spPr>
          <a:xfrm>
            <a:off x="2662833" y="3859887"/>
            <a:ext cx="214348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187 V</a:t>
            </a:r>
            <a:endParaRPr lang="en-US" sz="1725" dirty="0"/>
          </a:p>
        </p:txBody>
      </p:sp>
      <p:sp>
        <p:nvSpPr>
          <p:cNvPr id="50" name="Shape 46"/>
          <p:cNvSpPr/>
          <p:nvPr/>
        </p:nvSpPr>
        <p:spPr>
          <a:xfrm>
            <a:off x="4901565" y="3745587"/>
            <a:ext cx="2898338" cy="518160"/>
          </a:xfrm>
          <a:prstGeom prst="rect">
            <a:avLst/>
          </a:prstGeom>
          <a:solidFill>
            <a:srgbClr val="F6F9FD"/>
          </a:solidFill>
          <a:ln/>
        </p:spPr>
      </p:sp>
      <p:sp>
        <p:nvSpPr>
          <p:cNvPr id="51" name="Shape 47"/>
          <p:cNvSpPr/>
          <p:nvPr/>
        </p:nvSpPr>
        <p:spPr>
          <a:xfrm>
            <a:off x="4901565" y="4256127"/>
            <a:ext cx="2898338" cy="9525"/>
          </a:xfrm>
          <a:prstGeom prst="rect">
            <a:avLst/>
          </a:prstGeom>
          <a:solidFill>
            <a:srgbClr val="E1E9F2"/>
          </a:solidFill>
          <a:ln/>
        </p:spPr>
      </p:sp>
      <p:sp>
        <p:nvSpPr>
          <p:cNvPr id="52" name="Text 48"/>
          <p:cNvSpPr/>
          <p:nvPr/>
        </p:nvSpPr>
        <p:spPr>
          <a:xfrm>
            <a:off x="5073015" y="3859887"/>
            <a:ext cx="2642389"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185,7 V</a:t>
            </a:r>
            <a:endParaRPr lang="en-US" sz="1725" dirty="0"/>
          </a:p>
        </p:txBody>
      </p:sp>
      <p:sp>
        <p:nvSpPr>
          <p:cNvPr id="53" name="Shape 49"/>
          <p:cNvSpPr/>
          <p:nvPr/>
        </p:nvSpPr>
        <p:spPr>
          <a:xfrm>
            <a:off x="7799904" y="3745587"/>
            <a:ext cx="2091214" cy="518160"/>
          </a:xfrm>
          <a:prstGeom prst="rect">
            <a:avLst/>
          </a:prstGeom>
          <a:solidFill>
            <a:srgbClr val="F6F9FD"/>
          </a:solidFill>
          <a:ln/>
        </p:spPr>
      </p:sp>
      <p:sp>
        <p:nvSpPr>
          <p:cNvPr id="54" name="Shape 50"/>
          <p:cNvSpPr/>
          <p:nvPr/>
        </p:nvSpPr>
        <p:spPr>
          <a:xfrm>
            <a:off x="7799904" y="4256127"/>
            <a:ext cx="2091214" cy="9525"/>
          </a:xfrm>
          <a:prstGeom prst="rect">
            <a:avLst/>
          </a:prstGeom>
          <a:solidFill>
            <a:srgbClr val="E1E9F2"/>
          </a:solidFill>
          <a:ln/>
        </p:spPr>
      </p:sp>
      <p:sp>
        <p:nvSpPr>
          <p:cNvPr id="55" name="Text 51"/>
          <p:cNvSpPr/>
          <p:nvPr/>
        </p:nvSpPr>
        <p:spPr>
          <a:xfrm>
            <a:off x="7971354" y="3859887"/>
            <a:ext cx="1824514"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0,70%</a:t>
            </a:r>
            <a:endParaRPr lang="en-US" sz="1725" dirty="0"/>
          </a:p>
        </p:txBody>
      </p:sp>
      <p:sp>
        <p:nvSpPr>
          <p:cNvPr id="56" name="Shape 52"/>
          <p:cNvSpPr/>
          <p:nvPr/>
        </p:nvSpPr>
        <p:spPr>
          <a:xfrm>
            <a:off x="800100" y="4774287"/>
            <a:ext cx="1691283" cy="9525"/>
          </a:xfrm>
          <a:prstGeom prst="rect">
            <a:avLst/>
          </a:prstGeom>
          <a:solidFill>
            <a:srgbClr val="E1E9F2"/>
          </a:solidFill>
          <a:ln/>
        </p:spPr>
      </p:sp>
      <p:sp>
        <p:nvSpPr>
          <p:cNvPr id="57" name="Text 53"/>
          <p:cNvSpPr/>
          <p:nvPr/>
        </p:nvSpPr>
        <p:spPr>
          <a:xfrm>
            <a:off x="971550" y="4378047"/>
            <a:ext cx="1424583"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90%</a:t>
            </a:r>
            <a:endParaRPr lang="en-US" sz="1725" dirty="0"/>
          </a:p>
        </p:txBody>
      </p:sp>
      <p:sp>
        <p:nvSpPr>
          <p:cNvPr id="58" name="Shape 54"/>
          <p:cNvSpPr/>
          <p:nvPr/>
        </p:nvSpPr>
        <p:spPr>
          <a:xfrm>
            <a:off x="2491383" y="4774287"/>
            <a:ext cx="2410182" cy="9525"/>
          </a:xfrm>
          <a:prstGeom prst="rect">
            <a:avLst/>
          </a:prstGeom>
          <a:solidFill>
            <a:srgbClr val="E1E9F2"/>
          </a:solidFill>
          <a:ln/>
        </p:spPr>
      </p:sp>
      <p:sp>
        <p:nvSpPr>
          <p:cNvPr id="59" name="Text 55"/>
          <p:cNvSpPr/>
          <p:nvPr/>
        </p:nvSpPr>
        <p:spPr>
          <a:xfrm>
            <a:off x="2662833" y="4378047"/>
            <a:ext cx="214348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198 V</a:t>
            </a:r>
            <a:endParaRPr lang="en-US" sz="1725" dirty="0"/>
          </a:p>
        </p:txBody>
      </p:sp>
      <p:sp>
        <p:nvSpPr>
          <p:cNvPr id="60" name="Shape 56"/>
          <p:cNvSpPr/>
          <p:nvPr/>
        </p:nvSpPr>
        <p:spPr>
          <a:xfrm>
            <a:off x="4901565" y="4774287"/>
            <a:ext cx="2898338" cy="9525"/>
          </a:xfrm>
          <a:prstGeom prst="rect">
            <a:avLst/>
          </a:prstGeom>
          <a:solidFill>
            <a:srgbClr val="E1E9F2"/>
          </a:solidFill>
          <a:ln/>
        </p:spPr>
      </p:sp>
      <p:sp>
        <p:nvSpPr>
          <p:cNvPr id="61" name="Text 57"/>
          <p:cNvSpPr/>
          <p:nvPr/>
        </p:nvSpPr>
        <p:spPr>
          <a:xfrm>
            <a:off x="5073015" y="4378047"/>
            <a:ext cx="2642389"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196,6 V</a:t>
            </a:r>
            <a:endParaRPr lang="en-US" sz="1725" dirty="0"/>
          </a:p>
        </p:txBody>
      </p:sp>
      <p:sp>
        <p:nvSpPr>
          <p:cNvPr id="62" name="Shape 58"/>
          <p:cNvSpPr/>
          <p:nvPr/>
        </p:nvSpPr>
        <p:spPr>
          <a:xfrm>
            <a:off x="7799904" y="4774287"/>
            <a:ext cx="2091214" cy="9525"/>
          </a:xfrm>
          <a:prstGeom prst="rect">
            <a:avLst/>
          </a:prstGeom>
          <a:solidFill>
            <a:srgbClr val="E1E9F2"/>
          </a:solidFill>
          <a:ln/>
        </p:spPr>
      </p:sp>
      <p:sp>
        <p:nvSpPr>
          <p:cNvPr id="63" name="Text 59"/>
          <p:cNvSpPr/>
          <p:nvPr/>
        </p:nvSpPr>
        <p:spPr>
          <a:xfrm>
            <a:off x="7971354" y="4378047"/>
            <a:ext cx="1824514"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0,71%</a:t>
            </a:r>
            <a:endParaRPr lang="en-US" sz="1725" dirty="0"/>
          </a:p>
        </p:txBody>
      </p:sp>
      <p:sp>
        <p:nvSpPr>
          <p:cNvPr id="64" name="Shape 60"/>
          <p:cNvSpPr/>
          <p:nvPr/>
        </p:nvSpPr>
        <p:spPr>
          <a:xfrm>
            <a:off x="800100" y="4781907"/>
            <a:ext cx="1691283" cy="518160"/>
          </a:xfrm>
          <a:prstGeom prst="rect">
            <a:avLst/>
          </a:prstGeom>
          <a:solidFill>
            <a:srgbClr val="F6F9FD"/>
          </a:solidFill>
          <a:ln/>
        </p:spPr>
      </p:sp>
      <p:sp>
        <p:nvSpPr>
          <p:cNvPr id="65" name="Shape 61"/>
          <p:cNvSpPr/>
          <p:nvPr/>
        </p:nvSpPr>
        <p:spPr>
          <a:xfrm>
            <a:off x="800100" y="5292447"/>
            <a:ext cx="1691283" cy="9525"/>
          </a:xfrm>
          <a:prstGeom prst="rect">
            <a:avLst/>
          </a:prstGeom>
          <a:solidFill>
            <a:srgbClr val="E1E9F2"/>
          </a:solidFill>
          <a:ln/>
        </p:spPr>
      </p:sp>
      <p:sp>
        <p:nvSpPr>
          <p:cNvPr id="66" name="Text 62"/>
          <p:cNvSpPr/>
          <p:nvPr/>
        </p:nvSpPr>
        <p:spPr>
          <a:xfrm>
            <a:off x="971550" y="4896207"/>
            <a:ext cx="1424583"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95%</a:t>
            </a:r>
            <a:endParaRPr lang="en-US" sz="1725" dirty="0"/>
          </a:p>
        </p:txBody>
      </p:sp>
      <p:sp>
        <p:nvSpPr>
          <p:cNvPr id="67" name="Shape 63"/>
          <p:cNvSpPr/>
          <p:nvPr/>
        </p:nvSpPr>
        <p:spPr>
          <a:xfrm>
            <a:off x="2491383" y="4781907"/>
            <a:ext cx="2410182" cy="518160"/>
          </a:xfrm>
          <a:prstGeom prst="rect">
            <a:avLst/>
          </a:prstGeom>
          <a:solidFill>
            <a:srgbClr val="F6F9FD"/>
          </a:solidFill>
          <a:ln/>
        </p:spPr>
      </p:sp>
      <p:sp>
        <p:nvSpPr>
          <p:cNvPr id="68" name="Shape 64"/>
          <p:cNvSpPr/>
          <p:nvPr/>
        </p:nvSpPr>
        <p:spPr>
          <a:xfrm>
            <a:off x="2491383" y="5292447"/>
            <a:ext cx="2410182" cy="9525"/>
          </a:xfrm>
          <a:prstGeom prst="rect">
            <a:avLst/>
          </a:prstGeom>
          <a:solidFill>
            <a:srgbClr val="E1E9F2"/>
          </a:solidFill>
          <a:ln/>
        </p:spPr>
      </p:sp>
      <p:sp>
        <p:nvSpPr>
          <p:cNvPr id="69" name="Text 65"/>
          <p:cNvSpPr/>
          <p:nvPr/>
        </p:nvSpPr>
        <p:spPr>
          <a:xfrm>
            <a:off x="2662833" y="4896207"/>
            <a:ext cx="2143482"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209 V</a:t>
            </a:r>
            <a:endParaRPr lang="en-US" sz="1725" dirty="0"/>
          </a:p>
        </p:txBody>
      </p:sp>
      <p:sp>
        <p:nvSpPr>
          <p:cNvPr id="70" name="Shape 66"/>
          <p:cNvSpPr/>
          <p:nvPr/>
        </p:nvSpPr>
        <p:spPr>
          <a:xfrm>
            <a:off x="4901565" y="4781907"/>
            <a:ext cx="2898338" cy="518160"/>
          </a:xfrm>
          <a:prstGeom prst="rect">
            <a:avLst/>
          </a:prstGeom>
          <a:solidFill>
            <a:srgbClr val="F6F9FD"/>
          </a:solidFill>
          <a:ln/>
        </p:spPr>
      </p:sp>
      <p:sp>
        <p:nvSpPr>
          <p:cNvPr id="71" name="Shape 67"/>
          <p:cNvSpPr/>
          <p:nvPr/>
        </p:nvSpPr>
        <p:spPr>
          <a:xfrm>
            <a:off x="4901565" y="5292447"/>
            <a:ext cx="2898338" cy="9525"/>
          </a:xfrm>
          <a:prstGeom prst="rect">
            <a:avLst/>
          </a:prstGeom>
          <a:solidFill>
            <a:srgbClr val="E1E9F2"/>
          </a:solidFill>
          <a:ln/>
        </p:spPr>
      </p:sp>
      <p:sp>
        <p:nvSpPr>
          <p:cNvPr id="72" name="Text 68"/>
          <p:cNvSpPr/>
          <p:nvPr/>
        </p:nvSpPr>
        <p:spPr>
          <a:xfrm>
            <a:off x="5073015" y="4896207"/>
            <a:ext cx="2642389"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207,3 V</a:t>
            </a:r>
            <a:endParaRPr lang="en-US" sz="1725" dirty="0"/>
          </a:p>
        </p:txBody>
      </p:sp>
      <p:sp>
        <p:nvSpPr>
          <p:cNvPr id="73" name="Shape 69"/>
          <p:cNvSpPr/>
          <p:nvPr/>
        </p:nvSpPr>
        <p:spPr>
          <a:xfrm>
            <a:off x="7799904" y="4781907"/>
            <a:ext cx="2091214" cy="518160"/>
          </a:xfrm>
          <a:prstGeom prst="rect">
            <a:avLst/>
          </a:prstGeom>
          <a:solidFill>
            <a:srgbClr val="F6F9FD"/>
          </a:solidFill>
          <a:ln/>
        </p:spPr>
      </p:sp>
      <p:sp>
        <p:nvSpPr>
          <p:cNvPr id="74" name="Shape 70"/>
          <p:cNvSpPr/>
          <p:nvPr/>
        </p:nvSpPr>
        <p:spPr>
          <a:xfrm>
            <a:off x="7799904" y="5292447"/>
            <a:ext cx="2091214" cy="9525"/>
          </a:xfrm>
          <a:prstGeom prst="rect">
            <a:avLst/>
          </a:prstGeom>
          <a:solidFill>
            <a:srgbClr val="E1E9F2"/>
          </a:solidFill>
          <a:ln/>
        </p:spPr>
      </p:sp>
      <p:sp>
        <p:nvSpPr>
          <p:cNvPr id="75" name="Text 71"/>
          <p:cNvSpPr/>
          <p:nvPr/>
        </p:nvSpPr>
        <p:spPr>
          <a:xfrm>
            <a:off x="7971354" y="4896207"/>
            <a:ext cx="1824514"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0,81%</a:t>
            </a:r>
            <a:endParaRPr lang="en-US" sz="1725" dirty="0"/>
          </a:p>
        </p:txBody>
      </p:sp>
      <p:sp>
        <p:nvSpPr>
          <p:cNvPr id="76" name="Text 72"/>
          <p:cNvSpPr/>
          <p:nvPr/>
        </p:nvSpPr>
        <p:spPr>
          <a:xfrm>
            <a:off x="10214967" y="4250531"/>
            <a:ext cx="8000226"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b="1" kern="0" spc="-75" dirty="0">
                <a:solidFill>
                  <a:srgbClr val="1763A6"/>
                </a:solidFill>
                <a:latin typeface="Arial" pitchFamily="34" charset="0"/>
                <a:ea typeface="Arial" pitchFamily="34" charset="-122"/>
                <a:cs typeface="Arial" pitchFamily="34" charset="-120"/>
              </a:rPr>
              <a:t>0,69</a:t>
            </a:r>
            <a:r>
              <a:rPr lang="en-US" sz="2250" b="1" kern="0" spc="-75" dirty="0">
                <a:solidFill>
                  <a:srgbClr val="1763A6"/>
                </a:solidFill>
                <a:latin typeface="Arial" pitchFamily="34" charset="0"/>
                <a:ea typeface="Arial" pitchFamily="34" charset="-122"/>
                <a:cs typeface="Arial" pitchFamily="34" charset="-120"/>
              </a:rPr>
              <a:t>%</a:t>
            </a:r>
            <a:endParaRPr lang="en-US" sz="4500" dirty="0"/>
          </a:p>
        </p:txBody>
      </p:sp>
      <p:sp>
        <p:nvSpPr>
          <p:cNvPr id="77" name="Text 73"/>
          <p:cNvSpPr/>
          <p:nvPr/>
        </p:nvSpPr>
        <p:spPr>
          <a:xfrm>
            <a:off x="10214967" y="4841081"/>
            <a:ext cx="8000226" cy="288131"/>
          </a:xfrm>
          <a:prstGeom prst="rect">
            <a:avLst/>
          </a:prstGeom>
          <a:noFill/>
          <a:ln/>
        </p:spPr>
        <p:txBody>
          <a:bodyPr wrap="square" lIns="25400" tIns="25400" rIns="25400" bIns="25400" rtlCol="0" anchor="t">
            <a:normAutofit/>
          </a:bodyPr>
          <a:lstStyle/>
          <a:p>
            <a:pPr marL="0" indent="0" algn="l">
              <a:lnSpc>
                <a:spcPct val="125000"/>
              </a:lnSpc>
              <a:buNone/>
            </a:pPr>
            <a:r>
              <a:rPr lang="en-US" sz="1575" dirty="0">
                <a:solidFill>
                  <a:srgbClr val="48607A"/>
                </a:solidFill>
                <a:latin typeface="Arial" pitchFamily="34" charset="0"/>
                <a:ea typeface="Arial" pitchFamily="34" charset="-122"/>
                <a:cs typeface="Arial" pitchFamily="34" charset="-120"/>
              </a:rPr>
              <a:t>selisih rata-rata tegangan RMS terukur vs. teori</a:t>
            </a:r>
            <a:endParaRPr lang="en-US" sz="1575" dirty="0"/>
          </a:p>
        </p:txBody>
      </p:sp>
      <p:sp>
        <p:nvSpPr>
          <p:cNvPr id="78" name="Shape 74"/>
          <p:cNvSpPr/>
          <p:nvPr/>
        </p:nvSpPr>
        <p:spPr>
          <a:xfrm>
            <a:off x="10214967" y="5338763"/>
            <a:ext cx="7272933" cy="1435298"/>
          </a:xfrm>
          <a:prstGeom prst="roundRect">
            <a:avLst>
              <a:gd name="adj" fmla="val 9291"/>
            </a:avLst>
          </a:prstGeom>
          <a:gradFill rotWithShape="1">
            <a:gsLst>
              <a:gs pos="0">
                <a:srgbClr val="103A63">
                  <a:alpha val="100000"/>
                </a:srgbClr>
              </a:gs>
              <a:gs pos="100000">
                <a:srgbClr val="1763A6">
                  <a:alpha val="100000"/>
                </a:srgbClr>
              </a:gs>
            </a:gsLst>
            <a:lin ang="2700000" scaled="0"/>
          </a:gradFill>
          <a:ln/>
        </p:spPr>
      </p:sp>
      <p:sp>
        <p:nvSpPr>
          <p:cNvPr id="79" name="Text 75"/>
          <p:cNvSpPr/>
          <p:nvPr/>
        </p:nvSpPr>
        <p:spPr>
          <a:xfrm>
            <a:off x="10462617" y="5567363"/>
            <a:ext cx="7455396" cy="312420"/>
          </a:xfrm>
          <a:prstGeom prst="rect">
            <a:avLst/>
          </a:prstGeom>
          <a:noFill/>
          <a:ln/>
        </p:spPr>
        <p:txBody>
          <a:bodyPr wrap="square" lIns="25400" tIns="25400" rIns="25400" bIns="25400" rtlCol="0" anchor="t">
            <a:normAutofit/>
          </a:bodyPr>
          <a:lstStyle/>
          <a:p>
            <a:pPr marL="0" indent="0" algn="l">
              <a:buNone/>
            </a:pPr>
            <a:r>
              <a:rPr lang="en-US" sz="1875" b="1" dirty="0">
                <a:solidFill>
                  <a:srgbClr val="FFFFFF"/>
                </a:solidFill>
                <a:latin typeface="Arial" pitchFamily="34" charset="0"/>
                <a:ea typeface="Arial" pitchFamily="34" charset="-122"/>
                <a:cs typeface="Arial" pitchFamily="34" charset="-120"/>
              </a:rPr>
              <a:t>Linear &amp; akurat</a:t>
            </a:r>
            <a:endParaRPr lang="en-US" sz="1875" dirty="0"/>
          </a:p>
        </p:txBody>
      </p:sp>
      <p:sp>
        <p:nvSpPr>
          <p:cNvPr id="80" name="Text 76"/>
          <p:cNvSpPr/>
          <p:nvPr/>
        </p:nvSpPr>
        <p:spPr>
          <a:xfrm>
            <a:off x="10462617" y="5917882"/>
            <a:ext cx="6980962" cy="665678"/>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DCEBFA"/>
                </a:solidFill>
                <a:latin typeface="Arial" pitchFamily="34" charset="0"/>
                <a:ea typeface="Arial" pitchFamily="34" charset="-122"/>
                <a:cs typeface="Arial" pitchFamily="34" charset="-120"/>
              </a:rPr>
              <a:t>Tegangan RMS keluaran mengikuti </a:t>
            </a:r>
            <a:r>
              <a:rPr lang="en-US" sz="1725" b="1" dirty="0">
                <a:solidFill>
                  <a:srgbClr val="FFFFFF"/>
                </a:solidFill>
                <a:latin typeface="Arial" pitchFamily="34" charset="0"/>
                <a:ea typeface="Arial" pitchFamily="34" charset="-122"/>
                <a:cs typeface="Arial" pitchFamily="34" charset="-120"/>
              </a:rPr>
              <a:t>V</a:t>
            </a:r>
            <a:r>
              <a:rPr lang="en-US" sz="1438" b="1" baseline="-40000" dirty="0">
                <a:solidFill>
                  <a:srgbClr val="FFFFFF"/>
                </a:solidFill>
                <a:latin typeface="Arial" pitchFamily="34" charset="0"/>
                <a:ea typeface="Arial" pitchFamily="34" charset="-122"/>
                <a:cs typeface="Arial" pitchFamily="34" charset="-120"/>
              </a:rPr>
              <a:t>out </a:t>
            </a:r>
            <a:r>
              <a:rPr lang="en-US" sz="1725" b="1" dirty="0">
                <a:solidFill>
                  <a:srgbClr val="FFFFFF"/>
                </a:solidFill>
                <a:latin typeface="Arial" pitchFamily="34" charset="0"/>
                <a:ea typeface="Arial" pitchFamily="34" charset="-122"/>
                <a:cs typeface="Arial" pitchFamily="34" charset="-120"/>
              </a:rPr>
              <a:t>= D · V</a:t>
            </a:r>
            <a:r>
              <a:rPr lang="en-US" sz="1438" b="1" baseline="-40000" dirty="0">
                <a:solidFill>
                  <a:srgbClr val="FFFFFF"/>
                </a:solidFill>
                <a:latin typeface="Arial" pitchFamily="34" charset="0"/>
                <a:ea typeface="Arial" pitchFamily="34" charset="-122"/>
                <a:cs typeface="Arial" pitchFamily="34" charset="-120"/>
              </a:rPr>
              <a:t>in </a:t>
            </a:r>
            <a:r>
              <a:rPr lang="en-US" sz="1725" dirty="0">
                <a:solidFill>
                  <a:srgbClr val="DCEBFA"/>
                </a:solidFill>
                <a:latin typeface="Arial" pitchFamily="34" charset="0"/>
                <a:ea typeface="Arial" pitchFamily="34" charset="-122"/>
                <a:cs typeface="Arial" pitchFamily="34" charset="-120"/>
              </a:rPr>
              <a:t>pada seluruh rentang kerja 70–95%; bentuk gelombang sesuai simulasi PSIM.</a:t>
            </a:r>
            <a:endParaRPr lang="en-US" sz="1725" dirty="0"/>
          </a:p>
        </p:txBody>
      </p:sp>
      <p:sp>
        <p:nvSpPr>
          <p:cNvPr id="81" name="Shape 77"/>
          <p:cNvSpPr/>
          <p:nvPr/>
        </p:nvSpPr>
        <p:spPr>
          <a:xfrm>
            <a:off x="0" y="9486900"/>
            <a:ext cx="18288000" cy="9525"/>
          </a:xfrm>
          <a:prstGeom prst="rect">
            <a:avLst/>
          </a:prstGeom>
          <a:solidFill>
            <a:srgbClr val="E1E9F2"/>
          </a:solidFill>
          <a:ln/>
        </p:spPr>
      </p:sp>
      <p:sp>
        <p:nvSpPr>
          <p:cNvPr id="82" name="Text 78"/>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83" name="Text 79"/>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84" name="Text 80"/>
          <p:cNvSpPr/>
          <p:nvPr/>
        </p:nvSpPr>
        <p:spPr>
          <a:xfrm>
            <a:off x="4277678"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85" name="Shape 81"/>
          <p:cNvSpPr/>
          <p:nvPr/>
        </p:nvSpPr>
        <p:spPr>
          <a:xfrm>
            <a:off x="5639753" y="10023158"/>
            <a:ext cx="1686878" cy="22860"/>
          </a:xfrm>
          <a:prstGeom prst="rect">
            <a:avLst/>
          </a:prstGeom>
          <a:solidFill>
            <a:srgbClr val="2E86DE"/>
          </a:solidFill>
          <a:ln/>
        </p:spPr>
      </p:sp>
      <p:sp>
        <p:nvSpPr>
          <p:cNvPr id="86" name="Text 82"/>
          <p:cNvSpPr/>
          <p:nvPr/>
        </p:nvSpPr>
        <p:spPr>
          <a:xfrm>
            <a:off x="5639753" y="9758363"/>
            <a:ext cx="176307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Hasil &amp; Pembahasan</a:t>
            </a:r>
            <a:endParaRPr lang="en-US" sz="1350" dirty="0"/>
          </a:p>
        </p:txBody>
      </p:sp>
      <p:sp>
        <p:nvSpPr>
          <p:cNvPr id="87" name="Text 83"/>
          <p:cNvSpPr/>
          <p:nvPr/>
        </p:nvSpPr>
        <p:spPr>
          <a:xfrm>
            <a:off x="7612380"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88" name="Text 84"/>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8420243"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IV · HASIL</a:t>
            </a:r>
            <a:endParaRPr lang="en-US" sz="1500" dirty="0"/>
          </a:p>
        </p:txBody>
      </p:sp>
      <p:sp>
        <p:nvSpPr>
          <p:cNvPr id="5" name="Text 3"/>
          <p:cNvSpPr/>
          <p:nvPr/>
        </p:nvSpPr>
        <p:spPr>
          <a:xfrm>
            <a:off x="1108710" y="830580"/>
            <a:ext cx="8420243"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Pengujian Model Neural Network</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Text 4"/>
          <p:cNvSpPr/>
          <p:nvPr/>
        </p:nvSpPr>
        <p:spPr>
          <a:xfrm>
            <a:off x="800100" y="1671042"/>
            <a:ext cx="2407337"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b="1" kern="0" spc="-75" dirty="0">
                <a:solidFill>
                  <a:srgbClr val="1763A6"/>
                </a:solidFill>
                <a:latin typeface="Arial" pitchFamily="34" charset="0"/>
                <a:ea typeface="Arial" pitchFamily="34" charset="-122"/>
                <a:cs typeface="Arial" pitchFamily="34" charset="-120"/>
              </a:rPr>
              <a:t>0,915</a:t>
            </a:r>
            <a:endParaRPr lang="en-US" sz="4500" dirty="0"/>
          </a:p>
        </p:txBody>
      </p:sp>
      <p:sp>
        <p:nvSpPr>
          <p:cNvPr id="9" name="Text 5"/>
          <p:cNvSpPr/>
          <p:nvPr/>
        </p:nvSpPr>
        <p:spPr>
          <a:xfrm>
            <a:off x="800100" y="2261592"/>
            <a:ext cx="2264688" cy="538163"/>
          </a:xfrm>
          <a:prstGeom prst="rect">
            <a:avLst/>
          </a:prstGeom>
          <a:noFill/>
          <a:ln/>
        </p:spPr>
        <p:txBody>
          <a:bodyPr wrap="square" lIns="25400" tIns="25400" rIns="25400" bIns="25400" rtlCol="0" anchor="t">
            <a:normAutofit/>
          </a:bodyPr>
          <a:lstStyle/>
          <a:p>
            <a:pPr marL="0" indent="0" algn="l">
              <a:lnSpc>
                <a:spcPct val="125000"/>
              </a:lnSpc>
              <a:buNone/>
            </a:pPr>
            <a:r>
              <a:rPr lang="en-US" sz="1575" dirty="0">
                <a:solidFill>
                  <a:srgbClr val="48607A"/>
                </a:solidFill>
                <a:latin typeface="Arial" pitchFamily="34" charset="0"/>
                <a:ea typeface="Arial" pitchFamily="34" charset="-122"/>
                <a:cs typeface="Arial" pitchFamily="34" charset="-120"/>
              </a:rPr>
              <a:t>Koefisien determinasi R² pada data uji</a:t>
            </a:r>
            <a:endParaRPr lang="en-US" sz="1575" dirty="0"/>
          </a:p>
        </p:txBody>
      </p:sp>
      <p:sp>
        <p:nvSpPr>
          <p:cNvPr id="10" name="Text 6"/>
          <p:cNvSpPr/>
          <p:nvPr/>
        </p:nvSpPr>
        <p:spPr>
          <a:xfrm>
            <a:off x="3598188" y="1671042"/>
            <a:ext cx="1789819"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b="1" kern="0" spc="-75" dirty="0">
                <a:solidFill>
                  <a:srgbClr val="1763A6"/>
                </a:solidFill>
                <a:latin typeface="Arial" pitchFamily="34" charset="0"/>
                <a:ea typeface="Arial" pitchFamily="34" charset="-122"/>
                <a:cs typeface="Arial" pitchFamily="34" charset="-120"/>
              </a:rPr>
              <a:t>0,463</a:t>
            </a:r>
            <a:r>
              <a:rPr lang="en-US" sz="2250" b="1" kern="0" spc="-75" dirty="0">
                <a:solidFill>
                  <a:srgbClr val="1763A6"/>
                </a:solidFill>
                <a:latin typeface="Arial" pitchFamily="34" charset="0"/>
                <a:ea typeface="Arial" pitchFamily="34" charset="-122"/>
                <a:cs typeface="Arial" pitchFamily="34" charset="-120"/>
              </a:rPr>
              <a:t>%</a:t>
            </a:r>
            <a:endParaRPr lang="en-US" sz="4500" dirty="0"/>
          </a:p>
        </p:txBody>
      </p:sp>
      <p:sp>
        <p:nvSpPr>
          <p:cNvPr id="11" name="Text 7"/>
          <p:cNvSpPr/>
          <p:nvPr/>
        </p:nvSpPr>
        <p:spPr>
          <a:xfrm>
            <a:off x="3598188" y="2261592"/>
            <a:ext cx="1789819" cy="288131"/>
          </a:xfrm>
          <a:prstGeom prst="rect">
            <a:avLst/>
          </a:prstGeom>
          <a:noFill/>
          <a:ln/>
        </p:spPr>
        <p:txBody>
          <a:bodyPr wrap="square" lIns="25400" tIns="25400" rIns="25400" bIns="25400" rtlCol="0" anchor="t">
            <a:normAutofit/>
          </a:bodyPr>
          <a:lstStyle/>
          <a:p>
            <a:pPr marL="0" indent="0" algn="l">
              <a:lnSpc>
                <a:spcPct val="125000"/>
              </a:lnSpc>
              <a:buNone/>
            </a:pPr>
            <a:r>
              <a:rPr lang="en-US" sz="1575" dirty="0">
                <a:solidFill>
                  <a:srgbClr val="48607A"/>
                </a:solidFill>
                <a:latin typeface="Arial" pitchFamily="34" charset="0"/>
                <a:ea typeface="Arial" pitchFamily="34" charset="-122"/>
                <a:cs typeface="Arial" pitchFamily="34" charset="-120"/>
              </a:rPr>
              <a:t>RMSE Δduty</a:t>
            </a:r>
            <a:endParaRPr lang="en-US" sz="1575" dirty="0"/>
          </a:p>
        </p:txBody>
      </p:sp>
      <p:sp>
        <p:nvSpPr>
          <p:cNvPr id="12" name="Text 8"/>
          <p:cNvSpPr/>
          <p:nvPr/>
        </p:nvSpPr>
        <p:spPr>
          <a:xfrm>
            <a:off x="5834896" y="1671042"/>
            <a:ext cx="1789819"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b="1" kern="0" spc="-75" dirty="0">
                <a:solidFill>
                  <a:srgbClr val="1763A6"/>
                </a:solidFill>
                <a:latin typeface="Arial" pitchFamily="34" charset="0"/>
                <a:ea typeface="Arial" pitchFamily="34" charset="-122"/>
                <a:cs typeface="Arial" pitchFamily="34" charset="-120"/>
              </a:rPr>
              <a:t>0,329</a:t>
            </a:r>
            <a:r>
              <a:rPr lang="en-US" sz="2250" b="1" kern="0" spc="-75" dirty="0">
                <a:solidFill>
                  <a:srgbClr val="1763A6"/>
                </a:solidFill>
                <a:latin typeface="Arial" pitchFamily="34" charset="0"/>
                <a:ea typeface="Arial" pitchFamily="34" charset="-122"/>
                <a:cs typeface="Arial" pitchFamily="34" charset="-120"/>
              </a:rPr>
              <a:t>%</a:t>
            </a:r>
            <a:endParaRPr lang="en-US" sz="4500" dirty="0"/>
          </a:p>
        </p:txBody>
      </p:sp>
      <p:sp>
        <p:nvSpPr>
          <p:cNvPr id="13" name="Text 9"/>
          <p:cNvSpPr/>
          <p:nvPr/>
        </p:nvSpPr>
        <p:spPr>
          <a:xfrm>
            <a:off x="5834896" y="2261592"/>
            <a:ext cx="1789819" cy="288131"/>
          </a:xfrm>
          <a:prstGeom prst="rect">
            <a:avLst/>
          </a:prstGeom>
          <a:noFill/>
          <a:ln/>
        </p:spPr>
        <p:txBody>
          <a:bodyPr wrap="square" lIns="25400" tIns="25400" rIns="25400" bIns="25400" rtlCol="0" anchor="t">
            <a:normAutofit/>
          </a:bodyPr>
          <a:lstStyle/>
          <a:p>
            <a:pPr marL="0" indent="0" algn="l">
              <a:lnSpc>
                <a:spcPct val="125000"/>
              </a:lnSpc>
              <a:buNone/>
            </a:pPr>
            <a:r>
              <a:rPr lang="en-US" sz="1575" dirty="0">
                <a:solidFill>
                  <a:srgbClr val="48607A"/>
                </a:solidFill>
                <a:latin typeface="Arial" pitchFamily="34" charset="0"/>
                <a:ea typeface="Arial" pitchFamily="34" charset="-122"/>
                <a:cs typeface="Arial" pitchFamily="34" charset="-120"/>
              </a:rPr>
              <a:t>MAE Δduty</a:t>
            </a:r>
            <a:endParaRPr lang="en-US" sz="1575" dirty="0"/>
          </a:p>
        </p:txBody>
      </p:sp>
      <p:sp>
        <p:nvSpPr>
          <p:cNvPr id="14" name="Shape 10"/>
          <p:cNvSpPr/>
          <p:nvPr/>
        </p:nvSpPr>
        <p:spPr>
          <a:xfrm>
            <a:off x="800100" y="2990255"/>
            <a:ext cx="3952042" cy="483870"/>
          </a:xfrm>
          <a:prstGeom prst="roundRect">
            <a:avLst>
              <a:gd name="adj" fmla="val 19685"/>
            </a:avLst>
          </a:prstGeom>
          <a:solidFill>
            <a:srgbClr val="1763A6"/>
          </a:solidFill>
          <a:ln/>
        </p:spPr>
      </p:sp>
      <p:sp>
        <p:nvSpPr>
          <p:cNvPr id="15" name="Text 11"/>
          <p:cNvSpPr/>
          <p:nvPr/>
        </p:nvSpPr>
        <p:spPr>
          <a:xfrm>
            <a:off x="971550" y="3114080"/>
            <a:ext cx="3727703" cy="274320"/>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Model</a:t>
            </a:r>
            <a:endParaRPr lang="en-US" sz="1575" dirty="0"/>
          </a:p>
        </p:txBody>
      </p:sp>
      <p:sp>
        <p:nvSpPr>
          <p:cNvPr id="16" name="Shape 12"/>
          <p:cNvSpPr/>
          <p:nvPr/>
        </p:nvSpPr>
        <p:spPr>
          <a:xfrm>
            <a:off x="4752142" y="2990255"/>
            <a:ext cx="1588294" cy="483870"/>
          </a:xfrm>
          <a:prstGeom prst="rect">
            <a:avLst/>
          </a:prstGeom>
          <a:solidFill>
            <a:srgbClr val="1763A6"/>
          </a:solidFill>
          <a:ln/>
        </p:spPr>
      </p:sp>
      <p:sp>
        <p:nvSpPr>
          <p:cNvPr id="17" name="Text 13"/>
          <p:cNvSpPr/>
          <p:nvPr/>
        </p:nvSpPr>
        <p:spPr>
          <a:xfrm>
            <a:off x="4923592" y="3114080"/>
            <a:ext cx="1321594" cy="274320"/>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RMSE</a:t>
            </a:r>
            <a:endParaRPr lang="en-US" sz="1575" dirty="0"/>
          </a:p>
        </p:txBody>
      </p:sp>
      <p:sp>
        <p:nvSpPr>
          <p:cNvPr id="18" name="Shape 14"/>
          <p:cNvSpPr/>
          <p:nvPr/>
        </p:nvSpPr>
        <p:spPr>
          <a:xfrm>
            <a:off x="6340436" y="2990255"/>
            <a:ext cx="1588294" cy="483870"/>
          </a:xfrm>
          <a:prstGeom prst="rect">
            <a:avLst/>
          </a:prstGeom>
          <a:solidFill>
            <a:srgbClr val="1763A6"/>
          </a:solidFill>
          <a:ln/>
        </p:spPr>
      </p:sp>
      <p:sp>
        <p:nvSpPr>
          <p:cNvPr id="19" name="Text 15"/>
          <p:cNvSpPr/>
          <p:nvPr/>
        </p:nvSpPr>
        <p:spPr>
          <a:xfrm>
            <a:off x="6511886" y="3114080"/>
            <a:ext cx="1321594" cy="274320"/>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MAE</a:t>
            </a:r>
            <a:endParaRPr lang="en-US" sz="1575" dirty="0"/>
          </a:p>
        </p:txBody>
      </p:sp>
      <p:sp>
        <p:nvSpPr>
          <p:cNvPr id="20" name="Shape 16"/>
          <p:cNvSpPr/>
          <p:nvPr/>
        </p:nvSpPr>
        <p:spPr>
          <a:xfrm>
            <a:off x="7928729" y="2990255"/>
            <a:ext cx="1797129" cy="483870"/>
          </a:xfrm>
          <a:prstGeom prst="rect">
            <a:avLst/>
          </a:prstGeom>
          <a:solidFill>
            <a:srgbClr val="1763A6"/>
          </a:solidFill>
          <a:ln/>
        </p:spPr>
      </p:sp>
      <p:sp>
        <p:nvSpPr>
          <p:cNvPr id="21" name="Text 17"/>
          <p:cNvSpPr/>
          <p:nvPr/>
        </p:nvSpPr>
        <p:spPr>
          <a:xfrm>
            <a:off x="8100179" y="3114080"/>
            <a:ext cx="1530429" cy="274320"/>
          </a:xfrm>
          <a:prstGeom prst="rect">
            <a:avLst/>
          </a:prstGeom>
          <a:noFill/>
          <a:ln/>
        </p:spPr>
        <p:txBody>
          <a:bodyPr wrap="square" lIns="25400" tIns="25400" rIns="25400" bIns="25400" rtlCol="0" anchor="ctr">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R²</a:t>
            </a:r>
            <a:endParaRPr lang="en-US" sz="1575" dirty="0"/>
          </a:p>
        </p:txBody>
      </p:sp>
      <p:sp>
        <p:nvSpPr>
          <p:cNvPr id="22" name="Shape 18"/>
          <p:cNvSpPr/>
          <p:nvPr/>
        </p:nvSpPr>
        <p:spPr>
          <a:xfrm>
            <a:off x="800100" y="3474125"/>
            <a:ext cx="3952042" cy="483870"/>
          </a:xfrm>
          <a:prstGeom prst="rect">
            <a:avLst/>
          </a:prstGeom>
          <a:solidFill>
            <a:srgbClr val="E2EFFC"/>
          </a:solidFill>
          <a:ln/>
        </p:spPr>
      </p:sp>
      <p:sp>
        <p:nvSpPr>
          <p:cNvPr id="23" name="Shape 19"/>
          <p:cNvSpPr/>
          <p:nvPr/>
        </p:nvSpPr>
        <p:spPr>
          <a:xfrm>
            <a:off x="800100" y="3950375"/>
            <a:ext cx="3952042" cy="9525"/>
          </a:xfrm>
          <a:prstGeom prst="rect">
            <a:avLst/>
          </a:prstGeom>
          <a:solidFill>
            <a:srgbClr val="E1E9F2"/>
          </a:solidFill>
          <a:ln/>
        </p:spPr>
      </p:sp>
      <p:sp>
        <p:nvSpPr>
          <p:cNvPr id="24" name="Text 20"/>
          <p:cNvSpPr/>
          <p:nvPr/>
        </p:nvSpPr>
        <p:spPr>
          <a:xfrm>
            <a:off x="971550" y="3588425"/>
            <a:ext cx="3727703" cy="285750"/>
          </a:xfrm>
          <a:prstGeom prst="rect">
            <a:avLst/>
          </a:prstGeom>
          <a:noFill/>
          <a:ln/>
        </p:spPr>
        <p:txBody>
          <a:bodyPr wrap="square" lIns="25400" tIns="25400" rIns="25400" bIns="25400" rtlCol="0" anchor="ctr">
            <a:normAutofit/>
          </a:bodyPr>
          <a:lstStyle/>
          <a:p>
            <a:pPr marL="0" indent="0" algn="l">
              <a:buNone/>
            </a:pPr>
            <a:r>
              <a:rPr lang="en-US" sz="1725" b="1" dirty="0">
                <a:solidFill>
                  <a:srgbClr val="1763A6"/>
                </a:solidFill>
                <a:latin typeface="Arial" pitchFamily="34" charset="0"/>
                <a:ea typeface="Arial" pitchFamily="34" charset="-122"/>
                <a:cs typeface="Arial" pitchFamily="34" charset="-120"/>
              </a:rPr>
              <a:t>MLP 3-4-1</a:t>
            </a:r>
            <a:endParaRPr lang="en-US" sz="1725" dirty="0"/>
          </a:p>
        </p:txBody>
      </p:sp>
      <p:sp>
        <p:nvSpPr>
          <p:cNvPr id="25" name="Shape 21"/>
          <p:cNvSpPr/>
          <p:nvPr/>
        </p:nvSpPr>
        <p:spPr>
          <a:xfrm>
            <a:off x="4752142" y="3474125"/>
            <a:ext cx="1588294" cy="483870"/>
          </a:xfrm>
          <a:prstGeom prst="rect">
            <a:avLst/>
          </a:prstGeom>
          <a:solidFill>
            <a:srgbClr val="E2EFFC"/>
          </a:solidFill>
          <a:ln/>
        </p:spPr>
      </p:sp>
      <p:sp>
        <p:nvSpPr>
          <p:cNvPr id="26" name="Shape 22"/>
          <p:cNvSpPr/>
          <p:nvPr/>
        </p:nvSpPr>
        <p:spPr>
          <a:xfrm>
            <a:off x="4752142" y="3950375"/>
            <a:ext cx="1588294" cy="9525"/>
          </a:xfrm>
          <a:prstGeom prst="rect">
            <a:avLst/>
          </a:prstGeom>
          <a:solidFill>
            <a:srgbClr val="E1E9F2"/>
          </a:solidFill>
          <a:ln/>
        </p:spPr>
      </p:sp>
      <p:sp>
        <p:nvSpPr>
          <p:cNvPr id="27" name="Text 23"/>
          <p:cNvSpPr/>
          <p:nvPr/>
        </p:nvSpPr>
        <p:spPr>
          <a:xfrm>
            <a:off x="4923592" y="3588425"/>
            <a:ext cx="1321594" cy="285750"/>
          </a:xfrm>
          <a:prstGeom prst="rect">
            <a:avLst/>
          </a:prstGeom>
          <a:noFill/>
          <a:ln/>
        </p:spPr>
        <p:txBody>
          <a:bodyPr wrap="square" lIns="25400" tIns="25400" rIns="25400" bIns="25400" rtlCol="0" anchor="ctr">
            <a:normAutofit/>
          </a:bodyPr>
          <a:lstStyle/>
          <a:p>
            <a:pPr marL="0" indent="0" algn="l">
              <a:buNone/>
            </a:pPr>
            <a:r>
              <a:rPr lang="en-US" sz="1725" b="1" dirty="0">
                <a:solidFill>
                  <a:srgbClr val="1763A6"/>
                </a:solidFill>
                <a:latin typeface="Arial" pitchFamily="34" charset="0"/>
                <a:ea typeface="Arial" pitchFamily="34" charset="-122"/>
                <a:cs typeface="Arial" pitchFamily="34" charset="-120"/>
              </a:rPr>
              <a:t>0,463</a:t>
            </a:r>
            <a:endParaRPr lang="en-US" sz="1725" dirty="0"/>
          </a:p>
        </p:txBody>
      </p:sp>
      <p:sp>
        <p:nvSpPr>
          <p:cNvPr id="28" name="Shape 24"/>
          <p:cNvSpPr/>
          <p:nvPr/>
        </p:nvSpPr>
        <p:spPr>
          <a:xfrm>
            <a:off x="6340436" y="3474125"/>
            <a:ext cx="1588294" cy="483870"/>
          </a:xfrm>
          <a:prstGeom prst="rect">
            <a:avLst/>
          </a:prstGeom>
          <a:solidFill>
            <a:srgbClr val="E2EFFC"/>
          </a:solidFill>
          <a:ln/>
        </p:spPr>
      </p:sp>
      <p:sp>
        <p:nvSpPr>
          <p:cNvPr id="29" name="Shape 25"/>
          <p:cNvSpPr/>
          <p:nvPr/>
        </p:nvSpPr>
        <p:spPr>
          <a:xfrm>
            <a:off x="6340436" y="3950375"/>
            <a:ext cx="1588294" cy="9525"/>
          </a:xfrm>
          <a:prstGeom prst="rect">
            <a:avLst/>
          </a:prstGeom>
          <a:solidFill>
            <a:srgbClr val="E1E9F2"/>
          </a:solidFill>
          <a:ln/>
        </p:spPr>
      </p:sp>
      <p:sp>
        <p:nvSpPr>
          <p:cNvPr id="30" name="Text 26"/>
          <p:cNvSpPr/>
          <p:nvPr/>
        </p:nvSpPr>
        <p:spPr>
          <a:xfrm>
            <a:off x="6511886" y="3588425"/>
            <a:ext cx="1321594" cy="285750"/>
          </a:xfrm>
          <a:prstGeom prst="rect">
            <a:avLst/>
          </a:prstGeom>
          <a:noFill/>
          <a:ln/>
        </p:spPr>
        <p:txBody>
          <a:bodyPr wrap="square" lIns="25400" tIns="25400" rIns="25400" bIns="25400" rtlCol="0" anchor="ctr">
            <a:normAutofit/>
          </a:bodyPr>
          <a:lstStyle/>
          <a:p>
            <a:pPr marL="0" indent="0" algn="l">
              <a:buNone/>
            </a:pPr>
            <a:r>
              <a:rPr lang="en-US" sz="1725" b="1" dirty="0">
                <a:solidFill>
                  <a:srgbClr val="1763A6"/>
                </a:solidFill>
                <a:latin typeface="Arial" pitchFamily="34" charset="0"/>
                <a:ea typeface="Arial" pitchFamily="34" charset="-122"/>
                <a:cs typeface="Arial" pitchFamily="34" charset="-120"/>
              </a:rPr>
              <a:t>0,329</a:t>
            </a:r>
            <a:endParaRPr lang="en-US" sz="1725" dirty="0"/>
          </a:p>
        </p:txBody>
      </p:sp>
      <p:sp>
        <p:nvSpPr>
          <p:cNvPr id="31" name="Shape 27"/>
          <p:cNvSpPr/>
          <p:nvPr/>
        </p:nvSpPr>
        <p:spPr>
          <a:xfrm>
            <a:off x="7928729" y="3474125"/>
            <a:ext cx="1797129" cy="483870"/>
          </a:xfrm>
          <a:prstGeom prst="rect">
            <a:avLst/>
          </a:prstGeom>
          <a:solidFill>
            <a:srgbClr val="E2EFFC"/>
          </a:solidFill>
          <a:ln/>
        </p:spPr>
      </p:sp>
      <p:sp>
        <p:nvSpPr>
          <p:cNvPr id="32" name="Shape 28"/>
          <p:cNvSpPr/>
          <p:nvPr/>
        </p:nvSpPr>
        <p:spPr>
          <a:xfrm>
            <a:off x="7928729" y="3950375"/>
            <a:ext cx="1797129" cy="9525"/>
          </a:xfrm>
          <a:prstGeom prst="rect">
            <a:avLst/>
          </a:prstGeom>
          <a:solidFill>
            <a:srgbClr val="E1E9F2"/>
          </a:solidFill>
          <a:ln/>
        </p:spPr>
      </p:sp>
      <p:sp>
        <p:nvSpPr>
          <p:cNvPr id="33" name="Text 29"/>
          <p:cNvSpPr/>
          <p:nvPr/>
        </p:nvSpPr>
        <p:spPr>
          <a:xfrm>
            <a:off x="8100179" y="3588425"/>
            <a:ext cx="1530429" cy="285750"/>
          </a:xfrm>
          <a:prstGeom prst="rect">
            <a:avLst/>
          </a:prstGeom>
          <a:noFill/>
          <a:ln/>
        </p:spPr>
        <p:txBody>
          <a:bodyPr wrap="square" lIns="25400" tIns="25400" rIns="25400" bIns="25400" rtlCol="0" anchor="ctr">
            <a:normAutofit/>
          </a:bodyPr>
          <a:lstStyle/>
          <a:p>
            <a:pPr marL="0" indent="0" algn="l">
              <a:buNone/>
            </a:pPr>
            <a:r>
              <a:rPr lang="en-US" sz="1725" b="1" dirty="0">
                <a:solidFill>
                  <a:srgbClr val="1763A6"/>
                </a:solidFill>
                <a:latin typeface="Arial" pitchFamily="34" charset="0"/>
                <a:ea typeface="Arial" pitchFamily="34" charset="-122"/>
                <a:cs typeface="Arial" pitchFamily="34" charset="-120"/>
              </a:rPr>
              <a:t>0,915</a:t>
            </a:r>
            <a:endParaRPr lang="en-US" sz="1725" dirty="0"/>
          </a:p>
        </p:txBody>
      </p:sp>
      <p:sp>
        <p:nvSpPr>
          <p:cNvPr id="34" name="Shape 30"/>
          <p:cNvSpPr/>
          <p:nvPr/>
        </p:nvSpPr>
        <p:spPr>
          <a:xfrm>
            <a:off x="800100" y="3957995"/>
            <a:ext cx="3952042" cy="518160"/>
          </a:xfrm>
          <a:prstGeom prst="rect">
            <a:avLst/>
          </a:prstGeom>
          <a:solidFill>
            <a:srgbClr val="F6F9FD"/>
          </a:solidFill>
          <a:ln/>
        </p:spPr>
      </p:sp>
      <p:sp>
        <p:nvSpPr>
          <p:cNvPr id="35" name="Shape 31"/>
          <p:cNvSpPr/>
          <p:nvPr/>
        </p:nvSpPr>
        <p:spPr>
          <a:xfrm>
            <a:off x="800100" y="4468535"/>
            <a:ext cx="3952042" cy="9525"/>
          </a:xfrm>
          <a:prstGeom prst="rect">
            <a:avLst/>
          </a:prstGeom>
          <a:solidFill>
            <a:srgbClr val="E1E9F2"/>
          </a:solidFill>
          <a:ln/>
        </p:spPr>
      </p:sp>
      <p:sp>
        <p:nvSpPr>
          <p:cNvPr id="36" name="Text 32"/>
          <p:cNvSpPr/>
          <p:nvPr/>
        </p:nvSpPr>
        <p:spPr>
          <a:xfrm>
            <a:off x="971550" y="4072295"/>
            <a:ext cx="3727703"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Baseline Δduty = 0</a:t>
            </a:r>
            <a:endParaRPr lang="en-US" sz="1725" dirty="0"/>
          </a:p>
        </p:txBody>
      </p:sp>
      <p:sp>
        <p:nvSpPr>
          <p:cNvPr id="37" name="Shape 33"/>
          <p:cNvSpPr/>
          <p:nvPr/>
        </p:nvSpPr>
        <p:spPr>
          <a:xfrm>
            <a:off x="4752142" y="3957995"/>
            <a:ext cx="1588294" cy="518160"/>
          </a:xfrm>
          <a:prstGeom prst="rect">
            <a:avLst/>
          </a:prstGeom>
          <a:solidFill>
            <a:srgbClr val="F6F9FD"/>
          </a:solidFill>
          <a:ln/>
        </p:spPr>
      </p:sp>
      <p:sp>
        <p:nvSpPr>
          <p:cNvPr id="38" name="Shape 34"/>
          <p:cNvSpPr/>
          <p:nvPr/>
        </p:nvSpPr>
        <p:spPr>
          <a:xfrm>
            <a:off x="4752142" y="4468535"/>
            <a:ext cx="1588294" cy="9525"/>
          </a:xfrm>
          <a:prstGeom prst="rect">
            <a:avLst/>
          </a:prstGeom>
          <a:solidFill>
            <a:srgbClr val="E1E9F2"/>
          </a:solidFill>
          <a:ln/>
        </p:spPr>
      </p:sp>
      <p:sp>
        <p:nvSpPr>
          <p:cNvPr id="39" name="Text 35"/>
          <p:cNvSpPr/>
          <p:nvPr/>
        </p:nvSpPr>
        <p:spPr>
          <a:xfrm>
            <a:off x="4923592" y="4072295"/>
            <a:ext cx="1321594"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1,597</a:t>
            </a:r>
            <a:endParaRPr lang="en-US" sz="1725" dirty="0"/>
          </a:p>
        </p:txBody>
      </p:sp>
      <p:sp>
        <p:nvSpPr>
          <p:cNvPr id="40" name="Shape 36"/>
          <p:cNvSpPr/>
          <p:nvPr/>
        </p:nvSpPr>
        <p:spPr>
          <a:xfrm>
            <a:off x="6340436" y="3957995"/>
            <a:ext cx="1588294" cy="518160"/>
          </a:xfrm>
          <a:prstGeom prst="rect">
            <a:avLst/>
          </a:prstGeom>
          <a:solidFill>
            <a:srgbClr val="F6F9FD"/>
          </a:solidFill>
          <a:ln/>
        </p:spPr>
      </p:sp>
      <p:sp>
        <p:nvSpPr>
          <p:cNvPr id="41" name="Shape 37"/>
          <p:cNvSpPr/>
          <p:nvPr/>
        </p:nvSpPr>
        <p:spPr>
          <a:xfrm>
            <a:off x="6340436" y="4468535"/>
            <a:ext cx="1588294" cy="9525"/>
          </a:xfrm>
          <a:prstGeom prst="rect">
            <a:avLst/>
          </a:prstGeom>
          <a:solidFill>
            <a:srgbClr val="E1E9F2"/>
          </a:solidFill>
          <a:ln/>
        </p:spPr>
      </p:sp>
      <p:sp>
        <p:nvSpPr>
          <p:cNvPr id="42" name="Text 38"/>
          <p:cNvSpPr/>
          <p:nvPr/>
        </p:nvSpPr>
        <p:spPr>
          <a:xfrm>
            <a:off x="6511886" y="4072295"/>
            <a:ext cx="1321594"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1,121</a:t>
            </a:r>
            <a:endParaRPr lang="en-US" sz="1725" dirty="0"/>
          </a:p>
        </p:txBody>
      </p:sp>
      <p:sp>
        <p:nvSpPr>
          <p:cNvPr id="43" name="Shape 39"/>
          <p:cNvSpPr/>
          <p:nvPr/>
        </p:nvSpPr>
        <p:spPr>
          <a:xfrm>
            <a:off x="7928729" y="3957995"/>
            <a:ext cx="1797129" cy="518160"/>
          </a:xfrm>
          <a:prstGeom prst="rect">
            <a:avLst/>
          </a:prstGeom>
          <a:solidFill>
            <a:srgbClr val="F6F9FD"/>
          </a:solidFill>
          <a:ln/>
        </p:spPr>
      </p:sp>
      <p:sp>
        <p:nvSpPr>
          <p:cNvPr id="44" name="Shape 40"/>
          <p:cNvSpPr/>
          <p:nvPr/>
        </p:nvSpPr>
        <p:spPr>
          <a:xfrm>
            <a:off x="7928729" y="4468535"/>
            <a:ext cx="1797129" cy="9525"/>
          </a:xfrm>
          <a:prstGeom prst="rect">
            <a:avLst/>
          </a:prstGeom>
          <a:solidFill>
            <a:srgbClr val="E1E9F2"/>
          </a:solidFill>
          <a:ln/>
        </p:spPr>
      </p:sp>
      <p:sp>
        <p:nvSpPr>
          <p:cNvPr id="45" name="Text 41"/>
          <p:cNvSpPr/>
          <p:nvPr/>
        </p:nvSpPr>
        <p:spPr>
          <a:xfrm>
            <a:off x="8100179" y="4072295"/>
            <a:ext cx="1530429"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−0,009</a:t>
            </a:r>
            <a:endParaRPr lang="en-US" sz="1725" dirty="0"/>
          </a:p>
        </p:txBody>
      </p:sp>
      <p:sp>
        <p:nvSpPr>
          <p:cNvPr id="46" name="Shape 42"/>
          <p:cNvSpPr/>
          <p:nvPr/>
        </p:nvSpPr>
        <p:spPr>
          <a:xfrm>
            <a:off x="800100" y="4986695"/>
            <a:ext cx="3952042" cy="9525"/>
          </a:xfrm>
          <a:prstGeom prst="rect">
            <a:avLst/>
          </a:prstGeom>
          <a:solidFill>
            <a:srgbClr val="E1E9F2"/>
          </a:solidFill>
          <a:ln/>
        </p:spPr>
      </p:sp>
      <p:sp>
        <p:nvSpPr>
          <p:cNvPr id="47" name="Text 43"/>
          <p:cNvSpPr/>
          <p:nvPr/>
        </p:nvSpPr>
        <p:spPr>
          <a:xfrm>
            <a:off x="971550" y="4590455"/>
            <a:ext cx="3727703"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Baseline Proporsional</a:t>
            </a:r>
            <a:endParaRPr lang="en-US" sz="1725" dirty="0"/>
          </a:p>
        </p:txBody>
      </p:sp>
      <p:sp>
        <p:nvSpPr>
          <p:cNvPr id="48" name="Shape 44"/>
          <p:cNvSpPr/>
          <p:nvPr/>
        </p:nvSpPr>
        <p:spPr>
          <a:xfrm>
            <a:off x="4752142" y="4986695"/>
            <a:ext cx="1588294" cy="9525"/>
          </a:xfrm>
          <a:prstGeom prst="rect">
            <a:avLst/>
          </a:prstGeom>
          <a:solidFill>
            <a:srgbClr val="E1E9F2"/>
          </a:solidFill>
          <a:ln/>
        </p:spPr>
      </p:sp>
      <p:sp>
        <p:nvSpPr>
          <p:cNvPr id="49" name="Text 45"/>
          <p:cNvSpPr/>
          <p:nvPr/>
        </p:nvSpPr>
        <p:spPr>
          <a:xfrm>
            <a:off x="4923592" y="4590455"/>
            <a:ext cx="1321594"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1,000</a:t>
            </a:r>
            <a:endParaRPr lang="en-US" sz="1725" dirty="0"/>
          </a:p>
        </p:txBody>
      </p:sp>
      <p:sp>
        <p:nvSpPr>
          <p:cNvPr id="50" name="Shape 46"/>
          <p:cNvSpPr/>
          <p:nvPr/>
        </p:nvSpPr>
        <p:spPr>
          <a:xfrm>
            <a:off x="6340436" y="4986695"/>
            <a:ext cx="1588294" cy="9525"/>
          </a:xfrm>
          <a:prstGeom prst="rect">
            <a:avLst/>
          </a:prstGeom>
          <a:solidFill>
            <a:srgbClr val="E1E9F2"/>
          </a:solidFill>
          <a:ln/>
        </p:spPr>
      </p:sp>
      <p:sp>
        <p:nvSpPr>
          <p:cNvPr id="51" name="Text 47"/>
          <p:cNvSpPr/>
          <p:nvPr/>
        </p:nvSpPr>
        <p:spPr>
          <a:xfrm>
            <a:off x="6511886" y="4590455"/>
            <a:ext cx="1321594"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0,740</a:t>
            </a:r>
            <a:endParaRPr lang="en-US" sz="1725" dirty="0"/>
          </a:p>
        </p:txBody>
      </p:sp>
      <p:sp>
        <p:nvSpPr>
          <p:cNvPr id="52" name="Shape 48"/>
          <p:cNvSpPr/>
          <p:nvPr/>
        </p:nvSpPr>
        <p:spPr>
          <a:xfrm>
            <a:off x="7928729" y="4986695"/>
            <a:ext cx="1797129" cy="9525"/>
          </a:xfrm>
          <a:prstGeom prst="rect">
            <a:avLst/>
          </a:prstGeom>
          <a:solidFill>
            <a:srgbClr val="E1E9F2"/>
          </a:solidFill>
          <a:ln/>
        </p:spPr>
      </p:sp>
      <p:sp>
        <p:nvSpPr>
          <p:cNvPr id="53" name="Text 49"/>
          <p:cNvSpPr/>
          <p:nvPr/>
        </p:nvSpPr>
        <p:spPr>
          <a:xfrm>
            <a:off x="8100179" y="4590455"/>
            <a:ext cx="1530429" cy="320040"/>
          </a:xfrm>
          <a:prstGeom prst="rect">
            <a:avLst/>
          </a:prstGeom>
          <a:noFill/>
          <a:ln/>
        </p:spPr>
        <p:txBody>
          <a:bodyPr wrap="square" lIns="25400" tIns="25400" rIns="25400" bIns="25400" rtlCol="0" anchor="ctr">
            <a:normAutofit/>
          </a:bodyPr>
          <a:lstStyle/>
          <a:p>
            <a:pPr marL="0" indent="0" algn="l">
              <a:buNone/>
            </a:pPr>
            <a:r>
              <a:rPr lang="en-US" sz="1725" dirty="0">
                <a:solidFill>
                  <a:srgbClr val="33495F"/>
                </a:solidFill>
                <a:latin typeface="Arial" pitchFamily="34" charset="0"/>
                <a:ea typeface="Arial" pitchFamily="34" charset="-122"/>
                <a:cs typeface="Arial" pitchFamily="34" charset="-120"/>
              </a:rPr>
              <a:t>0,604</a:t>
            </a:r>
            <a:endParaRPr lang="en-US" sz="1725" dirty="0"/>
          </a:p>
        </p:txBody>
      </p:sp>
      <p:sp>
        <p:nvSpPr>
          <p:cNvPr id="54" name="Shape 50"/>
          <p:cNvSpPr/>
          <p:nvPr/>
        </p:nvSpPr>
        <p:spPr>
          <a:xfrm>
            <a:off x="10049709" y="2321481"/>
            <a:ext cx="7438192" cy="1337667"/>
          </a:xfrm>
          <a:prstGeom prst="roundRect">
            <a:avLst>
              <a:gd name="adj" fmla="val 9969"/>
            </a:avLst>
          </a:prstGeom>
          <a:gradFill rotWithShape="1">
            <a:gsLst>
              <a:gs pos="0">
                <a:srgbClr val="103A63">
                  <a:alpha val="100000"/>
                </a:srgbClr>
              </a:gs>
              <a:gs pos="100000">
                <a:srgbClr val="1763A6">
                  <a:alpha val="100000"/>
                </a:srgbClr>
              </a:gs>
            </a:gsLst>
            <a:lin ang="2700000" scaled="0"/>
          </a:gradFill>
          <a:ln/>
        </p:spPr>
      </p:sp>
      <p:sp>
        <p:nvSpPr>
          <p:cNvPr id="55" name="Text 51"/>
          <p:cNvSpPr/>
          <p:nvPr/>
        </p:nvSpPr>
        <p:spPr>
          <a:xfrm>
            <a:off x="10297359" y="2550081"/>
            <a:ext cx="7151179" cy="918567"/>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DCEBFA"/>
                </a:solidFill>
                <a:latin typeface="Arial" pitchFamily="34" charset="0"/>
                <a:ea typeface="Arial" pitchFamily="34" charset="-122"/>
                <a:cs typeface="Arial" pitchFamily="34" charset="-120"/>
              </a:rPr>
              <a:t>MLP unggul pada seluruh metrik — RMSE/MAE ≈ separuh baseline proporsional. NN benar-benar mempelajari hubungan kendali </a:t>
            </a:r>
            <a:r>
              <a:rPr lang="en-US" sz="1725" b="1" dirty="0">
                <a:solidFill>
                  <a:srgbClr val="FFFFFF"/>
                </a:solidFill>
                <a:latin typeface="Arial" pitchFamily="34" charset="0"/>
                <a:ea typeface="Arial" pitchFamily="34" charset="-122"/>
                <a:cs typeface="Arial" pitchFamily="34" charset="-120"/>
              </a:rPr>
              <a:t>nonlinier</a:t>
            </a:r>
            <a:r>
              <a:rPr lang="en-US" sz="1725" dirty="0">
                <a:solidFill>
                  <a:srgbClr val="DCEBFA"/>
                </a:solidFill>
                <a:latin typeface="Arial" pitchFamily="34" charset="0"/>
                <a:ea typeface="Arial" pitchFamily="34" charset="-122"/>
                <a:cs typeface="Arial" pitchFamily="34" charset="-120"/>
              </a:rPr>
              <a:t>, bukan sekadar pola proporsional.</a:t>
            </a:r>
            <a:endParaRPr lang="en-US" sz="1725" dirty="0"/>
          </a:p>
        </p:txBody>
      </p:sp>
      <p:sp>
        <p:nvSpPr>
          <p:cNvPr id="56" name="Shape 52"/>
          <p:cNvSpPr/>
          <p:nvPr/>
        </p:nvSpPr>
        <p:spPr>
          <a:xfrm>
            <a:off x="0" y="9486900"/>
            <a:ext cx="18288000" cy="9525"/>
          </a:xfrm>
          <a:prstGeom prst="rect">
            <a:avLst/>
          </a:prstGeom>
          <a:solidFill>
            <a:srgbClr val="E1E9F2"/>
          </a:solidFill>
          <a:ln/>
        </p:spPr>
      </p:sp>
      <p:sp>
        <p:nvSpPr>
          <p:cNvPr id="57" name="Text 53"/>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58" name="Text 54"/>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59" name="Text 55"/>
          <p:cNvSpPr/>
          <p:nvPr/>
        </p:nvSpPr>
        <p:spPr>
          <a:xfrm>
            <a:off x="4277678"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60" name="Shape 56"/>
          <p:cNvSpPr/>
          <p:nvPr/>
        </p:nvSpPr>
        <p:spPr>
          <a:xfrm>
            <a:off x="5639753" y="10023158"/>
            <a:ext cx="1686878" cy="22860"/>
          </a:xfrm>
          <a:prstGeom prst="rect">
            <a:avLst/>
          </a:prstGeom>
          <a:solidFill>
            <a:srgbClr val="2E86DE"/>
          </a:solidFill>
          <a:ln/>
        </p:spPr>
      </p:sp>
      <p:sp>
        <p:nvSpPr>
          <p:cNvPr id="61" name="Text 57"/>
          <p:cNvSpPr/>
          <p:nvPr/>
        </p:nvSpPr>
        <p:spPr>
          <a:xfrm>
            <a:off x="5639753" y="9758363"/>
            <a:ext cx="176307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Hasil &amp; Pembahasan</a:t>
            </a:r>
            <a:endParaRPr lang="en-US" sz="1350" dirty="0"/>
          </a:p>
        </p:txBody>
      </p:sp>
      <p:sp>
        <p:nvSpPr>
          <p:cNvPr id="62" name="Text 58"/>
          <p:cNvSpPr/>
          <p:nvPr/>
        </p:nvSpPr>
        <p:spPr>
          <a:xfrm>
            <a:off x="7612380"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63" name="Text 59"/>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10130302"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IV · PENGUJIAN SISTEM (1/3)</a:t>
            </a:r>
            <a:endParaRPr lang="en-US" sz="1500" dirty="0"/>
          </a:p>
        </p:txBody>
      </p:sp>
      <p:sp>
        <p:nvSpPr>
          <p:cNvPr id="5" name="Text 3"/>
          <p:cNvSpPr/>
          <p:nvPr/>
        </p:nvSpPr>
        <p:spPr>
          <a:xfrm>
            <a:off x="1108710" y="830580"/>
            <a:ext cx="10130302"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Penjejakan Setpoint pada Variasi Keran</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1671042"/>
            <a:ext cx="8210550" cy="6103263"/>
          </a:xfrm>
          <a:prstGeom prst="roundRect">
            <a:avLst>
              <a:gd name="adj" fmla="val 2185"/>
            </a:avLst>
          </a:prstGeom>
          <a:solidFill>
            <a:srgbClr val="FFFFFF"/>
          </a:solidFill>
          <a:ln w="7620">
            <a:solidFill>
              <a:srgbClr val="E1E9F2"/>
            </a:solidFill>
            <a:prstDash val="solid"/>
          </a:ln>
        </p:spPr>
      </p:sp>
      <p:pic>
        <p:nvPicPr>
          <p:cNvPr id="9" name="Image 2" descr="preencoded.png"/>
          <p:cNvPicPr>
            <a:picLocks noChangeAspect="1"/>
          </p:cNvPicPr>
          <p:nvPr/>
        </p:nvPicPr>
        <p:blipFill>
          <a:blip r:embed="rId5"/>
          <a:srcRect l="-1" r="-1"/>
          <a:stretch/>
        </p:blipFill>
        <p:spPr>
          <a:xfrm>
            <a:off x="979170" y="2268379"/>
            <a:ext cx="7852410" cy="4908471"/>
          </a:xfrm>
          <a:prstGeom prst="rect">
            <a:avLst/>
          </a:prstGeom>
        </p:spPr>
      </p:pic>
      <p:sp>
        <p:nvSpPr>
          <p:cNvPr id="10" name="Text 5"/>
          <p:cNvSpPr/>
          <p:nvPr/>
        </p:nvSpPr>
        <p:spPr>
          <a:xfrm>
            <a:off x="800100" y="8031480"/>
            <a:ext cx="9031605" cy="251460"/>
          </a:xfrm>
          <a:prstGeom prst="rect">
            <a:avLst/>
          </a:prstGeom>
          <a:noFill/>
          <a:ln/>
        </p:spPr>
        <p:txBody>
          <a:bodyPr wrap="square" lIns="25400" tIns="25400" rIns="25400" bIns="25400" rtlCol="0" anchor="t">
            <a:normAutofit/>
          </a:bodyPr>
          <a:lstStyle/>
          <a:p>
            <a:pPr marL="0" indent="0" algn="l">
              <a:buNone/>
            </a:pPr>
            <a:r>
              <a:rPr lang="en-US" sz="1275" kern="0" spc="22" dirty="0">
                <a:solidFill>
                  <a:srgbClr val="7E92A8"/>
                </a:solidFill>
                <a:latin typeface="Arial" pitchFamily="34" charset="0"/>
                <a:ea typeface="Arial" pitchFamily="34" charset="-122"/>
                <a:cs typeface="Arial" pitchFamily="34" charset="-120"/>
              </a:rPr>
              <a:t>Respons tekanan menuju setpoint 0,30 bar (0–4 keran)</a:t>
            </a:r>
            <a:endParaRPr lang="en-US" sz="1275" dirty="0"/>
          </a:p>
        </p:txBody>
      </p:sp>
      <p:sp>
        <p:nvSpPr>
          <p:cNvPr id="11" name="Shape 6"/>
          <p:cNvSpPr/>
          <p:nvPr/>
        </p:nvSpPr>
        <p:spPr>
          <a:xfrm>
            <a:off x="9277350" y="1671042"/>
            <a:ext cx="8210550" cy="6103263"/>
          </a:xfrm>
          <a:prstGeom prst="roundRect">
            <a:avLst>
              <a:gd name="adj" fmla="val 2185"/>
            </a:avLst>
          </a:prstGeom>
          <a:solidFill>
            <a:srgbClr val="FFFFFF"/>
          </a:solidFill>
          <a:ln w="7620">
            <a:solidFill>
              <a:srgbClr val="E1E9F2"/>
            </a:solidFill>
            <a:prstDash val="solid"/>
          </a:ln>
        </p:spPr>
      </p:sp>
      <p:pic>
        <p:nvPicPr>
          <p:cNvPr id="12" name="Image 3" descr="preencoded.png"/>
          <p:cNvPicPr>
            <a:picLocks noChangeAspect="1"/>
          </p:cNvPicPr>
          <p:nvPr/>
        </p:nvPicPr>
        <p:blipFill>
          <a:blip r:embed="rId6"/>
          <a:srcRect l="-1" r="-1"/>
          <a:stretch/>
        </p:blipFill>
        <p:spPr>
          <a:xfrm>
            <a:off x="9456420" y="2268379"/>
            <a:ext cx="7852410" cy="4908471"/>
          </a:xfrm>
          <a:prstGeom prst="rect">
            <a:avLst/>
          </a:prstGeom>
        </p:spPr>
      </p:pic>
      <p:sp>
        <p:nvSpPr>
          <p:cNvPr id="13" name="Text 7"/>
          <p:cNvSpPr/>
          <p:nvPr/>
        </p:nvSpPr>
        <p:spPr>
          <a:xfrm>
            <a:off x="9277350" y="8031480"/>
            <a:ext cx="9031605" cy="251460"/>
          </a:xfrm>
          <a:prstGeom prst="rect">
            <a:avLst/>
          </a:prstGeom>
          <a:noFill/>
          <a:ln/>
        </p:spPr>
        <p:txBody>
          <a:bodyPr wrap="square" lIns="25400" tIns="25400" rIns="25400" bIns="25400" rtlCol="0" anchor="t">
            <a:normAutofit/>
          </a:bodyPr>
          <a:lstStyle/>
          <a:p>
            <a:pPr marL="0" indent="0" algn="l">
              <a:buNone/>
            </a:pPr>
            <a:r>
              <a:rPr lang="en-US" sz="1275" kern="0" spc="22" dirty="0">
                <a:solidFill>
                  <a:srgbClr val="7E92A8"/>
                </a:solidFill>
                <a:latin typeface="Arial" pitchFamily="34" charset="0"/>
                <a:ea typeface="Arial" pitchFamily="34" charset="-122"/>
                <a:cs typeface="Arial" pitchFamily="34" charset="-120"/>
              </a:rPr>
              <a:t>Tekanan steady per jumlah keran terbuka</a:t>
            </a:r>
            <a:endParaRPr lang="en-US" sz="1275" dirty="0"/>
          </a:p>
        </p:txBody>
      </p:sp>
      <p:sp>
        <p:nvSpPr>
          <p:cNvPr id="14" name="Text 8"/>
          <p:cNvSpPr/>
          <p:nvPr/>
        </p:nvSpPr>
        <p:spPr>
          <a:xfrm>
            <a:off x="800100" y="8397240"/>
            <a:ext cx="14716125" cy="74676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33495F"/>
                </a:solidFill>
                <a:latin typeface="Arial" pitchFamily="34" charset="0"/>
                <a:ea typeface="Arial" pitchFamily="34" charset="-122"/>
                <a:cs typeface="Arial" pitchFamily="34" charset="-120"/>
              </a:rPr>
              <a:t>Galat tunak </a:t>
            </a:r>
            <a:r>
              <a:rPr lang="en-US" sz="1950" b="1" dirty="0">
                <a:solidFill>
                  <a:srgbClr val="1763A6"/>
                </a:solidFill>
                <a:latin typeface="Arial" pitchFamily="34" charset="0"/>
                <a:ea typeface="Arial" pitchFamily="34" charset="-122"/>
                <a:cs typeface="Arial" pitchFamily="34" charset="-120"/>
              </a:rPr>
              <a:t>≤ 0,009 bar </a:t>
            </a:r>
            <a:r>
              <a:rPr lang="en-US" sz="1950" dirty="0">
                <a:solidFill>
                  <a:srgbClr val="33495F"/>
                </a:solidFill>
                <a:latin typeface="Arial" pitchFamily="34" charset="0"/>
                <a:ea typeface="Arial" pitchFamily="34" charset="-122"/>
                <a:cs typeface="Arial" pitchFamily="34" charset="-120"/>
              </a:rPr>
              <a:t>untuk 1–4 keran. Pada </a:t>
            </a:r>
            <a:r>
              <a:rPr lang="en-US" sz="1950" b="1" dirty="0">
                <a:solidFill>
                  <a:srgbClr val="1763A6"/>
                </a:solidFill>
                <a:latin typeface="Arial" pitchFamily="34" charset="0"/>
                <a:ea typeface="Arial" pitchFamily="34" charset="-122"/>
                <a:cs typeface="Arial" pitchFamily="34" charset="-120"/>
              </a:rPr>
              <a:t>0 keran </a:t>
            </a:r>
            <a:r>
              <a:rPr lang="en-US" sz="1950" dirty="0">
                <a:solidFill>
                  <a:srgbClr val="33495F"/>
                </a:solidFill>
                <a:latin typeface="Arial" pitchFamily="34" charset="0"/>
                <a:ea typeface="Arial" pitchFamily="34" charset="-122"/>
                <a:cs typeface="Arial" pitchFamily="34" charset="-120"/>
              </a:rPr>
              <a:t>tekanan tertahan di 0,517 bar walau duty di batas bawah 70% — </a:t>
            </a:r>
            <a:r>
              <a:rPr lang="en-US" sz="1950" b="1" dirty="0">
                <a:solidFill>
                  <a:srgbClr val="1763A6"/>
                </a:solidFill>
                <a:latin typeface="Arial" pitchFamily="34" charset="0"/>
                <a:ea typeface="Arial" pitchFamily="34" charset="-122"/>
                <a:cs typeface="Arial" pitchFamily="34" charset="-120"/>
              </a:rPr>
              <a:t>saturasi aktuator </a:t>
            </a:r>
            <a:r>
              <a:rPr lang="en-US" sz="1950" dirty="0">
                <a:solidFill>
                  <a:srgbClr val="33495F"/>
                </a:solidFill>
                <a:latin typeface="Arial" pitchFamily="34" charset="0"/>
                <a:ea typeface="Arial" pitchFamily="34" charset="-122"/>
                <a:cs typeface="Arial" pitchFamily="34" charset="-120"/>
              </a:rPr>
              <a:t>(batas fisik pompa), bukan kegagalan kontroler.</a:t>
            </a:r>
            <a:endParaRPr lang="en-US" sz="1950" dirty="0"/>
          </a:p>
        </p:txBody>
      </p:sp>
      <p:sp>
        <p:nvSpPr>
          <p:cNvPr id="15" name="Shape 9"/>
          <p:cNvSpPr/>
          <p:nvPr/>
        </p:nvSpPr>
        <p:spPr>
          <a:xfrm>
            <a:off x="0" y="9486900"/>
            <a:ext cx="18288000" cy="9525"/>
          </a:xfrm>
          <a:prstGeom prst="rect">
            <a:avLst/>
          </a:prstGeom>
          <a:solidFill>
            <a:srgbClr val="E1E9F2"/>
          </a:solidFill>
          <a:ln/>
        </p:spPr>
      </p:sp>
      <p:sp>
        <p:nvSpPr>
          <p:cNvPr id="16" name="Text 10"/>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17" name="Text 11"/>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18" name="Text 12"/>
          <p:cNvSpPr/>
          <p:nvPr/>
        </p:nvSpPr>
        <p:spPr>
          <a:xfrm>
            <a:off x="4277678"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19" name="Shape 13"/>
          <p:cNvSpPr/>
          <p:nvPr/>
        </p:nvSpPr>
        <p:spPr>
          <a:xfrm>
            <a:off x="5639753" y="10023158"/>
            <a:ext cx="1686878" cy="22860"/>
          </a:xfrm>
          <a:prstGeom prst="rect">
            <a:avLst/>
          </a:prstGeom>
          <a:solidFill>
            <a:srgbClr val="2E86DE"/>
          </a:solidFill>
          <a:ln/>
        </p:spPr>
      </p:sp>
      <p:sp>
        <p:nvSpPr>
          <p:cNvPr id="20" name="Text 14"/>
          <p:cNvSpPr/>
          <p:nvPr/>
        </p:nvSpPr>
        <p:spPr>
          <a:xfrm>
            <a:off x="5639753" y="9758363"/>
            <a:ext cx="176307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Hasil &amp; Pembahasan</a:t>
            </a:r>
            <a:endParaRPr lang="en-US" sz="1350" dirty="0"/>
          </a:p>
        </p:txBody>
      </p:sp>
      <p:sp>
        <p:nvSpPr>
          <p:cNvPr id="21" name="Text 15"/>
          <p:cNvSpPr/>
          <p:nvPr/>
        </p:nvSpPr>
        <p:spPr>
          <a:xfrm>
            <a:off x="7612380"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22" name="Text 16"/>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9961745"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IV · PENGUJIAN SISTEM (2/3)</a:t>
            </a:r>
            <a:endParaRPr lang="en-US" sz="1500" dirty="0"/>
          </a:p>
        </p:txBody>
      </p:sp>
      <p:sp>
        <p:nvSpPr>
          <p:cNvPr id="5" name="Text 3"/>
          <p:cNvSpPr/>
          <p:nvPr/>
        </p:nvSpPr>
        <p:spPr>
          <a:xfrm>
            <a:off x="1108710" y="830580"/>
            <a:ext cx="9961745"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Respons terhadap Perubahan Setpoint</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1671042"/>
            <a:ext cx="9545598" cy="7211973"/>
          </a:xfrm>
          <a:prstGeom prst="roundRect">
            <a:avLst>
              <a:gd name="adj" fmla="val 1849"/>
            </a:avLst>
          </a:prstGeom>
          <a:solidFill>
            <a:srgbClr val="FFFFFF"/>
          </a:solidFill>
          <a:ln w="7620">
            <a:solidFill>
              <a:srgbClr val="E1E9F2"/>
            </a:solidFill>
            <a:prstDash val="solid"/>
          </a:ln>
        </p:spPr>
      </p:sp>
      <p:pic>
        <p:nvPicPr>
          <p:cNvPr id="9" name="Image 2" descr="preencoded.png"/>
          <p:cNvPicPr>
            <a:picLocks noChangeAspect="1"/>
          </p:cNvPicPr>
          <p:nvPr/>
        </p:nvPicPr>
        <p:blipFill>
          <a:blip r:embed="rId5"/>
          <a:srcRect l="-1" r="-1"/>
          <a:stretch/>
        </p:blipFill>
        <p:spPr>
          <a:xfrm>
            <a:off x="979170" y="2405539"/>
            <a:ext cx="9187458" cy="5742980"/>
          </a:xfrm>
          <a:prstGeom prst="rect">
            <a:avLst/>
          </a:prstGeom>
        </p:spPr>
      </p:pic>
      <p:sp>
        <p:nvSpPr>
          <p:cNvPr id="10" name="Text 5"/>
          <p:cNvSpPr/>
          <p:nvPr/>
        </p:nvSpPr>
        <p:spPr>
          <a:xfrm>
            <a:off x="800100" y="9140190"/>
            <a:ext cx="10500158" cy="251460"/>
          </a:xfrm>
          <a:prstGeom prst="rect">
            <a:avLst/>
          </a:prstGeom>
          <a:noFill/>
          <a:ln/>
        </p:spPr>
        <p:txBody>
          <a:bodyPr wrap="square" lIns="25400" tIns="25400" rIns="25400" bIns="25400" rtlCol="0" anchor="t">
            <a:normAutofit/>
          </a:bodyPr>
          <a:lstStyle/>
          <a:p>
            <a:pPr marL="0" indent="0" algn="l">
              <a:buNone/>
            </a:pPr>
            <a:r>
              <a:rPr lang="en-US" sz="1275" kern="0" spc="22" dirty="0">
                <a:solidFill>
                  <a:srgbClr val="7E92A8"/>
                </a:solidFill>
                <a:latin typeface="Arial" pitchFamily="34" charset="0"/>
                <a:ea typeface="Arial" pitchFamily="34" charset="-122"/>
                <a:cs typeface="Arial" pitchFamily="34" charset="-120"/>
              </a:rPr>
              <a:t>Penjejakan setpoint 0,25 → 0,30 → 0,35 → 0,30 → 0,25 bar</a:t>
            </a:r>
            <a:endParaRPr lang="en-US" sz="1275" dirty="0"/>
          </a:p>
        </p:txBody>
      </p:sp>
      <p:sp>
        <p:nvSpPr>
          <p:cNvPr id="11" name="Text 6"/>
          <p:cNvSpPr/>
          <p:nvPr/>
        </p:nvSpPr>
        <p:spPr>
          <a:xfrm>
            <a:off x="10669548" y="3755231"/>
            <a:ext cx="7500057"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b="1" kern="0" spc="-75" dirty="0">
                <a:solidFill>
                  <a:srgbClr val="1763A6"/>
                </a:solidFill>
                <a:latin typeface="Arial" pitchFamily="34" charset="0"/>
                <a:ea typeface="Arial" pitchFamily="34" charset="-122"/>
                <a:cs typeface="Arial" pitchFamily="34" charset="-120"/>
              </a:rPr>
              <a:t>4–7</a:t>
            </a:r>
            <a:r>
              <a:rPr lang="en-US" sz="2250" b="1" kern="0" spc="-75" dirty="0">
                <a:solidFill>
                  <a:srgbClr val="1763A6"/>
                </a:solidFill>
                <a:latin typeface="Arial" pitchFamily="34" charset="0"/>
                <a:ea typeface="Arial" pitchFamily="34" charset="-122"/>
                <a:cs typeface="Arial" pitchFamily="34" charset="-120"/>
              </a:rPr>
              <a:t>s</a:t>
            </a:r>
            <a:endParaRPr lang="en-US" sz="4500" dirty="0"/>
          </a:p>
        </p:txBody>
      </p:sp>
      <p:sp>
        <p:nvSpPr>
          <p:cNvPr id="12" name="Text 7"/>
          <p:cNvSpPr/>
          <p:nvPr/>
        </p:nvSpPr>
        <p:spPr>
          <a:xfrm>
            <a:off x="10669548" y="4345781"/>
            <a:ext cx="7500057" cy="288131"/>
          </a:xfrm>
          <a:prstGeom prst="rect">
            <a:avLst/>
          </a:prstGeom>
          <a:noFill/>
          <a:ln/>
        </p:spPr>
        <p:txBody>
          <a:bodyPr wrap="square" lIns="25400" tIns="25400" rIns="25400" bIns="25400" rtlCol="0" anchor="t">
            <a:normAutofit/>
          </a:bodyPr>
          <a:lstStyle/>
          <a:p>
            <a:pPr marL="0" indent="0" algn="l">
              <a:lnSpc>
                <a:spcPct val="125000"/>
              </a:lnSpc>
              <a:buNone/>
            </a:pPr>
            <a:r>
              <a:rPr lang="en-US" sz="1575" dirty="0">
                <a:solidFill>
                  <a:srgbClr val="48607A"/>
                </a:solidFill>
                <a:latin typeface="Arial" pitchFamily="34" charset="0"/>
                <a:ea typeface="Arial" pitchFamily="34" charset="-122"/>
                <a:cs typeface="Arial" pitchFamily="34" charset="-120"/>
              </a:rPr>
              <a:t>settling time saat setpoint berubah (sistem mapan)</a:t>
            </a:r>
            <a:endParaRPr lang="en-US" sz="1575" dirty="0"/>
          </a:p>
        </p:txBody>
      </p:sp>
      <p:sp>
        <p:nvSpPr>
          <p:cNvPr id="13" name="Text 8"/>
          <p:cNvSpPr/>
          <p:nvPr/>
        </p:nvSpPr>
        <p:spPr>
          <a:xfrm>
            <a:off x="10669548" y="4843463"/>
            <a:ext cx="7500057"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b="1" kern="0" spc="-75" dirty="0">
                <a:solidFill>
                  <a:srgbClr val="1763A6"/>
                </a:solidFill>
                <a:latin typeface="Arial" pitchFamily="34" charset="0"/>
                <a:ea typeface="Arial" pitchFamily="34" charset="-122"/>
                <a:cs typeface="Arial" pitchFamily="34" charset="-120"/>
              </a:rPr>
              <a:t>≤ 0,015</a:t>
            </a:r>
            <a:r>
              <a:rPr lang="en-US" sz="2250" b="1" kern="0" spc="-75" dirty="0">
                <a:solidFill>
                  <a:srgbClr val="1763A6"/>
                </a:solidFill>
                <a:latin typeface="Arial" pitchFamily="34" charset="0"/>
                <a:ea typeface="Arial" pitchFamily="34" charset="-122"/>
                <a:cs typeface="Arial" pitchFamily="34" charset="-120"/>
              </a:rPr>
              <a:t>bar</a:t>
            </a:r>
            <a:endParaRPr lang="en-US" sz="4500" dirty="0"/>
          </a:p>
        </p:txBody>
      </p:sp>
      <p:sp>
        <p:nvSpPr>
          <p:cNvPr id="14" name="Text 9"/>
          <p:cNvSpPr/>
          <p:nvPr/>
        </p:nvSpPr>
        <p:spPr>
          <a:xfrm>
            <a:off x="10669548" y="5434013"/>
            <a:ext cx="7500057" cy="288131"/>
          </a:xfrm>
          <a:prstGeom prst="rect">
            <a:avLst/>
          </a:prstGeom>
          <a:noFill/>
          <a:ln/>
        </p:spPr>
        <p:txBody>
          <a:bodyPr wrap="square" lIns="25400" tIns="25400" rIns="25400" bIns="25400" rtlCol="0" anchor="t">
            <a:normAutofit/>
          </a:bodyPr>
          <a:lstStyle/>
          <a:p>
            <a:pPr marL="0" indent="0" algn="l">
              <a:lnSpc>
                <a:spcPct val="125000"/>
              </a:lnSpc>
              <a:buNone/>
            </a:pPr>
            <a:r>
              <a:rPr lang="en-US" sz="1575" dirty="0">
                <a:solidFill>
                  <a:srgbClr val="48607A"/>
                </a:solidFill>
                <a:latin typeface="Arial" pitchFamily="34" charset="0"/>
                <a:ea typeface="Arial" pitchFamily="34" charset="-122"/>
                <a:cs typeface="Arial" pitchFamily="34" charset="-120"/>
              </a:rPr>
              <a:t>galat tunak di setiap setpoint</a:t>
            </a:r>
            <a:endParaRPr lang="en-US" sz="1575" dirty="0"/>
          </a:p>
        </p:txBody>
      </p:sp>
      <p:sp>
        <p:nvSpPr>
          <p:cNvPr id="15" name="Shape 10"/>
          <p:cNvSpPr/>
          <p:nvPr/>
        </p:nvSpPr>
        <p:spPr>
          <a:xfrm>
            <a:off x="10669548" y="5931694"/>
            <a:ext cx="6818233" cy="1337667"/>
          </a:xfrm>
          <a:prstGeom prst="roundRect">
            <a:avLst>
              <a:gd name="adj" fmla="val 9969"/>
            </a:avLst>
          </a:prstGeom>
          <a:gradFill rotWithShape="1">
            <a:gsLst>
              <a:gs pos="0">
                <a:srgbClr val="103A63">
                  <a:alpha val="100000"/>
                </a:srgbClr>
              </a:gs>
              <a:gs pos="100000">
                <a:srgbClr val="1763A6">
                  <a:alpha val="100000"/>
                </a:srgbClr>
              </a:gs>
            </a:gsLst>
            <a:lin ang="2700000" scaled="0"/>
          </a:gradFill>
          <a:ln/>
        </p:spPr>
      </p:sp>
      <p:sp>
        <p:nvSpPr>
          <p:cNvPr id="16" name="Text 11"/>
          <p:cNvSpPr/>
          <p:nvPr/>
        </p:nvSpPr>
        <p:spPr>
          <a:xfrm>
            <a:off x="10917198" y="6160294"/>
            <a:ext cx="6512621" cy="918567"/>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DCEBFA"/>
                </a:solidFill>
                <a:latin typeface="Arial" pitchFamily="34" charset="0"/>
                <a:ea typeface="Arial" pitchFamily="34" charset="-122"/>
                <a:cs typeface="Arial" pitchFamily="34" charset="-120"/>
              </a:rPr>
              <a:t>Kontroler menggeneralisasi ke setpoint di luar pelatihan utama (0,25 &amp; 0,35 bar) — respons </a:t>
            </a:r>
            <a:r>
              <a:rPr lang="en-US" sz="1725" b="1" dirty="0">
                <a:solidFill>
                  <a:srgbClr val="FFFFFF"/>
                </a:solidFill>
                <a:latin typeface="Arial" pitchFamily="34" charset="0"/>
                <a:ea typeface="Arial" pitchFamily="34" charset="-122"/>
                <a:cs typeface="Arial" pitchFamily="34" charset="-120"/>
              </a:rPr>
              <a:t>dua arah </a:t>
            </a:r>
            <a:r>
              <a:rPr lang="en-US" sz="1725" dirty="0">
                <a:solidFill>
                  <a:srgbClr val="DCEBFA"/>
                </a:solidFill>
                <a:latin typeface="Arial" pitchFamily="34" charset="0"/>
                <a:ea typeface="Arial" pitchFamily="34" charset="-122"/>
                <a:cs typeface="Arial" pitchFamily="34" charset="-120"/>
              </a:rPr>
              <a:t>, stabil, tanpa osilasi berlebih.</a:t>
            </a:r>
            <a:endParaRPr lang="en-US" sz="1725" dirty="0"/>
          </a:p>
        </p:txBody>
      </p:sp>
      <p:sp>
        <p:nvSpPr>
          <p:cNvPr id="17" name="Shape 12"/>
          <p:cNvSpPr/>
          <p:nvPr/>
        </p:nvSpPr>
        <p:spPr>
          <a:xfrm>
            <a:off x="0" y="9486900"/>
            <a:ext cx="18288000" cy="9525"/>
          </a:xfrm>
          <a:prstGeom prst="rect">
            <a:avLst/>
          </a:prstGeom>
          <a:solidFill>
            <a:srgbClr val="E1E9F2"/>
          </a:solidFill>
          <a:ln/>
        </p:spPr>
      </p:sp>
      <p:sp>
        <p:nvSpPr>
          <p:cNvPr id="18" name="Text 13"/>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19" name="Text 14"/>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20" name="Text 15"/>
          <p:cNvSpPr/>
          <p:nvPr/>
        </p:nvSpPr>
        <p:spPr>
          <a:xfrm>
            <a:off x="4277678"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21" name="Shape 16"/>
          <p:cNvSpPr/>
          <p:nvPr/>
        </p:nvSpPr>
        <p:spPr>
          <a:xfrm>
            <a:off x="5639753" y="10023158"/>
            <a:ext cx="1686878" cy="22860"/>
          </a:xfrm>
          <a:prstGeom prst="rect">
            <a:avLst/>
          </a:prstGeom>
          <a:solidFill>
            <a:srgbClr val="2E86DE"/>
          </a:solidFill>
          <a:ln/>
        </p:spPr>
      </p:sp>
      <p:sp>
        <p:nvSpPr>
          <p:cNvPr id="22" name="Text 17"/>
          <p:cNvSpPr/>
          <p:nvPr/>
        </p:nvSpPr>
        <p:spPr>
          <a:xfrm>
            <a:off x="5639753" y="9758363"/>
            <a:ext cx="176307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Hasil &amp; Pembahasan</a:t>
            </a:r>
            <a:endParaRPr lang="en-US" sz="1350" dirty="0"/>
          </a:p>
        </p:txBody>
      </p:sp>
      <p:sp>
        <p:nvSpPr>
          <p:cNvPr id="23" name="Text 18"/>
          <p:cNvSpPr/>
          <p:nvPr/>
        </p:nvSpPr>
        <p:spPr>
          <a:xfrm>
            <a:off x="7612380"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24" name="Text 19"/>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9553515"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IV · PENGUJIAN SISTEM (3/3)</a:t>
            </a:r>
            <a:endParaRPr lang="en-US" sz="1500" dirty="0"/>
          </a:p>
        </p:txBody>
      </p:sp>
      <p:sp>
        <p:nvSpPr>
          <p:cNvPr id="5" name="Text 3"/>
          <p:cNvSpPr/>
          <p:nvPr/>
        </p:nvSpPr>
        <p:spPr>
          <a:xfrm>
            <a:off x="1108710" y="830580"/>
            <a:ext cx="9553515"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Rejeksi Gangguan Perubahan Beban</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1671042"/>
            <a:ext cx="9545598" cy="7211973"/>
          </a:xfrm>
          <a:prstGeom prst="roundRect">
            <a:avLst>
              <a:gd name="adj" fmla="val 1849"/>
            </a:avLst>
          </a:prstGeom>
          <a:solidFill>
            <a:srgbClr val="FFFFFF"/>
          </a:solidFill>
          <a:ln w="7620">
            <a:solidFill>
              <a:srgbClr val="E1E9F2"/>
            </a:solidFill>
            <a:prstDash val="solid"/>
          </a:ln>
        </p:spPr>
      </p:sp>
      <p:pic>
        <p:nvPicPr>
          <p:cNvPr id="9" name="Image 2" descr="preencoded.png"/>
          <p:cNvPicPr>
            <a:picLocks noChangeAspect="1"/>
          </p:cNvPicPr>
          <p:nvPr/>
        </p:nvPicPr>
        <p:blipFill>
          <a:blip r:embed="rId5"/>
          <a:srcRect l="-1" r="-1"/>
          <a:stretch/>
        </p:blipFill>
        <p:spPr>
          <a:xfrm>
            <a:off x="979170" y="2405539"/>
            <a:ext cx="9187458" cy="5742980"/>
          </a:xfrm>
          <a:prstGeom prst="rect">
            <a:avLst/>
          </a:prstGeom>
        </p:spPr>
      </p:pic>
      <p:sp>
        <p:nvSpPr>
          <p:cNvPr id="10" name="Text 5"/>
          <p:cNvSpPr/>
          <p:nvPr/>
        </p:nvSpPr>
        <p:spPr>
          <a:xfrm>
            <a:off x="800100" y="9140190"/>
            <a:ext cx="10500158" cy="251460"/>
          </a:xfrm>
          <a:prstGeom prst="rect">
            <a:avLst/>
          </a:prstGeom>
          <a:noFill/>
          <a:ln/>
        </p:spPr>
        <p:txBody>
          <a:bodyPr wrap="square" lIns="25400" tIns="25400" rIns="25400" bIns="25400" rtlCol="0" anchor="t">
            <a:normAutofit/>
          </a:bodyPr>
          <a:lstStyle/>
          <a:p>
            <a:pPr marL="0" indent="0" algn="l">
              <a:buNone/>
            </a:pPr>
            <a:r>
              <a:rPr lang="en-US" sz="1275" kern="0" spc="22" dirty="0">
                <a:solidFill>
                  <a:srgbClr val="7E92A8"/>
                </a:solidFill>
                <a:latin typeface="Arial" pitchFamily="34" charset="0"/>
                <a:ea typeface="Arial" pitchFamily="34" charset="-122"/>
                <a:cs typeface="Arial" pitchFamily="34" charset="-120"/>
              </a:rPr>
              <a:t>Respons rejeksi gangguan buka/tutup keran mendadak (setpoint 0,30 bar)</a:t>
            </a:r>
            <a:endParaRPr lang="en-US" sz="1275" dirty="0"/>
          </a:p>
        </p:txBody>
      </p:sp>
      <p:sp>
        <p:nvSpPr>
          <p:cNvPr id="11" name="Text 6"/>
          <p:cNvSpPr/>
          <p:nvPr/>
        </p:nvSpPr>
        <p:spPr>
          <a:xfrm>
            <a:off x="10669548" y="3755231"/>
            <a:ext cx="7500057"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b="1" kern="0" spc="-75" dirty="0">
                <a:solidFill>
                  <a:srgbClr val="1763A6"/>
                </a:solidFill>
                <a:latin typeface="Arial" pitchFamily="34" charset="0"/>
                <a:ea typeface="Arial" pitchFamily="34" charset="-122"/>
                <a:cs typeface="Arial" pitchFamily="34" charset="-120"/>
              </a:rPr>
              <a:t>9–15</a:t>
            </a:r>
            <a:r>
              <a:rPr lang="en-US" sz="2250" b="1" kern="0" spc="-75" dirty="0">
                <a:solidFill>
                  <a:srgbClr val="1763A6"/>
                </a:solidFill>
                <a:latin typeface="Arial" pitchFamily="34" charset="0"/>
                <a:ea typeface="Arial" pitchFamily="34" charset="-122"/>
                <a:cs typeface="Arial" pitchFamily="34" charset="-120"/>
              </a:rPr>
              <a:t>s</a:t>
            </a:r>
            <a:endParaRPr lang="en-US" sz="4500" dirty="0"/>
          </a:p>
        </p:txBody>
      </p:sp>
      <p:sp>
        <p:nvSpPr>
          <p:cNvPr id="12" name="Text 7"/>
          <p:cNvSpPr/>
          <p:nvPr/>
        </p:nvSpPr>
        <p:spPr>
          <a:xfrm>
            <a:off x="10669548" y="4345781"/>
            <a:ext cx="7500057" cy="288131"/>
          </a:xfrm>
          <a:prstGeom prst="rect">
            <a:avLst/>
          </a:prstGeom>
          <a:noFill/>
          <a:ln/>
        </p:spPr>
        <p:txBody>
          <a:bodyPr wrap="square" lIns="25400" tIns="25400" rIns="25400" bIns="25400" rtlCol="0" anchor="t">
            <a:normAutofit/>
          </a:bodyPr>
          <a:lstStyle/>
          <a:p>
            <a:pPr marL="0" indent="0" algn="l">
              <a:lnSpc>
                <a:spcPct val="125000"/>
              </a:lnSpc>
              <a:buNone/>
            </a:pPr>
            <a:r>
              <a:rPr lang="en-US" sz="1575" dirty="0">
                <a:solidFill>
                  <a:srgbClr val="48607A"/>
                </a:solidFill>
                <a:latin typeface="Arial" pitchFamily="34" charset="0"/>
                <a:ea typeface="Arial" pitchFamily="34" charset="-122"/>
                <a:cs typeface="Arial" pitchFamily="34" charset="-120"/>
              </a:rPr>
              <a:t>waktu pemulihan kembali ke ±0,02 bar</a:t>
            </a:r>
            <a:endParaRPr lang="en-US" sz="1575" dirty="0"/>
          </a:p>
        </p:txBody>
      </p:sp>
      <p:sp>
        <p:nvSpPr>
          <p:cNvPr id="13" name="Text 8"/>
          <p:cNvSpPr/>
          <p:nvPr/>
        </p:nvSpPr>
        <p:spPr>
          <a:xfrm>
            <a:off x="10669548" y="4843463"/>
            <a:ext cx="7500057"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b="1" kern="0" spc="-75" dirty="0">
                <a:solidFill>
                  <a:srgbClr val="1763A6"/>
                </a:solidFill>
                <a:latin typeface="Arial" pitchFamily="34" charset="0"/>
                <a:ea typeface="Arial" pitchFamily="34" charset="-122"/>
                <a:cs typeface="Arial" pitchFamily="34" charset="-120"/>
              </a:rPr>
              <a:t>0,212</a:t>
            </a:r>
            <a:r>
              <a:rPr lang="en-US" sz="2250" b="1" kern="0" spc="-75" dirty="0">
                <a:solidFill>
                  <a:srgbClr val="1763A6"/>
                </a:solidFill>
                <a:latin typeface="Arial" pitchFamily="34" charset="0"/>
                <a:ea typeface="Arial" pitchFamily="34" charset="-122"/>
                <a:cs typeface="Arial" pitchFamily="34" charset="-120"/>
              </a:rPr>
              <a:t>bar</a:t>
            </a:r>
            <a:endParaRPr lang="en-US" sz="4500" dirty="0"/>
          </a:p>
        </p:txBody>
      </p:sp>
      <p:sp>
        <p:nvSpPr>
          <p:cNvPr id="14" name="Text 9"/>
          <p:cNvSpPr/>
          <p:nvPr/>
        </p:nvSpPr>
        <p:spPr>
          <a:xfrm>
            <a:off x="10669548" y="5434013"/>
            <a:ext cx="7500057" cy="288131"/>
          </a:xfrm>
          <a:prstGeom prst="rect">
            <a:avLst/>
          </a:prstGeom>
          <a:noFill/>
          <a:ln/>
        </p:spPr>
        <p:txBody>
          <a:bodyPr wrap="square" lIns="25400" tIns="25400" rIns="25400" bIns="25400" rtlCol="0" anchor="t">
            <a:normAutofit/>
          </a:bodyPr>
          <a:lstStyle/>
          <a:p>
            <a:pPr marL="0" indent="0" algn="l">
              <a:lnSpc>
                <a:spcPct val="125000"/>
              </a:lnSpc>
              <a:buNone/>
            </a:pPr>
            <a:r>
              <a:rPr lang="en-US" sz="1575" dirty="0">
                <a:solidFill>
                  <a:srgbClr val="48607A"/>
                </a:solidFill>
                <a:latin typeface="Arial" pitchFamily="34" charset="0"/>
                <a:ea typeface="Arial" pitchFamily="34" charset="-122"/>
                <a:cs typeface="Arial" pitchFamily="34" charset="-120"/>
              </a:rPr>
              <a:t>deviasi terbesar (3→1 keran) — pulih 9,3 s</a:t>
            </a:r>
            <a:endParaRPr lang="en-US" sz="1575" dirty="0"/>
          </a:p>
        </p:txBody>
      </p:sp>
      <p:sp>
        <p:nvSpPr>
          <p:cNvPr id="15" name="Shape 10"/>
          <p:cNvSpPr/>
          <p:nvPr/>
        </p:nvSpPr>
        <p:spPr>
          <a:xfrm>
            <a:off x="10669548" y="5931694"/>
            <a:ext cx="6818233" cy="1337667"/>
          </a:xfrm>
          <a:prstGeom prst="roundRect">
            <a:avLst>
              <a:gd name="adj" fmla="val 9969"/>
            </a:avLst>
          </a:prstGeom>
          <a:gradFill rotWithShape="1">
            <a:gsLst>
              <a:gs pos="0">
                <a:srgbClr val="103A63">
                  <a:alpha val="100000"/>
                </a:srgbClr>
              </a:gs>
              <a:gs pos="100000">
                <a:srgbClr val="1763A6">
                  <a:alpha val="100000"/>
                </a:srgbClr>
              </a:gs>
            </a:gsLst>
            <a:lin ang="2700000" scaled="0"/>
          </a:gradFill>
          <a:ln/>
        </p:spPr>
      </p:sp>
      <p:sp>
        <p:nvSpPr>
          <p:cNvPr id="16" name="Text 11"/>
          <p:cNvSpPr/>
          <p:nvPr/>
        </p:nvSpPr>
        <p:spPr>
          <a:xfrm>
            <a:off x="10917198" y="6160294"/>
            <a:ext cx="6512621" cy="918567"/>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DCEBFA"/>
                </a:solidFill>
                <a:latin typeface="Arial" pitchFamily="34" charset="0"/>
                <a:ea typeface="Arial" pitchFamily="34" charset="-122"/>
                <a:cs typeface="Arial" pitchFamily="34" charset="-120"/>
              </a:rPr>
              <a:t>Kontroler menolak gangguan tanpa osilasi berlebih. Pengecualian 2→4 keran konsisten dengan </a:t>
            </a:r>
            <a:r>
              <a:rPr lang="en-US" sz="1725" b="1" dirty="0">
                <a:solidFill>
                  <a:srgbClr val="FFFFFF"/>
                </a:solidFill>
                <a:latin typeface="Arial" pitchFamily="34" charset="0"/>
                <a:ea typeface="Arial" pitchFamily="34" charset="-122"/>
                <a:cs typeface="Arial" pitchFamily="34" charset="-120"/>
              </a:rPr>
              <a:t>saturasi pompa </a:t>
            </a:r>
            <a:r>
              <a:rPr lang="en-US" sz="1725" dirty="0">
                <a:solidFill>
                  <a:srgbClr val="DCEBFA"/>
                </a:solidFill>
                <a:latin typeface="Arial" pitchFamily="34" charset="0"/>
                <a:ea typeface="Arial" pitchFamily="34" charset="-122"/>
                <a:cs typeface="Arial" pitchFamily="34" charset="-120"/>
              </a:rPr>
              <a:t>pada beban penuh.</a:t>
            </a:r>
            <a:endParaRPr lang="en-US" sz="1725" dirty="0"/>
          </a:p>
        </p:txBody>
      </p:sp>
      <p:sp>
        <p:nvSpPr>
          <p:cNvPr id="17" name="Shape 12"/>
          <p:cNvSpPr/>
          <p:nvPr/>
        </p:nvSpPr>
        <p:spPr>
          <a:xfrm>
            <a:off x="0" y="9486900"/>
            <a:ext cx="18288000" cy="9525"/>
          </a:xfrm>
          <a:prstGeom prst="rect">
            <a:avLst/>
          </a:prstGeom>
          <a:solidFill>
            <a:srgbClr val="E1E9F2"/>
          </a:solidFill>
          <a:ln/>
        </p:spPr>
      </p:sp>
      <p:sp>
        <p:nvSpPr>
          <p:cNvPr id="18" name="Text 13"/>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19" name="Text 14"/>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20" name="Text 15"/>
          <p:cNvSpPr/>
          <p:nvPr/>
        </p:nvSpPr>
        <p:spPr>
          <a:xfrm>
            <a:off x="4277678"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21" name="Shape 16"/>
          <p:cNvSpPr/>
          <p:nvPr/>
        </p:nvSpPr>
        <p:spPr>
          <a:xfrm>
            <a:off x="5639753" y="10023158"/>
            <a:ext cx="1686878" cy="22860"/>
          </a:xfrm>
          <a:prstGeom prst="rect">
            <a:avLst/>
          </a:prstGeom>
          <a:solidFill>
            <a:srgbClr val="2E86DE"/>
          </a:solidFill>
          <a:ln/>
        </p:spPr>
      </p:sp>
      <p:sp>
        <p:nvSpPr>
          <p:cNvPr id="22" name="Text 17"/>
          <p:cNvSpPr/>
          <p:nvPr/>
        </p:nvSpPr>
        <p:spPr>
          <a:xfrm>
            <a:off x="5639753" y="9758363"/>
            <a:ext cx="176307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Hasil &amp; Pembahasan</a:t>
            </a:r>
            <a:endParaRPr lang="en-US" sz="1350" dirty="0"/>
          </a:p>
        </p:txBody>
      </p:sp>
      <p:sp>
        <p:nvSpPr>
          <p:cNvPr id="23" name="Text 18"/>
          <p:cNvSpPr/>
          <p:nvPr/>
        </p:nvSpPr>
        <p:spPr>
          <a:xfrm>
            <a:off x="7612380" y="9735503"/>
            <a:ext cx="829627"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Penutup</a:t>
            </a:r>
            <a:endParaRPr lang="en-US" sz="1350" dirty="0"/>
          </a:p>
        </p:txBody>
      </p:sp>
      <p:sp>
        <p:nvSpPr>
          <p:cNvPr id="24" name="Text 19"/>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5426E">
                  <a:alpha val="100000"/>
                </a:srgbClr>
              </a:gs>
              <a:gs pos="55000">
                <a:srgbClr val="0A2A4A">
                  <a:alpha val="100000"/>
                </a:srgbClr>
              </a:gs>
              <a:gs pos="100000">
                <a:srgbClr val="071F38">
                  <a:alpha val="100000"/>
                </a:srgbClr>
              </a:gs>
            </a:gsLst>
            <a:path path="circle">
              <a:fillToRect l="78000" t="8000" r="22000" b="92000"/>
            </a:path>
          </a:gradFill>
          <a:ln/>
        </p:spPr>
      </p:sp>
      <p:sp>
        <p:nvSpPr>
          <p:cNvPr id="3" name="Text 1"/>
          <p:cNvSpPr/>
          <p:nvPr/>
        </p:nvSpPr>
        <p:spPr>
          <a:xfrm>
            <a:off x="800100" y="3343275"/>
            <a:ext cx="18356580" cy="403860"/>
          </a:xfrm>
          <a:prstGeom prst="rect">
            <a:avLst/>
          </a:prstGeom>
          <a:noFill/>
          <a:ln/>
        </p:spPr>
        <p:txBody>
          <a:bodyPr wrap="square" lIns="25400" tIns="25400" rIns="25400" bIns="25400" rtlCol="0" anchor="t">
            <a:normAutofit/>
          </a:bodyPr>
          <a:lstStyle/>
          <a:p>
            <a:pPr marL="0" indent="0" algn="l">
              <a:buNone/>
            </a:pPr>
            <a:r>
              <a:rPr lang="en-US" sz="2250" kern="0" spc="450" dirty="0">
                <a:solidFill>
                  <a:srgbClr val="7FC0FF"/>
                </a:solidFill>
                <a:latin typeface="Arial" pitchFamily="34" charset="0"/>
                <a:ea typeface="Arial" pitchFamily="34" charset="-122"/>
                <a:cs typeface="Arial" pitchFamily="34" charset="-120"/>
              </a:rPr>
              <a:t>BAB V</a:t>
            </a:r>
            <a:endParaRPr lang="en-US" sz="2250" dirty="0"/>
          </a:p>
        </p:txBody>
      </p:sp>
      <p:sp>
        <p:nvSpPr>
          <p:cNvPr id="4" name="Text 2"/>
          <p:cNvSpPr/>
          <p:nvPr/>
        </p:nvSpPr>
        <p:spPr>
          <a:xfrm>
            <a:off x="800100" y="3842385"/>
            <a:ext cx="18356580" cy="952500"/>
          </a:xfrm>
          <a:prstGeom prst="rect">
            <a:avLst/>
          </a:prstGeom>
          <a:noFill/>
          <a:ln/>
        </p:spPr>
        <p:txBody>
          <a:bodyPr wrap="square" lIns="25400" tIns="25400" rIns="25400" bIns="25400" rtlCol="0" anchor="t">
            <a:normAutofit/>
          </a:bodyPr>
          <a:lstStyle/>
          <a:p>
            <a:pPr marL="0" indent="0" algn="l">
              <a:lnSpc>
                <a:spcPct val="100000"/>
              </a:lnSpc>
              <a:buNone/>
            </a:pPr>
            <a:r>
              <a:rPr lang="en-US" sz="7200" b="1" kern="0" spc="-112" dirty="0">
                <a:solidFill>
                  <a:srgbClr val="FFFFFF"/>
                </a:solidFill>
                <a:latin typeface="Arial" pitchFamily="34" charset="0"/>
                <a:ea typeface="Arial" pitchFamily="34" charset="-122"/>
                <a:cs typeface="Arial" pitchFamily="34" charset="-120"/>
              </a:rPr>
              <a:t>Penutup</a:t>
            </a:r>
            <a:endParaRPr lang="en-US" sz="7200" dirty="0"/>
          </a:p>
        </p:txBody>
      </p:sp>
      <p:sp>
        <p:nvSpPr>
          <p:cNvPr id="5" name="Shape 3"/>
          <p:cNvSpPr/>
          <p:nvPr/>
        </p:nvSpPr>
        <p:spPr>
          <a:xfrm>
            <a:off x="800100" y="5080635"/>
            <a:ext cx="1143000" cy="57150"/>
          </a:xfrm>
          <a:prstGeom prst="roundRect">
            <a:avLst>
              <a:gd name="adj" fmla="val 50000"/>
            </a:avLst>
          </a:prstGeom>
          <a:solidFill>
            <a:srgbClr val="2E86DE"/>
          </a:solidFill>
          <a:ln/>
        </p:spPr>
      </p:sp>
      <p:sp>
        <p:nvSpPr>
          <p:cNvPr id="6" name="Text 4"/>
          <p:cNvSpPr/>
          <p:nvPr/>
        </p:nvSpPr>
        <p:spPr>
          <a:xfrm>
            <a:off x="800100" y="5423535"/>
            <a:ext cx="11772900" cy="758190"/>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AFC6DE"/>
                </a:solidFill>
                <a:latin typeface="Arial" pitchFamily="34" charset="0"/>
                <a:ea typeface="Arial" pitchFamily="34" charset="-122"/>
                <a:cs typeface="Arial" pitchFamily="34" charset="-120"/>
              </a:rPr>
              <a:t>Kesimpulan dari hasil perancangan, pengujian, dan analisis, serta saran untuk pengembangan lanjutan.</a:t>
            </a:r>
            <a:endParaRPr lang="en-US" sz="2025" dirty="0"/>
          </a:p>
        </p:txBody>
      </p:sp>
      <p:sp>
        <p:nvSpPr>
          <p:cNvPr id="7" name="Shape 5"/>
          <p:cNvSpPr/>
          <p:nvPr/>
        </p:nvSpPr>
        <p:spPr>
          <a:xfrm>
            <a:off x="0" y="9486900"/>
            <a:ext cx="18288000" cy="9525"/>
          </a:xfrm>
          <a:prstGeom prst="rect">
            <a:avLst/>
          </a:prstGeom>
          <a:solidFill>
            <a:srgbClr val="E1E9F2"/>
          </a:solidFill>
          <a:ln/>
        </p:spPr>
      </p:sp>
      <p:sp>
        <p:nvSpPr>
          <p:cNvPr id="8" name="Text 6"/>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9" name="Text 7"/>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10" name="Text 8"/>
          <p:cNvSpPr/>
          <p:nvPr/>
        </p:nvSpPr>
        <p:spPr>
          <a:xfrm>
            <a:off x="4277678"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11" name="Text 9"/>
          <p:cNvSpPr/>
          <p:nvPr/>
        </p:nvSpPr>
        <p:spPr>
          <a:xfrm>
            <a:off x="5639753"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12" name="Shape 10"/>
          <p:cNvSpPr/>
          <p:nvPr/>
        </p:nvSpPr>
        <p:spPr>
          <a:xfrm>
            <a:off x="7862888" y="10023158"/>
            <a:ext cx="672108" cy="22860"/>
          </a:xfrm>
          <a:prstGeom prst="rect">
            <a:avLst/>
          </a:prstGeom>
          <a:solidFill>
            <a:srgbClr val="2E86DE"/>
          </a:solidFill>
          <a:ln/>
        </p:spPr>
      </p:sp>
      <p:sp>
        <p:nvSpPr>
          <p:cNvPr id="13" name="Text 11"/>
          <p:cNvSpPr/>
          <p:nvPr/>
        </p:nvSpPr>
        <p:spPr>
          <a:xfrm>
            <a:off x="7862888" y="9758363"/>
            <a:ext cx="74830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Penutup</a:t>
            </a:r>
            <a:endParaRPr lang="en-US" sz="1350" dirty="0"/>
          </a:p>
        </p:txBody>
      </p:sp>
      <p:sp>
        <p:nvSpPr>
          <p:cNvPr id="14" name="Text 12"/>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3013460"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V · PENUTUP</a:t>
            </a:r>
            <a:endParaRPr lang="en-US" sz="1500" dirty="0"/>
          </a:p>
        </p:txBody>
      </p:sp>
      <p:sp>
        <p:nvSpPr>
          <p:cNvPr id="5" name="Text 3"/>
          <p:cNvSpPr/>
          <p:nvPr/>
        </p:nvSpPr>
        <p:spPr>
          <a:xfrm>
            <a:off x="1108710" y="830580"/>
            <a:ext cx="3866702" cy="592812"/>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Kesimpulan</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Text 4"/>
          <p:cNvSpPr/>
          <p:nvPr/>
        </p:nvSpPr>
        <p:spPr>
          <a:xfrm>
            <a:off x="1371600" y="4276725"/>
            <a:ext cx="16599789" cy="709374"/>
          </a:xfrm>
          <a:prstGeom prst="rect">
            <a:avLst/>
          </a:prstGeom>
          <a:noFill/>
          <a:ln/>
        </p:spPr>
        <p:txBody>
          <a:bodyPr wrap="square" lIns="25400" tIns="25400" rIns="25400" bIns="25400" rtlCol="0" anchor="t">
            <a:normAutofit/>
          </a:bodyPr>
          <a:lstStyle/>
          <a:p>
            <a:pPr marL="0" indent="0" algn="l">
              <a:lnSpc>
                <a:spcPct val="134000"/>
              </a:lnSpc>
              <a:buNone/>
            </a:pPr>
            <a:r>
              <a:rPr lang="en-US" sz="1950" b="1" dirty="0">
                <a:solidFill>
                  <a:srgbClr val="1763A6"/>
                </a:solidFill>
                <a:latin typeface="Arial" pitchFamily="34" charset="0"/>
                <a:ea typeface="Arial" pitchFamily="34" charset="-122"/>
                <a:cs typeface="Arial" pitchFamily="34" charset="-120"/>
              </a:rPr>
              <a:t>Rangkaian daya </a:t>
            </a:r>
            <a:r>
              <a:rPr lang="en-US" sz="1950" dirty="0">
                <a:solidFill>
                  <a:srgbClr val="2C4259"/>
                </a:solidFill>
                <a:latin typeface="Arial" pitchFamily="34" charset="0"/>
                <a:ea typeface="Arial" pitchFamily="34" charset="-122"/>
                <a:cs typeface="Arial" pitchFamily="34" charset="-120"/>
              </a:rPr>
              <a:t>PWM AC chopper full-bridge dengan dead time terverifikasi (1,48–1,49 µs, tanpa shoot-through) mengatur tegangan RMS linear terhadap duty cycle — error &lt; 1% &amp; sesuai simulasi PSIM.</a:t>
            </a:r>
            <a:endParaRPr lang="en-US" sz="1950" dirty="0"/>
          </a:p>
        </p:txBody>
      </p:sp>
      <p:sp>
        <p:nvSpPr>
          <p:cNvPr id="9" name="Text 5"/>
          <p:cNvSpPr/>
          <p:nvPr/>
        </p:nvSpPr>
        <p:spPr>
          <a:xfrm>
            <a:off x="1371600" y="5176600"/>
            <a:ext cx="16599789" cy="709374"/>
          </a:xfrm>
          <a:prstGeom prst="rect">
            <a:avLst/>
          </a:prstGeom>
          <a:noFill/>
          <a:ln/>
        </p:spPr>
        <p:txBody>
          <a:bodyPr wrap="square" lIns="25400" tIns="25400" rIns="25400" bIns="25400" rtlCol="0" anchor="t">
            <a:normAutofit/>
          </a:bodyPr>
          <a:lstStyle/>
          <a:p>
            <a:pPr marL="0" indent="0" algn="l">
              <a:lnSpc>
                <a:spcPct val="134000"/>
              </a:lnSpc>
              <a:buNone/>
            </a:pPr>
            <a:r>
              <a:rPr lang="en-US" sz="1950" b="1" dirty="0">
                <a:solidFill>
                  <a:srgbClr val="1763A6"/>
                </a:solidFill>
                <a:latin typeface="Arial" pitchFamily="34" charset="0"/>
                <a:ea typeface="Arial" pitchFamily="34" charset="-122"/>
                <a:cs typeface="Arial" pitchFamily="34" charset="-120"/>
              </a:rPr>
              <a:t>Neural network </a:t>
            </a:r>
            <a:r>
              <a:rPr lang="en-US" sz="1950" dirty="0">
                <a:solidFill>
                  <a:srgbClr val="2C4259"/>
                </a:solidFill>
                <a:latin typeface="Arial" pitchFamily="34" charset="0"/>
                <a:ea typeface="Arial" pitchFamily="34" charset="-122"/>
                <a:cs typeface="Arial" pitchFamily="34" charset="-120"/>
              </a:rPr>
              <a:t>MLP 3-4-1 (behavior cloning) berhasil menjadi pengendali tekanan dengan R² = 0,915, mengungguli baseline Δduty = 0 maupun kontroler proporsional.</a:t>
            </a:r>
            <a:endParaRPr lang="en-US" sz="1950" dirty="0"/>
          </a:p>
        </p:txBody>
      </p:sp>
      <p:sp>
        <p:nvSpPr>
          <p:cNvPr id="10" name="Text 6"/>
          <p:cNvSpPr/>
          <p:nvPr/>
        </p:nvSpPr>
        <p:spPr>
          <a:xfrm>
            <a:off x="1371600" y="6076474"/>
            <a:ext cx="16599789" cy="709374"/>
          </a:xfrm>
          <a:prstGeom prst="rect">
            <a:avLst/>
          </a:prstGeom>
          <a:noFill/>
          <a:ln/>
        </p:spPr>
        <p:txBody>
          <a:bodyPr wrap="square" lIns="25400" tIns="25400" rIns="25400" bIns="25400" rtlCol="0" anchor="t">
            <a:normAutofit/>
          </a:bodyPr>
          <a:lstStyle/>
          <a:p>
            <a:pPr marL="0" indent="0" algn="l">
              <a:lnSpc>
                <a:spcPct val="134000"/>
              </a:lnSpc>
              <a:buNone/>
            </a:pPr>
            <a:r>
              <a:rPr lang="en-US" sz="1950" b="1" dirty="0">
                <a:solidFill>
                  <a:srgbClr val="1763A6"/>
                </a:solidFill>
                <a:latin typeface="Arial" pitchFamily="34" charset="0"/>
                <a:ea typeface="Arial" pitchFamily="34" charset="-122"/>
                <a:cs typeface="Arial" pitchFamily="34" charset="-120"/>
              </a:rPr>
              <a:t>Sistem kendali </a:t>
            </a:r>
            <a:r>
              <a:rPr lang="en-US" sz="1950" dirty="0">
                <a:solidFill>
                  <a:srgbClr val="2C4259"/>
                </a:solidFill>
                <a:latin typeface="Arial" pitchFamily="34" charset="0"/>
                <a:ea typeface="Arial" pitchFamily="34" charset="-122"/>
                <a:cs typeface="Arial" pitchFamily="34" charset="-120"/>
              </a:rPr>
              <a:t>menjaga tekanan dengan galat tunak ≤ 0,009 bar (1–4 keran), menolak gangguan (pulih 9–15 s), &amp; mengikuti perubahan setpoint (4–7 s); keterbatasan hanya pada saturasi fisik pompa.</a:t>
            </a:r>
            <a:endParaRPr lang="en-US" sz="1950" dirty="0"/>
          </a:p>
        </p:txBody>
      </p:sp>
      <p:sp>
        <p:nvSpPr>
          <p:cNvPr id="11" name="Shape 7"/>
          <p:cNvSpPr/>
          <p:nvPr/>
        </p:nvSpPr>
        <p:spPr>
          <a:xfrm>
            <a:off x="0" y="9486900"/>
            <a:ext cx="18288000" cy="9525"/>
          </a:xfrm>
          <a:prstGeom prst="rect">
            <a:avLst/>
          </a:prstGeom>
          <a:solidFill>
            <a:srgbClr val="E1E9F2"/>
          </a:solidFill>
          <a:ln/>
        </p:spPr>
      </p:sp>
      <p:sp>
        <p:nvSpPr>
          <p:cNvPr id="12" name="Text 8"/>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13" name="Text 9"/>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14" name="Text 10"/>
          <p:cNvSpPr/>
          <p:nvPr/>
        </p:nvSpPr>
        <p:spPr>
          <a:xfrm>
            <a:off x="4277678"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15" name="Text 11"/>
          <p:cNvSpPr/>
          <p:nvPr/>
        </p:nvSpPr>
        <p:spPr>
          <a:xfrm>
            <a:off x="5639753"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16" name="Shape 12"/>
          <p:cNvSpPr/>
          <p:nvPr/>
        </p:nvSpPr>
        <p:spPr>
          <a:xfrm>
            <a:off x="7862888" y="10023158"/>
            <a:ext cx="672108" cy="22860"/>
          </a:xfrm>
          <a:prstGeom prst="rect">
            <a:avLst/>
          </a:prstGeom>
          <a:solidFill>
            <a:srgbClr val="2E86DE"/>
          </a:solidFill>
          <a:ln/>
        </p:spPr>
      </p:sp>
      <p:sp>
        <p:nvSpPr>
          <p:cNvPr id="17" name="Text 13"/>
          <p:cNvSpPr/>
          <p:nvPr/>
        </p:nvSpPr>
        <p:spPr>
          <a:xfrm>
            <a:off x="7862888" y="9758363"/>
            <a:ext cx="74830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Penutup</a:t>
            </a:r>
            <a:endParaRPr lang="en-US" sz="1350" dirty="0"/>
          </a:p>
        </p:txBody>
      </p:sp>
      <p:sp>
        <p:nvSpPr>
          <p:cNvPr id="18" name="Text 14"/>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sp>
      <p:sp>
        <p:nvSpPr>
          <p:cNvPr id="3" name="Shape 1"/>
          <p:cNvSpPr/>
          <p:nvPr/>
        </p:nvSpPr>
        <p:spPr>
          <a:xfrm>
            <a:off x="800100" y="514350"/>
            <a:ext cx="60960" cy="870942"/>
          </a:xfrm>
          <a:prstGeom prst="rect">
            <a:avLst/>
          </a:prstGeom>
          <a:solidFill>
            <a:srgbClr val="1763A6"/>
          </a:solidFill>
          <a:ln/>
        </p:spPr>
      </p:sp>
      <p:sp>
        <p:nvSpPr>
          <p:cNvPr id="4" name="Text 2"/>
          <p:cNvSpPr/>
          <p:nvPr/>
        </p:nvSpPr>
        <p:spPr>
          <a:xfrm>
            <a:off x="1108710" y="514350"/>
            <a:ext cx="5777686" cy="25908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2E86DE"/>
                </a:solidFill>
                <a:latin typeface="Arial" pitchFamily="34" charset="0"/>
                <a:ea typeface="Arial" pitchFamily="34" charset="-122"/>
                <a:cs typeface="Arial" pitchFamily="34" charset="-120"/>
              </a:rPr>
              <a:t>BAB V · PENUTUP</a:t>
            </a:r>
            <a:endParaRPr lang="en-US" sz="1500" dirty="0"/>
          </a:p>
        </p:txBody>
      </p:sp>
      <p:sp>
        <p:nvSpPr>
          <p:cNvPr id="5" name="Text 3"/>
          <p:cNvSpPr/>
          <p:nvPr/>
        </p:nvSpPr>
        <p:spPr>
          <a:xfrm>
            <a:off x="1108710" y="830580"/>
            <a:ext cx="5777686" cy="592812"/>
          </a:xfrm>
          <a:prstGeom prst="rect">
            <a:avLst/>
          </a:prstGeom>
          <a:noFill/>
          <a:ln/>
        </p:spPr>
        <p:txBody>
          <a:bodyPr wrap="square" lIns="25400" tIns="25400" rIns="25400" bIns="25400" rtlCol="0" anchor="t">
            <a:normAutofit/>
          </a:bodyPr>
          <a:lstStyle/>
          <a:p>
            <a:pPr marL="0" indent="0" algn="l">
              <a:lnSpc>
                <a:spcPct val="104000"/>
              </a:lnSpc>
              <a:buNone/>
            </a:pPr>
            <a:r>
              <a:rPr lang="en-US" sz="4200" b="1" kern="0" spc="-37" dirty="0">
                <a:solidFill>
                  <a:srgbClr val="0B2740"/>
                </a:solidFill>
                <a:latin typeface="Arial" pitchFamily="34" charset="0"/>
                <a:ea typeface="Arial" pitchFamily="34" charset="-122"/>
                <a:cs typeface="Arial" pitchFamily="34" charset="-120"/>
              </a:rPr>
              <a:t>Saran Pengembangan</a:t>
            </a:r>
            <a:endParaRPr lang="en-US" sz="4200" dirty="0"/>
          </a:p>
        </p:txBody>
      </p:sp>
      <p:pic>
        <p:nvPicPr>
          <p:cNvPr id="6" name="Image 0" descr="preencoded.png"/>
          <p:cNvPicPr>
            <a:picLocks noChangeAspect="1"/>
          </p:cNvPicPr>
          <p:nvPr/>
        </p:nvPicPr>
        <p:blipFill>
          <a:blip r:embed="rId3"/>
          <a:stretch>
            <a:fillRect/>
          </a:stretch>
        </p:blipFill>
        <p:spPr>
          <a:xfrm>
            <a:off x="15630763" y="552450"/>
            <a:ext cx="704017" cy="590550"/>
          </a:xfrm>
          <a:prstGeom prst="rect">
            <a:avLst/>
          </a:prstGeom>
        </p:spPr>
      </p:pic>
      <p:pic>
        <p:nvPicPr>
          <p:cNvPr id="7" name="Image 1" descr="preencoded.png"/>
          <p:cNvPicPr>
            <a:picLocks noChangeAspect="1"/>
          </p:cNvPicPr>
          <p:nvPr/>
        </p:nvPicPr>
        <p:blipFill>
          <a:blip r:embed="rId4"/>
          <a:stretch>
            <a:fillRect/>
          </a:stretch>
        </p:blipFill>
        <p:spPr>
          <a:xfrm>
            <a:off x="16582430" y="552450"/>
            <a:ext cx="905470" cy="590550"/>
          </a:xfrm>
          <a:prstGeom prst="rect">
            <a:avLst/>
          </a:prstGeom>
        </p:spPr>
      </p:pic>
      <p:sp>
        <p:nvSpPr>
          <p:cNvPr id="8" name="Shape 4"/>
          <p:cNvSpPr/>
          <p:nvPr/>
        </p:nvSpPr>
        <p:spPr>
          <a:xfrm>
            <a:off x="800100" y="5512237"/>
            <a:ext cx="8210550" cy="1409938"/>
          </a:xfrm>
          <a:prstGeom prst="roundRect">
            <a:avLst>
              <a:gd name="adj" fmla="val 9458"/>
            </a:avLst>
          </a:prstGeom>
          <a:solidFill>
            <a:srgbClr val="EEF4FB"/>
          </a:solidFill>
          <a:ln w="7620">
            <a:solidFill>
              <a:srgbClr val="E1E9F2"/>
            </a:solidFill>
            <a:prstDash val="solid"/>
          </a:ln>
        </p:spPr>
      </p:sp>
      <p:sp>
        <p:nvSpPr>
          <p:cNvPr id="9" name="Text 5"/>
          <p:cNvSpPr/>
          <p:nvPr/>
        </p:nvSpPr>
        <p:spPr>
          <a:xfrm>
            <a:off x="1055370" y="5748457"/>
            <a:ext cx="8470011" cy="312420"/>
          </a:xfrm>
          <a:prstGeom prst="rect">
            <a:avLst/>
          </a:prstGeom>
          <a:noFill/>
          <a:ln/>
        </p:spPr>
        <p:txBody>
          <a:bodyPr wrap="square" lIns="25400" tIns="25400" rIns="25400" bIns="25400" rtlCol="0" anchor="t">
            <a:normAutofit/>
          </a:bodyPr>
          <a:lstStyle/>
          <a:p>
            <a:pPr marL="0" indent="0" algn="l">
              <a:buNone/>
            </a:pPr>
            <a:r>
              <a:rPr lang="en-US" sz="1875" b="1" dirty="0">
                <a:solidFill>
                  <a:srgbClr val="1763A6"/>
                </a:solidFill>
                <a:latin typeface="Arial" pitchFamily="34" charset="0"/>
                <a:ea typeface="Arial" pitchFamily="34" charset="-122"/>
                <a:cs typeface="Arial" pitchFamily="34" charset="-120"/>
              </a:rPr>
              <a:t>1 · Rangkaian daya</a:t>
            </a:r>
            <a:endParaRPr lang="en-US" sz="1875" dirty="0"/>
          </a:p>
        </p:txBody>
      </p:sp>
      <p:sp>
        <p:nvSpPr>
          <p:cNvPr id="10" name="Text 6"/>
          <p:cNvSpPr/>
          <p:nvPr/>
        </p:nvSpPr>
        <p:spPr>
          <a:xfrm>
            <a:off x="1055370" y="6098977"/>
            <a:ext cx="7931011" cy="625078"/>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3A506A"/>
                </a:solidFill>
                <a:latin typeface="Arial" pitchFamily="34" charset="0"/>
                <a:ea typeface="Arial" pitchFamily="34" charset="-122"/>
                <a:cs typeface="Arial" pitchFamily="34" charset="-120"/>
              </a:rPr>
              <a:t>Perbaiki desain snubber agar peredaman spike/ringing lebih baik &amp; tambahkan pendingin pada komponen daya untuk operasi kontinu.</a:t>
            </a:r>
            <a:endParaRPr lang="en-US" sz="1725" dirty="0"/>
          </a:p>
        </p:txBody>
      </p:sp>
      <p:sp>
        <p:nvSpPr>
          <p:cNvPr id="11" name="Shape 7"/>
          <p:cNvSpPr/>
          <p:nvPr/>
        </p:nvSpPr>
        <p:spPr>
          <a:xfrm>
            <a:off x="9277350" y="5512237"/>
            <a:ext cx="8210550" cy="1409938"/>
          </a:xfrm>
          <a:prstGeom prst="roundRect">
            <a:avLst>
              <a:gd name="adj" fmla="val 9458"/>
            </a:avLst>
          </a:prstGeom>
          <a:solidFill>
            <a:srgbClr val="EEF4FB"/>
          </a:solidFill>
          <a:ln w="7620">
            <a:solidFill>
              <a:srgbClr val="E1E9F2"/>
            </a:solidFill>
            <a:prstDash val="solid"/>
          </a:ln>
        </p:spPr>
      </p:sp>
      <p:sp>
        <p:nvSpPr>
          <p:cNvPr id="12" name="Text 8"/>
          <p:cNvSpPr/>
          <p:nvPr/>
        </p:nvSpPr>
        <p:spPr>
          <a:xfrm>
            <a:off x="9532620" y="5748457"/>
            <a:ext cx="8470011" cy="312420"/>
          </a:xfrm>
          <a:prstGeom prst="rect">
            <a:avLst/>
          </a:prstGeom>
          <a:noFill/>
          <a:ln/>
        </p:spPr>
        <p:txBody>
          <a:bodyPr wrap="square" lIns="25400" tIns="25400" rIns="25400" bIns="25400" rtlCol="0" anchor="t">
            <a:normAutofit/>
          </a:bodyPr>
          <a:lstStyle/>
          <a:p>
            <a:pPr marL="0" indent="0" algn="l">
              <a:buNone/>
            </a:pPr>
            <a:r>
              <a:rPr lang="en-US" sz="1875" b="1" dirty="0">
                <a:solidFill>
                  <a:srgbClr val="1763A6"/>
                </a:solidFill>
                <a:latin typeface="Arial" pitchFamily="34" charset="0"/>
                <a:ea typeface="Arial" pitchFamily="34" charset="-122"/>
                <a:cs typeface="Arial" pitchFamily="34" charset="-120"/>
              </a:rPr>
              <a:t>2 · Integrasi inverter</a:t>
            </a:r>
            <a:endParaRPr lang="en-US" sz="1875" dirty="0"/>
          </a:p>
        </p:txBody>
      </p:sp>
      <p:sp>
        <p:nvSpPr>
          <p:cNvPr id="13" name="Text 9"/>
          <p:cNvSpPr/>
          <p:nvPr/>
        </p:nvSpPr>
        <p:spPr>
          <a:xfrm>
            <a:off x="9532620" y="6098977"/>
            <a:ext cx="7931011" cy="625078"/>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3A506A"/>
                </a:solidFill>
                <a:latin typeface="Arial" pitchFamily="34" charset="0"/>
                <a:ea typeface="Arial" pitchFamily="34" charset="-122"/>
                <a:cs typeface="Arial" pitchFamily="34" charset="-120"/>
              </a:rPr>
              <a:t>Hubungkan langsung dengan sumber DC/PLTS menjadi satu kesatuan </a:t>
            </a:r>
            <a:r>
              <a:rPr lang="en-US" sz="1725" b="1" dirty="0">
                <a:solidFill>
                  <a:srgbClr val="3A506A"/>
                </a:solidFill>
                <a:latin typeface="Arial" pitchFamily="34" charset="0"/>
                <a:ea typeface="Arial" pitchFamily="34" charset="-122"/>
                <a:cs typeface="Arial" pitchFamily="34" charset="-120"/>
              </a:rPr>
              <a:t>solar water pump inverter </a:t>
            </a:r>
            <a:r>
              <a:rPr lang="en-US" sz="1725" dirty="0">
                <a:solidFill>
                  <a:srgbClr val="3A506A"/>
                </a:solidFill>
                <a:latin typeface="Arial" pitchFamily="34" charset="0"/>
                <a:ea typeface="Arial" pitchFamily="34" charset="-122"/>
                <a:cs typeface="Arial" pitchFamily="34" charset="-120"/>
              </a:rPr>
              <a:t>.</a:t>
            </a:r>
            <a:endParaRPr lang="en-US" sz="1725" dirty="0"/>
          </a:p>
        </p:txBody>
      </p:sp>
      <p:sp>
        <p:nvSpPr>
          <p:cNvPr id="14" name="Shape 10"/>
          <p:cNvSpPr/>
          <p:nvPr/>
        </p:nvSpPr>
        <p:spPr>
          <a:xfrm>
            <a:off x="800100" y="7188875"/>
            <a:ext cx="8210550" cy="1409938"/>
          </a:xfrm>
          <a:prstGeom prst="roundRect">
            <a:avLst>
              <a:gd name="adj" fmla="val 9458"/>
            </a:avLst>
          </a:prstGeom>
          <a:solidFill>
            <a:srgbClr val="EEF4FB"/>
          </a:solidFill>
          <a:ln w="7620">
            <a:solidFill>
              <a:srgbClr val="E1E9F2"/>
            </a:solidFill>
            <a:prstDash val="solid"/>
          </a:ln>
        </p:spPr>
      </p:sp>
      <p:sp>
        <p:nvSpPr>
          <p:cNvPr id="15" name="Text 11"/>
          <p:cNvSpPr/>
          <p:nvPr/>
        </p:nvSpPr>
        <p:spPr>
          <a:xfrm>
            <a:off x="1055370" y="7425095"/>
            <a:ext cx="8470011" cy="312420"/>
          </a:xfrm>
          <a:prstGeom prst="rect">
            <a:avLst/>
          </a:prstGeom>
          <a:noFill/>
          <a:ln/>
        </p:spPr>
        <p:txBody>
          <a:bodyPr wrap="square" lIns="25400" tIns="25400" rIns="25400" bIns="25400" rtlCol="0" anchor="t">
            <a:normAutofit/>
          </a:bodyPr>
          <a:lstStyle/>
          <a:p>
            <a:pPr marL="0" indent="0" algn="l">
              <a:buNone/>
            </a:pPr>
            <a:r>
              <a:rPr lang="en-US" sz="1875" b="1" dirty="0">
                <a:solidFill>
                  <a:srgbClr val="1763A6"/>
                </a:solidFill>
                <a:latin typeface="Arial" pitchFamily="34" charset="0"/>
                <a:ea typeface="Arial" pitchFamily="34" charset="-122"/>
                <a:cs typeface="Arial" pitchFamily="34" charset="-120"/>
              </a:rPr>
              <a:t>3 · Perluasan dataset</a:t>
            </a:r>
            <a:endParaRPr lang="en-US" sz="1875" dirty="0"/>
          </a:p>
        </p:txBody>
      </p:sp>
      <p:sp>
        <p:nvSpPr>
          <p:cNvPr id="16" name="Text 12"/>
          <p:cNvSpPr/>
          <p:nvPr/>
        </p:nvSpPr>
        <p:spPr>
          <a:xfrm>
            <a:off x="1055370" y="7775615"/>
            <a:ext cx="7931011" cy="625078"/>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3A506A"/>
                </a:solidFill>
                <a:latin typeface="Arial" pitchFamily="34" charset="0"/>
                <a:ea typeface="Arial" pitchFamily="34" charset="-122"/>
                <a:cs typeface="Arial" pitchFamily="34" charset="-120"/>
              </a:rPr>
              <a:t>Tambah variasi setpoint &amp; data koreksi arah turun agar generalisasi model &amp; rentang kerja lebih lebar.</a:t>
            </a:r>
            <a:endParaRPr lang="en-US" sz="1725" dirty="0"/>
          </a:p>
        </p:txBody>
      </p:sp>
      <p:sp>
        <p:nvSpPr>
          <p:cNvPr id="17" name="Shape 13"/>
          <p:cNvSpPr/>
          <p:nvPr/>
        </p:nvSpPr>
        <p:spPr>
          <a:xfrm>
            <a:off x="9277350" y="7188875"/>
            <a:ext cx="8210550" cy="1409938"/>
          </a:xfrm>
          <a:prstGeom prst="roundRect">
            <a:avLst>
              <a:gd name="adj" fmla="val 9458"/>
            </a:avLst>
          </a:prstGeom>
          <a:solidFill>
            <a:srgbClr val="EEF4FB"/>
          </a:solidFill>
          <a:ln w="7620">
            <a:solidFill>
              <a:srgbClr val="E1E9F2"/>
            </a:solidFill>
            <a:prstDash val="solid"/>
          </a:ln>
        </p:spPr>
      </p:sp>
      <p:sp>
        <p:nvSpPr>
          <p:cNvPr id="18" name="Text 14"/>
          <p:cNvSpPr/>
          <p:nvPr/>
        </p:nvSpPr>
        <p:spPr>
          <a:xfrm>
            <a:off x="9532620" y="7425095"/>
            <a:ext cx="8470011" cy="312420"/>
          </a:xfrm>
          <a:prstGeom prst="rect">
            <a:avLst/>
          </a:prstGeom>
          <a:noFill/>
          <a:ln/>
        </p:spPr>
        <p:txBody>
          <a:bodyPr wrap="square" lIns="25400" tIns="25400" rIns="25400" bIns="25400" rtlCol="0" anchor="t">
            <a:normAutofit/>
          </a:bodyPr>
          <a:lstStyle/>
          <a:p>
            <a:pPr marL="0" indent="0" algn="l">
              <a:buNone/>
            </a:pPr>
            <a:r>
              <a:rPr lang="en-US" sz="1875" b="1" dirty="0">
                <a:solidFill>
                  <a:srgbClr val="1763A6"/>
                </a:solidFill>
                <a:latin typeface="Arial" pitchFamily="34" charset="0"/>
                <a:ea typeface="Arial" pitchFamily="34" charset="-122"/>
                <a:cs typeface="Arial" pitchFamily="34" charset="-120"/>
              </a:rPr>
              <a:t>4 · Optimasi &amp; keandalan</a:t>
            </a:r>
            <a:endParaRPr lang="en-US" sz="1875" dirty="0"/>
          </a:p>
        </p:txBody>
      </p:sp>
      <p:sp>
        <p:nvSpPr>
          <p:cNvPr id="19" name="Text 15"/>
          <p:cNvSpPr/>
          <p:nvPr/>
        </p:nvSpPr>
        <p:spPr>
          <a:xfrm>
            <a:off x="9532620" y="7775615"/>
            <a:ext cx="7931011" cy="625078"/>
          </a:xfrm>
          <a:prstGeom prst="rect">
            <a:avLst/>
          </a:prstGeom>
          <a:noFill/>
          <a:ln/>
        </p:spPr>
        <p:txBody>
          <a:bodyPr wrap="square" lIns="25400" tIns="25400" rIns="25400" bIns="25400" rtlCol="0" anchor="t">
            <a:normAutofit/>
          </a:bodyPr>
          <a:lstStyle/>
          <a:p>
            <a:pPr marL="0" indent="0" algn="l">
              <a:lnSpc>
                <a:spcPct val="134000"/>
              </a:lnSpc>
              <a:buNone/>
            </a:pPr>
            <a:r>
              <a:rPr lang="en-US" sz="1725" dirty="0">
                <a:solidFill>
                  <a:srgbClr val="3A506A"/>
                </a:solidFill>
                <a:latin typeface="Arial" pitchFamily="34" charset="0"/>
                <a:ea typeface="Arial" pitchFamily="34" charset="-122"/>
                <a:cs typeface="Arial" pitchFamily="34" charset="-120"/>
              </a:rPr>
              <a:t>Kuantisasi bobot model di STM32 serta pengujian jangka panjang untuk menilai keandalan &amp; efisiensi energi.</a:t>
            </a:r>
            <a:endParaRPr lang="en-US" sz="1725" dirty="0"/>
          </a:p>
        </p:txBody>
      </p:sp>
      <p:sp>
        <p:nvSpPr>
          <p:cNvPr id="20" name="Shape 16"/>
          <p:cNvSpPr/>
          <p:nvPr/>
        </p:nvSpPr>
        <p:spPr>
          <a:xfrm>
            <a:off x="0" y="9486900"/>
            <a:ext cx="18288000" cy="9525"/>
          </a:xfrm>
          <a:prstGeom prst="rect">
            <a:avLst/>
          </a:prstGeom>
          <a:solidFill>
            <a:srgbClr val="E1E9F2"/>
          </a:solidFill>
          <a:ln/>
        </p:spPr>
      </p:sp>
      <p:sp>
        <p:nvSpPr>
          <p:cNvPr id="21" name="Text 17"/>
          <p:cNvSpPr/>
          <p:nvPr/>
        </p:nvSpPr>
        <p:spPr>
          <a:xfrm>
            <a:off x="800100" y="9735503"/>
            <a:ext cx="1260158"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Pendahuluan</a:t>
            </a:r>
            <a:endParaRPr lang="en-US" sz="1350" dirty="0"/>
          </a:p>
        </p:txBody>
      </p:sp>
      <p:sp>
        <p:nvSpPr>
          <p:cNvPr id="22" name="Text 18"/>
          <p:cNvSpPr/>
          <p:nvPr/>
        </p:nvSpPr>
        <p:spPr>
          <a:xfrm>
            <a:off x="2269808" y="9735503"/>
            <a:ext cx="1798320"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Tinjauan Pustaka</a:t>
            </a:r>
            <a:endParaRPr lang="en-US" sz="1350" dirty="0"/>
          </a:p>
        </p:txBody>
      </p:sp>
      <p:sp>
        <p:nvSpPr>
          <p:cNvPr id="23" name="Text 19"/>
          <p:cNvSpPr/>
          <p:nvPr/>
        </p:nvSpPr>
        <p:spPr>
          <a:xfrm>
            <a:off x="4277678" y="9735503"/>
            <a:ext cx="115252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Metodologi</a:t>
            </a:r>
            <a:endParaRPr lang="en-US" sz="1350" dirty="0"/>
          </a:p>
        </p:txBody>
      </p:sp>
      <p:sp>
        <p:nvSpPr>
          <p:cNvPr id="24" name="Text 20"/>
          <p:cNvSpPr/>
          <p:nvPr/>
        </p:nvSpPr>
        <p:spPr>
          <a:xfrm>
            <a:off x="5639753" y="9735503"/>
            <a:ext cx="2013585" cy="259080"/>
          </a:xfrm>
          <a:prstGeom prst="rect">
            <a:avLst/>
          </a:prstGeom>
          <a:noFill/>
          <a:ln/>
        </p:spPr>
        <p:txBody>
          <a:bodyPr wrap="none" lIns="25400" tIns="25400" rIns="25400" bIns="25400" rtlCol="0" anchor="t">
            <a:normAutofit/>
          </a:bodyPr>
          <a:lstStyle/>
          <a:p>
            <a:pPr marL="0" indent="0" algn="l">
              <a:buNone/>
            </a:pPr>
            <a:r>
              <a:rPr lang="en-US" sz="1350" kern="0" spc="38" dirty="0">
                <a:solidFill>
                  <a:srgbClr val="A7B4C2"/>
                </a:solidFill>
                <a:latin typeface="Arial" pitchFamily="34" charset="0"/>
                <a:ea typeface="Arial" pitchFamily="34" charset="-122"/>
                <a:cs typeface="Arial" pitchFamily="34" charset="-120"/>
              </a:rPr>
              <a:t>Hasil &amp; Pembahasan</a:t>
            </a:r>
            <a:endParaRPr lang="en-US" sz="1350" dirty="0"/>
          </a:p>
        </p:txBody>
      </p:sp>
      <p:sp>
        <p:nvSpPr>
          <p:cNvPr id="25" name="Shape 21"/>
          <p:cNvSpPr/>
          <p:nvPr/>
        </p:nvSpPr>
        <p:spPr>
          <a:xfrm>
            <a:off x="7862888" y="10023158"/>
            <a:ext cx="672108" cy="22860"/>
          </a:xfrm>
          <a:prstGeom prst="rect">
            <a:avLst/>
          </a:prstGeom>
          <a:solidFill>
            <a:srgbClr val="2E86DE"/>
          </a:solidFill>
          <a:ln/>
        </p:spPr>
      </p:sp>
      <p:sp>
        <p:nvSpPr>
          <p:cNvPr id="26" name="Text 22"/>
          <p:cNvSpPr/>
          <p:nvPr/>
        </p:nvSpPr>
        <p:spPr>
          <a:xfrm>
            <a:off x="7862888" y="9758363"/>
            <a:ext cx="748308" cy="236220"/>
          </a:xfrm>
          <a:prstGeom prst="rect">
            <a:avLst/>
          </a:prstGeom>
          <a:noFill/>
          <a:ln/>
        </p:spPr>
        <p:txBody>
          <a:bodyPr wrap="none" lIns="25400" tIns="25400" rIns="25400" bIns="25400" rtlCol="0" anchor="t">
            <a:normAutofit/>
          </a:bodyPr>
          <a:lstStyle/>
          <a:p>
            <a:pPr marL="0" indent="0" algn="l">
              <a:buNone/>
            </a:pPr>
            <a:r>
              <a:rPr lang="en-US" sz="1350" b="1" kern="0" spc="38" dirty="0">
                <a:solidFill>
                  <a:srgbClr val="1763A6"/>
                </a:solidFill>
                <a:latin typeface="Arial" pitchFamily="34" charset="0"/>
                <a:ea typeface="Arial" pitchFamily="34" charset="-122"/>
                <a:cs typeface="Arial" pitchFamily="34" charset="-120"/>
              </a:rPr>
              <a:t>Penutup</a:t>
            </a:r>
            <a:endParaRPr lang="en-US" sz="1350" dirty="0"/>
          </a:p>
        </p:txBody>
      </p:sp>
      <p:sp>
        <p:nvSpPr>
          <p:cNvPr id="27" name="Text 23"/>
          <p:cNvSpPr/>
          <p:nvPr/>
        </p:nvSpPr>
        <p:spPr>
          <a:xfrm>
            <a:off x="12207240" y="9787890"/>
            <a:ext cx="5808726" cy="243840"/>
          </a:xfrm>
          <a:prstGeom prst="rect">
            <a:avLst/>
          </a:prstGeom>
          <a:noFill/>
          <a:ln/>
        </p:spPr>
        <p:txBody>
          <a:bodyPr wrap="square" lIns="25400" tIns="25400" rIns="25400" bIns="25400" rtlCol="0" anchor="t">
            <a:normAutofit/>
          </a:bodyPr>
          <a:lstStyle/>
          <a:p>
            <a:pPr marL="0" indent="0" algn="l">
              <a:buNone/>
            </a:pPr>
            <a:r>
              <a:rPr lang="en-US" sz="1200" kern="0" spc="22" dirty="0">
                <a:solidFill>
                  <a:srgbClr val="A7B4C2"/>
                </a:solidFill>
                <a:latin typeface="Arial" pitchFamily="34" charset="0"/>
                <a:ea typeface="Arial" pitchFamily="34" charset="-122"/>
                <a:cs typeface="Arial" pitchFamily="34" charset="-120"/>
              </a:rPr>
              <a:t>Teknik Elektro ITS · Institut Teknologi Sepuluh Nopember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B5A93">
                  <a:alpha val="100000"/>
                </a:srgbClr>
              </a:gs>
              <a:gs pos="48000">
                <a:srgbClr val="0C3157">
                  <a:alpha val="100000"/>
                </a:srgbClr>
              </a:gs>
              <a:gs pos="100000">
                <a:srgbClr val="071F38">
                  <a:alpha val="100000"/>
                </a:srgbClr>
              </a:gs>
            </a:gsLst>
            <a:path path="circle">
              <a:fillToRect l="80000" r="20000" b="100000"/>
            </a:path>
          </a:gradFill>
          <a:ln/>
        </p:spPr>
      </p:sp>
      <p:sp>
        <p:nvSpPr>
          <p:cNvPr id="3" name="Shape 1"/>
          <p:cNvSpPr/>
          <p:nvPr/>
        </p:nvSpPr>
        <p:spPr>
          <a:xfrm>
            <a:off x="800100" y="571500"/>
            <a:ext cx="5139690" cy="464820"/>
          </a:xfrm>
          <a:prstGeom prst="roundRect">
            <a:avLst>
              <a:gd name="adj" fmla="val 50000"/>
            </a:avLst>
          </a:prstGeom>
          <a:ln w="7620">
            <a:solidFill>
              <a:srgbClr val="7FC0FF">
                <a:alpha val="50000"/>
              </a:srgbClr>
            </a:solidFill>
            <a:prstDash val="solid"/>
          </a:ln>
        </p:spPr>
      </p:sp>
      <p:sp>
        <p:nvSpPr>
          <p:cNvPr id="4" name="Text 2"/>
          <p:cNvSpPr/>
          <p:nvPr/>
        </p:nvSpPr>
        <p:spPr>
          <a:xfrm>
            <a:off x="998220" y="674370"/>
            <a:ext cx="4897641" cy="297180"/>
          </a:xfrm>
          <a:prstGeom prst="rect">
            <a:avLst/>
          </a:prstGeom>
          <a:noFill/>
          <a:ln/>
        </p:spPr>
        <p:txBody>
          <a:bodyPr wrap="square" lIns="25400" tIns="25400" rIns="25400" bIns="25400" rtlCol="0" anchor="t">
            <a:normAutofit/>
          </a:bodyPr>
          <a:lstStyle/>
          <a:p>
            <a:pPr marL="0" indent="0" algn="l">
              <a:buNone/>
            </a:pPr>
            <a:r>
              <a:rPr lang="en-US" sz="1575" kern="0" spc="300" dirty="0">
                <a:solidFill>
                  <a:srgbClr val="7FC0FF"/>
                </a:solidFill>
                <a:latin typeface="Arial" pitchFamily="34" charset="0"/>
                <a:ea typeface="Arial" pitchFamily="34" charset="-122"/>
                <a:cs typeface="Arial" pitchFamily="34" charset="-120"/>
              </a:rPr>
              <a:t>SEMINAR TUGAS AKHIR · EE234799</a:t>
            </a:r>
            <a:endParaRPr lang="en-US" sz="1575" dirty="0"/>
          </a:p>
        </p:txBody>
      </p:sp>
      <p:pic>
        <p:nvPicPr>
          <p:cNvPr id="5" name="Image 0" descr="preencoded.png"/>
          <p:cNvPicPr>
            <a:picLocks noChangeAspect="1"/>
          </p:cNvPicPr>
          <p:nvPr/>
        </p:nvPicPr>
        <p:blipFill>
          <a:blip r:embed="rId3"/>
          <a:stretch>
            <a:fillRect/>
          </a:stretch>
        </p:blipFill>
        <p:spPr>
          <a:xfrm>
            <a:off x="15526941" y="571500"/>
            <a:ext cx="963930" cy="628650"/>
          </a:xfrm>
          <a:prstGeom prst="rect">
            <a:avLst/>
          </a:prstGeom>
        </p:spPr>
      </p:pic>
      <p:pic>
        <p:nvPicPr>
          <p:cNvPr id="6" name="Image 1" descr="preencoded.png"/>
          <p:cNvPicPr>
            <a:picLocks noChangeAspect="1"/>
          </p:cNvPicPr>
          <p:nvPr/>
        </p:nvPicPr>
        <p:blipFill>
          <a:blip r:embed="rId4"/>
          <a:stretch>
            <a:fillRect/>
          </a:stretch>
        </p:blipFill>
        <p:spPr>
          <a:xfrm>
            <a:off x="16738521" y="571500"/>
            <a:ext cx="749379" cy="628650"/>
          </a:xfrm>
          <a:prstGeom prst="rect">
            <a:avLst/>
          </a:prstGeom>
        </p:spPr>
      </p:pic>
      <p:sp>
        <p:nvSpPr>
          <p:cNvPr id="7" name="Text 3"/>
          <p:cNvSpPr/>
          <p:nvPr/>
        </p:nvSpPr>
        <p:spPr>
          <a:xfrm>
            <a:off x="800100" y="3998119"/>
            <a:ext cx="16344900" cy="1218248"/>
          </a:xfrm>
          <a:prstGeom prst="rect">
            <a:avLst/>
          </a:prstGeom>
          <a:noFill/>
          <a:ln/>
        </p:spPr>
        <p:txBody>
          <a:bodyPr wrap="square" lIns="25400" tIns="25400" rIns="25400" bIns="25400" rtlCol="0" anchor="t">
            <a:normAutofit/>
          </a:bodyPr>
          <a:lstStyle/>
          <a:p>
            <a:pPr marL="0" indent="0" algn="l">
              <a:lnSpc>
                <a:spcPct val="105000"/>
              </a:lnSpc>
              <a:buNone/>
            </a:pPr>
            <a:r>
              <a:rPr lang="en-US" sz="8850" b="1" kern="0" spc="-112" dirty="0">
                <a:solidFill>
                  <a:srgbClr val="FFFFFF"/>
                </a:solidFill>
                <a:latin typeface="Arial" pitchFamily="34" charset="0"/>
                <a:ea typeface="Arial" pitchFamily="34" charset="-122"/>
                <a:cs typeface="Arial" pitchFamily="34" charset="-120"/>
              </a:rPr>
              <a:t>Terima Kasih</a:t>
            </a:r>
            <a:endParaRPr lang="en-US" sz="8850" dirty="0"/>
          </a:p>
        </p:txBody>
      </p:sp>
      <p:sp>
        <p:nvSpPr>
          <p:cNvPr id="8" name="Shape 4"/>
          <p:cNvSpPr/>
          <p:nvPr/>
        </p:nvSpPr>
        <p:spPr>
          <a:xfrm>
            <a:off x="800100" y="5931218"/>
            <a:ext cx="1143000" cy="57150"/>
          </a:xfrm>
          <a:prstGeom prst="roundRect">
            <a:avLst>
              <a:gd name="adj" fmla="val 50000"/>
            </a:avLst>
          </a:prstGeom>
          <a:solidFill>
            <a:srgbClr val="2E86DE"/>
          </a:solidFill>
          <a:ln/>
        </p:spPr>
      </p:sp>
      <p:sp>
        <p:nvSpPr>
          <p:cNvPr id="9" name="Text 5"/>
          <p:cNvSpPr/>
          <p:nvPr/>
        </p:nvSpPr>
        <p:spPr>
          <a:xfrm>
            <a:off x="800100" y="6312218"/>
            <a:ext cx="12753975" cy="87439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CFE2F6"/>
                </a:solidFill>
                <a:latin typeface="Arial" pitchFamily="34" charset="0"/>
                <a:ea typeface="Arial" pitchFamily="34" charset="-122"/>
                <a:cs typeface="Arial" pitchFamily="34" charset="-120"/>
              </a:rPr>
              <a:t>Sistem pengendalian tekanan pompa air dari sisi suplai dengan neural network terbukti bekerja secara </a:t>
            </a:r>
            <a:r>
              <a:rPr lang="en-US" sz="2250" b="1" dirty="0">
                <a:solidFill>
                  <a:srgbClr val="FFFFFF"/>
                </a:solidFill>
                <a:latin typeface="Arial" pitchFamily="34" charset="0"/>
                <a:ea typeface="Arial" pitchFamily="34" charset="-122"/>
                <a:cs typeface="Arial" pitchFamily="34" charset="-120"/>
              </a:rPr>
              <a:t>adaptif dan stabil </a:t>
            </a:r>
            <a:r>
              <a:rPr lang="en-US" sz="2250" dirty="0">
                <a:solidFill>
                  <a:srgbClr val="CFE2F6"/>
                </a:solidFill>
                <a:latin typeface="Arial" pitchFamily="34" charset="0"/>
                <a:ea typeface="Arial" pitchFamily="34" charset="-122"/>
                <a:cs typeface="Arial" pitchFamily="34" charset="-120"/>
              </a:rPr>
              <a:t>terhadap variasi beban.</a:t>
            </a:r>
            <a:endParaRPr lang="en-US" sz="2250" dirty="0"/>
          </a:p>
        </p:txBody>
      </p:sp>
      <p:sp>
        <p:nvSpPr>
          <p:cNvPr id="10" name="Text 6"/>
          <p:cNvSpPr/>
          <p:nvPr/>
        </p:nvSpPr>
        <p:spPr>
          <a:xfrm>
            <a:off x="800100" y="9479280"/>
            <a:ext cx="6810244" cy="312420"/>
          </a:xfrm>
          <a:prstGeom prst="rect">
            <a:avLst/>
          </a:prstGeom>
          <a:noFill/>
          <a:ln/>
        </p:spPr>
        <p:txBody>
          <a:bodyPr wrap="square" lIns="25400" tIns="25400" rIns="25400" bIns="25400" rtlCol="0" anchor="t">
            <a:normAutofit/>
          </a:bodyPr>
          <a:lstStyle/>
          <a:p>
            <a:pPr marL="0" indent="0" algn="l">
              <a:buNone/>
            </a:pPr>
            <a:r>
              <a:rPr lang="en-US" sz="1650" b="1" dirty="0">
                <a:solidFill>
                  <a:srgbClr val="EAF3FC"/>
                </a:solidFill>
                <a:latin typeface="Arial" pitchFamily="34" charset="0"/>
                <a:ea typeface="Arial" pitchFamily="34" charset="-122"/>
                <a:cs typeface="Arial" pitchFamily="34" charset="-120"/>
              </a:rPr>
              <a:t>Yoel Yhokhanan Sianipar </a:t>
            </a:r>
            <a:r>
              <a:rPr lang="en-US" sz="1650" dirty="0">
                <a:solidFill>
                  <a:srgbClr val="BCD3E8"/>
                </a:solidFill>
                <a:latin typeface="Arial" pitchFamily="34" charset="0"/>
                <a:ea typeface="Arial" pitchFamily="34" charset="-122"/>
                <a:cs typeface="Arial" pitchFamily="34" charset="-120"/>
              </a:rPr>
              <a:t>· NRP 5022221081 — Teknik Elektro ITS</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3026</Words>
  <Application>Microsoft Office PowerPoint</Application>
  <PresentationFormat>Custom</PresentationFormat>
  <Paragraphs>466</Paragraphs>
  <Slides>25</Slides>
  <Notes>25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25</vt:i4>
      </vt:variant>
    </vt:vector>
  </HeadingPairs>
  <TitlesOfParts>
    <vt:vector size="2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Yoel Yhokhanan Sianipar</cp:lastModifiedBy>
  <cp:revision>2</cp:revision>
  <dcterms:created xsi:type="dcterms:W3CDTF">2026-06-22T21:04:13Z</dcterms:created>
  <dcterms:modified xsi:type="dcterms:W3CDTF">2026-06-22T21:05:22Z</dcterms:modified>
</cp:coreProperties>
</file>